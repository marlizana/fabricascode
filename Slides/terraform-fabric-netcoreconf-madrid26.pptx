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Lst>
  <p:notesMasterIdLst>
    <p:notesMasterId r:id="rId46"/>
  </p:notesMasterIdLst>
  <p:sldSz cx="18288000" cy="10287000"/>
  <p:notesSz cx="10287000" cy="18288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notesMaster" Target="notesMasters/notesMaster1.xml"/><Relationship Id="rId47" Type="http://schemas.openxmlformats.org/officeDocument/2006/relationships/presProps" Target="presProps.xml"/><Relationship Id="rId48" Type="http://schemas.openxmlformats.org/officeDocument/2006/relationships/viewProps" Target="viewProps.xml"/><Relationship Id="rId49" Type="http://schemas.openxmlformats.org/officeDocument/2006/relationships/theme" Target="theme/theme1.xml"/><Relationship Id="rId50"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Arranque en tono teletienda. El hilo narrativo de toda la charla es un anuncio de teletienda: primero el dolor exagerado, luego el producto milagro.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Slide de patrocinadores de la organización. Dedícale 15 segundos y nómbralos.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Pregunta abierta al público: ¿quién tiene uno de estos? Suele levantar la mano media sala. Pausa para la risa.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Ajusta los números a tu realidad si tienes un caso de cliente concreto (CONSUM, ACCEM). Los números reales de un proyecto tuyo siempre pegan más fuerte que un ejemplo.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Aquí es donde el tono teletienda se hace explícito. Si en el abstract la gente lo leyó con voz de teletienda, aquí lo confirmas en voz alta. Es el gancho para presentar Terraform como 'ese más'.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Presentación cruzada: que cada uno presente al otro, funciona mejor que presentarse a uno mismo. Máximo un minuto entre los dos.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slide baja la ansiedad de la sala. Mucha gente de datos se bloquea con la palabra 'infraestructura'. Dilo en voz alta: no hace falta saber nada de infra.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slide del bloque 1. El puente mental completo: ya aceptas que el esquema de datos vive en código; lo único raro es que la plataforma que lo contiene no.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Analogía clave para audiencia de datos: Terraform es al portal de Fabric lo que SQL es a un cursor. Declaras el resultado, no el procedimiento.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Cierre del bloque 1. Frase para el tuit. Pausa de dos segundos antes de pasar.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Insiste en la diferencia entre el nombre lógico (bronze_dev) y el display_name (Bronze-DEV). Es el error más común de quien empieza.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es la slide central de toda la charla. Si alguien se despista y vuelve aquí, tiene que poder reengancharse solo con esta.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Analogía hecha a medida para audiencia de Fabric. Si la sala trabaja con Delta, esta slide hace clic al instante.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IMPORTANTE: v1.13.0 es de agosto de 2026. Vuelve a comprobar el registry de Terraform la semana de la charla, el provider publica cada dos semanas aproximadamente.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Ten el init hecho y los providers ya descargados antes de subir al escenario. Y un vídeo de respaldo del apply por si el wifi de la sala hace de las suyas.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Esta slide evita la pregunta incómoda del turno de preguntas: '¿y esto sustituye a los deployment pipelines?'. Respuesta: no, son capas distintas.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Sustituye el placeholder por el QR real al repo antes de la charla.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jp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jp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1.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jpg"/><Relationship Id="rId2" Type="http://schemas.openxmlformats.org/officeDocument/2006/relationships/slideLayout" Target="../slideLayouts/slideLayout1.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jpg"/><Relationship Id="rId2" Type="http://schemas.openxmlformats.org/officeDocument/2006/relationships/slideLayout" Target="../slideLayouts/slideLayout1.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jp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1.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jp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jpg"/><Relationship Id="rId2" Type="http://schemas.openxmlformats.org/officeDocument/2006/relationships/slideLayout" Target="../slideLayouts/slideLayout1.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jpg"/><Relationship Id="rId2" Type="http://schemas.openxmlformats.org/officeDocument/2006/relationships/slideLayout" Target="../slideLayouts/slideLayout1.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jpg"/><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jpg"/><Relationship Id="rId2" Type="http://schemas.openxmlformats.org/officeDocument/2006/relationships/slideLayout" Target="../slideLayouts/slideLayout1.xml"/><Relationship Id="rId3"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jpg"/><Relationship Id="rId2" Type="http://schemas.openxmlformats.org/officeDocument/2006/relationships/slideLayout" Target="../slideLayouts/slideLayout1.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1.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jp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jp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jp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jp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jp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jp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jp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jpg"/><Relationship Id="rId2" Type="http://schemas.openxmlformats.org/officeDocument/2006/relationships/slideLayout" Target="../slideLayouts/slideLayout1.xml"/><Relationship Id="rId3"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jp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jp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jp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image" Target="../media/image-30-1.jpg"/><Relationship Id="rId2" Type="http://schemas.openxmlformats.org/officeDocument/2006/relationships/slideLayout" Target="../slideLayouts/slideLayout1.xml"/><Relationship Id="rId3"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image" Target="../media/image-31-1.jpg"/><Relationship Id="rId2" Type="http://schemas.openxmlformats.org/officeDocument/2006/relationships/slideLayout" Target="../slideLayouts/slideLayout1.xml"/><Relationship Id="rId3"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jpg"/><Relationship Id="rId2" Type="http://schemas.openxmlformats.org/officeDocument/2006/relationships/slideLayout" Target="../slideLayouts/slideLayout1.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jpg"/><Relationship Id="rId2" Type="http://schemas.openxmlformats.org/officeDocument/2006/relationships/slideLayout" Target="../slideLayouts/slideLayout1.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image" Target="../media/image-34-1.jpg"/><Relationship Id="rId2" Type="http://schemas.openxmlformats.org/officeDocument/2006/relationships/slideLayout" Target="../slideLayouts/slideLayout1.xml"/><Relationship Id="rId3"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image" Target="../media/image-35-1.jpg"/><Relationship Id="rId2" Type="http://schemas.openxmlformats.org/officeDocument/2006/relationships/slideLayout" Target="../slideLayouts/slideLayout1.xml"/><Relationship Id="rId3"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jp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jp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image" Target="../media/image-38-1.jpg"/><Relationship Id="rId2" Type="http://schemas.openxmlformats.org/officeDocument/2006/relationships/slideLayout" Target="../slideLayouts/slideLayout1.xml"/><Relationship Id="rId3"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jpg"/><Relationship Id="rId2" Type="http://schemas.openxmlformats.org/officeDocument/2006/relationships/slideLayout" Target="../slideLayouts/slideLayout1.xml"/><Relationship Id="rId3"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jpg"/><Relationship Id="rId2" Type="http://schemas.openxmlformats.org/officeDocument/2006/relationships/slideLayout" Target="../slideLayouts/slideLayout1.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image" Target="../media/image-41-1.jpg"/><Relationship Id="rId2" Type="http://schemas.openxmlformats.org/officeDocument/2006/relationships/slideLayout" Target="../slideLayouts/slideLayout1.xml"/><Relationship Id="rId3"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image" Target="../media/image-42-1.jpg"/><Relationship Id="rId2" Type="http://schemas.openxmlformats.org/officeDocument/2006/relationships/slideLayout" Target="../slideLayouts/slideLayout1.xml"/><Relationship Id="rId3"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jpg"/><Relationship Id="rId2" Type="http://schemas.openxmlformats.org/officeDocument/2006/relationships/slideLayout" Target="../slideLayouts/slideLayout1.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image" Target="../media/image-44-1.jpg"/><Relationship Id="rId2" Type="http://schemas.openxmlformats.org/officeDocument/2006/relationships/slideLayout" Target="../slideLayouts/slideLayout1.xml"/><Relationship Id="rId3" Type="http://schemas.openxmlformats.org/officeDocument/2006/relationships/notesSlide" Target="../notesSlides/notesSlide44.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home/claude/bg-portada.jpg">    </p:cNvPr>
          <p:cNvPicPr>
            <a:picLocks noChangeAspect="1"/>
          </p:cNvPicPr>
          <p:nvPr/>
        </p:nvPicPr>
        <p:blipFill>
          <a:blip r:embed="rId1"/>
          <a:stretch>
            <a:fillRect/>
          </a:stretch>
        </p:blipFill>
        <p:spPr>
          <a:xfrm>
            <a:off x="0" y="0"/>
            <a:ext cx="18288000" cy="10287000"/>
          </a:xfrm>
          <a:prstGeom prst="rect">
            <a:avLst/>
          </a:prstGeom>
        </p:spPr>
      </p:pic>
      <p:sp>
        <p:nvSpPr>
          <p:cNvPr id="3" name="Text 0"/>
          <p:cNvSpPr txBox="1"/>
          <p:nvPr/>
        </p:nvSpPr>
        <p:spPr>
          <a:xfrm>
            <a:off x="9509760" y="2240280"/>
            <a:ext cx="7863840" cy="3108960"/>
          </a:xfrm>
          <a:prstGeom prst="rect">
            <a:avLst/>
          </a:prstGeom>
          <a:noFill/>
          <a:ln/>
        </p:spPr>
        <p:txBody>
          <a:bodyPr wrap="square" lIns="0" tIns="0" rIns="0" bIns="0" rtlCol="0" anchor="t"/>
          <a:lstStyle/>
          <a:p>
            <a:pPr indent="0" marL="0">
              <a:lnSpc>
                <a:spcPct val="98000"/>
              </a:lnSpc>
              <a:buNone/>
            </a:pPr>
            <a:r>
              <a:rPr lang="en-US" sz="5400" b="1" dirty="0">
                <a:solidFill>
                  <a:srgbClr val="FFFFFF"/>
                </a:solidFill>
                <a:latin typeface="Arial" pitchFamily="34" charset="0"/>
                <a:ea typeface="Arial" pitchFamily="34" charset="-122"/>
                <a:cs typeface="Arial" pitchFamily="34" charset="-120"/>
              </a:rPr>
              <a:t>Y yo aquí creando</a:t>
            </a:r>
            <a:endParaRPr lang="en-US" sz="5400" dirty="0"/>
          </a:p>
          <a:p>
            <a:pPr indent="0" marL="0">
              <a:lnSpc>
                <a:spcPct val="98000"/>
              </a:lnSpc>
              <a:buNone/>
            </a:pPr>
            <a:r>
              <a:rPr lang="en-US" sz="5400" b="1" dirty="0">
                <a:solidFill>
                  <a:srgbClr val="FFFFFF"/>
                </a:solidFill>
                <a:latin typeface="Arial" pitchFamily="34" charset="0"/>
                <a:ea typeface="Arial" pitchFamily="34" charset="-122"/>
                <a:cs typeface="Arial" pitchFamily="34" charset="-120"/>
              </a:rPr>
              <a:t>workspaces a mano</a:t>
            </a:r>
            <a:endParaRPr lang="en-US" sz="5400" dirty="0"/>
          </a:p>
        </p:txBody>
      </p:sp>
      <p:sp>
        <p:nvSpPr>
          <p:cNvPr id="4" name="Text 1"/>
          <p:cNvSpPr txBox="1"/>
          <p:nvPr/>
        </p:nvSpPr>
        <p:spPr>
          <a:xfrm>
            <a:off x="9601200" y="5486400"/>
            <a:ext cx="7680960" cy="685800"/>
          </a:xfrm>
          <a:prstGeom prst="rect">
            <a:avLst/>
          </a:prstGeom>
          <a:noFill/>
          <a:ln/>
        </p:spPr>
        <p:txBody>
          <a:bodyPr wrap="square" lIns="0" tIns="0" rIns="0" bIns="0" rtlCol="0" anchor="ctr"/>
          <a:lstStyle/>
          <a:p>
            <a:pPr indent="0" marL="0">
              <a:buNone/>
            </a:pPr>
            <a:r>
              <a:rPr lang="en-US" sz="2400" b="1" dirty="0">
                <a:solidFill>
                  <a:srgbClr val="F59120"/>
                </a:solidFill>
                <a:latin typeface="Arial" pitchFamily="34" charset="0"/>
                <a:ea typeface="Arial" pitchFamily="34" charset="-122"/>
                <a:cs typeface="Arial" pitchFamily="34" charset="-120"/>
              </a:rPr>
              <a:t>Terraform al rescate para Microsoft Fabric</a:t>
            </a:r>
            <a:endParaRPr lang="en-US" sz="2400" dirty="0"/>
          </a:p>
        </p:txBody>
      </p:sp>
      <p:sp>
        <p:nvSpPr>
          <p:cNvPr id="5" name="Shape 2"/>
          <p:cNvSpPr/>
          <p:nvPr/>
        </p:nvSpPr>
        <p:spPr>
          <a:xfrm>
            <a:off x="9601200" y="6537960"/>
            <a:ext cx="2377440" cy="0"/>
          </a:xfrm>
          <a:prstGeom prst="line">
            <a:avLst/>
          </a:prstGeom>
          <a:noFill/>
          <a:ln w="38100">
            <a:solidFill>
              <a:srgbClr val="F59120"/>
            </a:solidFill>
            <a:prstDash val="solid"/>
          </a:ln>
        </p:spPr>
      </p:sp>
      <p:sp>
        <p:nvSpPr>
          <p:cNvPr id="6" name="Text 3"/>
          <p:cNvSpPr txBox="1"/>
          <p:nvPr/>
        </p:nvSpPr>
        <p:spPr>
          <a:xfrm>
            <a:off x="9601200" y="6812280"/>
            <a:ext cx="7680960" cy="457200"/>
          </a:xfrm>
          <a:prstGeom prst="rect">
            <a:avLst/>
          </a:prstGeom>
          <a:noFill/>
          <a:ln/>
        </p:spPr>
        <p:txBody>
          <a:bodyPr wrap="square" lIns="0" tIns="0" rIns="0" bIns="0" rtlCol="0" anchor="ctr"/>
          <a:lstStyle/>
          <a:p>
            <a:pPr indent="0" marL="0">
              <a:buNone/>
            </a:pPr>
            <a:r>
              <a:rPr lang="en-US" sz="2100" b="1" dirty="0">
                <a:solidFill>
                  <a:srgbClr val="FFFFFF"/>
                </a:solidFill>
                <a:latin typeface="Arial" pitchFamily="34" charset="0"/>
                <a:ea typeface="Arial" pitchFamily="34" charset="-122"/>
                <a:cs typeface="Arial" pitchFamily="34" charset="-120"/>
              </a:rPr>
              <a:t>Mar Lizana Atienza</a:t>
            </a:r>
            <a:endParaRPr lang="en-US" sz="2100" dirty="0"/>
          </a:p>
        </p:txBody>
      </p:sp>
      <p:sp>
        <p:nvSpPr>
          <p:cNvPr id="7" name="Text 4"/>
          <p:cNvSpPr txBox="1"/>
          <p:nvPr/>
        </p:nvSpPr>
        <p:spPr>
          <a:xfrm>
            <a:off x="9601200" y="7269480"/>
            <a:ext cx="7680960" cy="41148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Data Squad Lead @ ENCAMINA  ·  Microsoft MVP  ·  @akanemar</a:t>
            </a:r>
            <a:endParaRPr lang="en-US" sz="1500" dirty="0"/>
          </a:p>
        </p:txBody>
      </p:sp>
      <p:sp>
        <p:nvSpPr>
          <p:cNvPr id="8" name="Text 5"/>
          <p:cNvSpPr txBox="1"/>
          <p:nvPr/>
        </p:nvSpPr>
        <p:spPr>
          <a:xfrm>
            <a:off x="9601200" y="7909560"/>
            <a:ext cx="7680960" cy="457200"/>
          </a:xfrm>
          <a:prstGeom prst="rect">
            <a:avLst/>
          </a:prstGeom>
          <a:noFill/>
          <a:ln/>
        </p:spPr>
        <p:txBody>
          <a:bodyPr wrap="square" lIns="0" tIns="0" rIns="0" bIns="0" rtlCol="0" anchor="ctr"/>
          <a:lstStyle/>
          <a:p>
            <a:pPr indent="0" marL="0">
              <a:buNone/>
            </a:pPr>
            <a:r>
              <a:rPr lang="en-US" sz="2100" b="1" dirty="0">
                <a:solidFill>
                  <a:srgbClr val="FFFFFF"/>
                </a:solidFill>
                <a:latin typeface="Arial" pitchFamily="34" charset="0"/>
                <a:ea typeface="Arial" pitchFamily="34" charset="-122"/>
                <a:cs typeface="Arial" pitchFamily="34" charset="-120"/>
              </a:rPr>
              <a:t>Alfonso Ming</a:t>
            </a:r>
            <a:endParaRPr lang="en-US" sz="2100" dirty="0"/>
          </a:p>
        </p:txBody>
      </p:sp>
      <p:sp>
        <p:nvSpPr>
          <p:cNvPr id="9" name="Text 6"/>
          <p:cNvSpPr txBox="1"/>
          <p:nvPr/>
        </p:nvSpPr>
        <p:spPr>
          <a:xfrm>
            <a:off x="9601200" y="8366760"/>
            <a:ext cx="7680960" cy="411480"/>
          </a:xfrm>
          <a:prstGeom prst="rect">
            <a:avLst/>
          </a:prstGeom>
          <a:noFill/>
          <a:ln/>
        </p:spPr>
        <p:txBody>
          <a:bodyPr wrap="square" lIns="0" tIns="0" rIns="0" bIns="0" rtlCol="0" anchor="ctr"/>
          <a:lstStyle/>
          <a:p>
            <a:pPr indent="0" marL="0">
              <a:buNone/>
            </a:pPr>
            <a:r>
              <a:rPr lang="en-US" sz="1500" dirty="0">
                <a:solidFill>
                  <a:srgbClr val="FFFFFF"/>
                </a:solidFill>
                <a:latin typeface="Calibri" pitchFamily="34" charset="0"/>
                <a:ea typeface="Calibri" pitchFamily="34" charset="-122"/>
                <a:cs typeface="Calibri" pitchFamily="34" charset="-120"/>
              </a:rPr>
              <a:t>Site Reliability Engineer @ SCRM</a:t>
            </a:r>
            <a:endParaRPr lang="en-US" sz="15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home/claude/bg-sponsors.jpg">    </p:cNvPr>
          <p:cNvPicPr>
            <a:picLocks noChangeAspect="1"/>
          </p:cNvPicPr>
          <p:nvPr/>
        </p:nvPicPr>
        <p:blipFill>
          <a:blip r:embed="rId1"/>
          <a:stretch>
            <a:fillRect/>
          </a:stretch>
        </p:blipFill>
        <p:spPr>
          <a:xfrm>
            <a:off x="0" y="0"/>
            <a:ext cx="18288000" cy="10287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home/claude/bg-white.jpg">    </p:cNvPr>
          <p:cNvPicPr>
            <a:picLocks noChangeAspect="1"/>
          </p:cNvPicPr>
          <p:nvPr/>
        </p:nvPicPr>
        <p:blipFill>
          <a:blip r:embed="rId1"/>
          <a:stretch>
            <a:fillRect/>
          </a:stretch>
        </p:blipFill>
        <p:spPr>
          <a:xfrm>
            <a:off x="0" y="0"/>
            <a:ext cx="18288000" cy="10287000"/>
          </a:xfrm>
          <a:prstGeom prst="rect">
            <a:avLst/>
          </a:prstGeom>
        </p:spPr>
      </p:pic>
      <p:sp>
        <p:nvSpPr>
          <p:cNvPr id="3" name="Text 0"/>
          <p:cNvSpPr txBox="1"/>
          <p:nvPr/>
        </p:nvSpPr>
        <p:spPr>
          <a:xfrm>
            <a:off x="1572768" y="1024128"/>
            <a:ext cx="15142464" cy="404165"/>
          </a:xfrm>
          <a:prstGeom prst="rect">
            <a:avLst/>
          </a:prstGeom>
          <a:noFill/>
          <a:ln/>
        </p:spPr>
        <p:txBody>
          <a:bodyPr wrap="square" lIns="0" tIns="0" rIns="0" bIns="0" rtlCol="0" anchor="ctr"/>
          <a:lstStyle/>
          <a:p>
            <a:pPr indent="0" marL="0">
              <a:buNone/>
            </a:pPr>
            <a:r>
              <a:rPr lang="en-US" sz="1660" b="1" spc="345" kern="0" dirty="0">
                <a:solidFill>
                  <a:srgbClr val="E8553F"/>
                </a:solidFill>
                <a:latin typeface="Calibri" pitchFamily="34" charset="0"/>
                <a:ea typeface="Calibri" pitchFamily="34" charset="-122"/>
                <a:cs typeface="Calibri" pitchFamily="34" charset="-120"/>
              </a:rPr>
              <a:t>EL PROBLEMA</a:t>
            </a:r>
            <a:endParaRPr lang="en-US" sz="1660" dirty="0"/>
          </a:p>
        </p:txBody>
      </p:sp>
      <p:sp>
        <p:nvSpPr>
          <p:cNvPr id="4" name="Text 1"/>
          <p:cNvSpPr txBox="1"/>
          <p:nvPr/>
        </p:nvSpPr>
        <p:spPr>
          <a:xfrm>
            <a:off x="1572768" y="1440180"/>
            <a:ext cx="15142464" cy="1072591"/>
          </a:xfrm>
          <a:prstGeom prst="rect">
            <a:avLst/>
          </a:prstGeom>
          <a:noFill/>
          <a:ln/>
        </p:spPr>
        <p:txBody>
          <a:bodyPr wrap="square" lIns="0" tIns="0" rIns="0" bIns="0" rtlCol="0" anchor="ctr"/>
          <a:lstStyle/>
          <a:p>
            <a:pPr algn="l" indent="0" marL="0">
              <a:buNone/>
            </a:pPr>
            <a:r>
              <a:rPr lang="en-US" sz="4690" b="1" dirty="0">
                <a:solidFill>
                  <a:srgbClr val="241028"/>
                </a:solidFill>
                <a:latin typeface="Arial" pitchFamily="34" charset="0"/>
                <a:ea typeface="Arial" pitchFamily="34" charset="-122"/>
                <a:cs typeface="Arial" pitchFamily="34" charset="-120"/>
              </a:rPr>
              <a:t>Esto no te lo estoy contando: lo has vivido</a:t>
            </a:r>
            <a:endParaRPr lang="en-US" sz="4690" dirty="0"/>
          </a:p>
        </p:txBody>
      </p:sp>
      <p:sp>
        <p:nvSpPr>
          <p:cNvPr id="5" name="Shape 2"/>
          <p:cNvSpPr/>
          <p:nvPr/>
        </p:nvSpPr>
        <p:spPr>
          <a:xfrm>
            <a:off x="1572768" y="3143707"/>
            <a:ext cx="8202168" cy="933602"/>
          </a:xfrm>
          <a:prstGeom prst="roundRect">
            <a:avLst>
              <a:gd name="adj" fmla="val 13516"/>
            </a:avLst>
          </a:prstGeom>
          <a:solidFill>
            <a:srgbClr val="F5ECF7"/>
          </a:solidFill>
          <a:ln w="12700">
            <a:solidFill>
              <a:srgbClr val="F5ECF7"/>
            </a:solidFill>
            <a:prstDash val="solid"/>
          </a:ln>
        </p:spPr>
      </p:sp>
      <p:sp>
        <p:nvSpPr>
          <p:cNvPr id="6" name="Text 3"/>
          <p:cNvSpPr txBox="1"/>
          <p:nvPr/>
        </p:nvSpPr>
        <p:spPr>
          <a:xfrm>
            <a:off x="1951330" y="3143707"/>
            <a:ext cx="7571232" cy="933602"/>
          </a:xfrm>
          <a:prstGeom prst="rect">
            <a:avLst/>
          </a:prstGeom>
          <a:noFill/>
          <a:ln/>
        </p:spPr>
        <p:txBody>
          <a:bodyPr wrap="square" lIns="0" tIns="0" rIns="0" bIns="0" rtlCol="0" anchor="ctr"/>
          <a:lstStyle/>
          <a:p>
            <a:pPr indent="0" marL="0">
              <a:buNone/>
            </a:pPr>
            <a:r>
              <a:rPr lang="en-US" sz="1930" dirty="0">
                <a:solidFill>
                  <a:srgbClr val="6E5C73"/>
                </a:solidFill>
                <a:latin typeface="Courier New" pitchFamily="34" charset="0"/>
                <a:ea typeface="Courier New" pitchFamily="34" charset="-122"/>
                <a:cs typeface="Courier New" pitchFamily="34" charset="-120"/>
              </a:rPr>
              <a:t>pasos_despliegue.docx</a:t>
            </a:r>
            <a:endParaRPr lang="en-US" sz="1930" dirty="0"/>
          </a:p>
        </p:txBody>
      </p:sp>
      <p:sp>
        <p:nvSpPr>
          <p:cNvPr id="7" name="Shape 4"/>
          <p:cNvSpPr/>
          <p:nvPr/>
        </p:nvSpPr>
        <p:spPr>
          <a:xfrm>
            <a:off x="1572768" y="4304995"/>
            <a:ext cx="8202168" cy="933602"/>
          </a:xfrm>
          <a:prstGeom prst="roundRect">
            <a:avLst>
              <a:gd name="adj" fmla="val 13516"/>
            </a:avLst>
          </a:prstGeom>
          <a:solidFill>
            <a:srgbClr val="F5ECF7"/>
          </a:solidFill>
          <a:ln w="12700">
            <a:solidFill>
              <a:srgbClr val="F5ECF7"/>
            </a:solidFill>
            <a:prstDash val="solid"/>
          </a:ln>
        </p:spPr>
      </p:sp>
      <p:sp>
        <p:nvSpPr>
          <p:cNvPr id="8" name="Text 5"/>
          <p:cNvSpPr txBox="1"/>
          <p:nvPr/>
        </p:nvSpPr>
        <p:spPr>
          <a:xfrm>
            <a:off x="1951330" y="4304995"/>
            <a:ext cx="7571232" cy="933602"/>
          </a:xfrm>
          <a:prstGeom prst="rect">
            <a:avLst/>
          </a:prstGeom>
          <a:noFill/>
          <a:ln/>
        </p:spPr>
        <p:txBody>
          <a:bodyPr wrap="square" lIns="0" tIns="0" rIns="0" bIns="0" rtlCol="0" anchor="ctr"/>
          <a:lstStyle/>
          <a:p>
            <a:pPr indent="0" marL="0">
              <a:buNone/>
            </a:pPr>
            <a:r>
              <a:rPr lang="en-US" sz="1930" dirty="0">
                <a:solidFill>
                  <a:srgbClr val="6E5C73"/>
                </a:solidFill>
                <a:latin typeface="Courier New" pitchFamily="34" charset="0"/>
                <a:ea typeface="Courier New" pitchFamily="34" charset="-122"/>
                <a:cs typeface="Courier New" pitchFamily="34" charset="-120"/>
              </a:rPr>
              <a:t>pasos_despliegue_v2.docx</a:t>
            </a:r>
            <a:endParaRPr lang="en-US" sz="1930" dirty="0"/>
          </a:p>
        </p:txBody>
      </p:sp>
      <p:sp>
        <p:nvSpPr>
          <p:cNvPr id="9" name="Shape 6"/>
          <p:cNvSpPr/>
          <p:nvPr/>
        </p:nvSpPr>
        <p:spPr>
          <a:xfrm>
            <a:off x="1572768" y="5466283"/>
            <a:ext cx="8202168" cy="933602"/>
          </a:xfrm>
          <a:prstGeom prst="roundRect">
            <a:avLst>
              <a:gd name="adj" fmla="val 13516"/>
            </a:avLst>
          </a:prstGeom>
          <a:solidFill>
            <a:srgbClr val="F5ECF7"/>
          </a:solidFill>
          <a:ln w="12700">
            <a:solidFill>
              <a:srgbClr val="F5ECF7"/>
            </a:solidFill>
            <a:prstDash val="solid"/>
          </a:ln>
        </p:spPr>
      </p:sp>
      <p:sp>
        <p:nvSpPr>
          <p:cNvPr id="10" name="Text 7"/>
          <p:cNvSpPr txBox="1"/>
          <p:nvPr/>
        </p:nvSpPr>
        <p:spPr>
          <a:xfrm>
            <a:off x="1951330" y="5466283"/>
            <a:ext cx="7571232" cy="933602"/>
          </a:xfrm>
          <a:prstGeom prst="rect">
            <a:avLst/>
          </a:prstGeom>
          <a:noFill/>
          <a:ln/>
        </p:spPr>
        <p:txBody>
          <a:bodyPr wrap="square" lIns="0" tIns="0" rIns="0" bIns="0" rtlCol="0" anchor="ctr"/>
          <a:lstStyle/>
          <a:p>
            <a:pPr indent="0" marL="0">
              <a:buNone/>
            </a:pPr>
            <a:r>
              <a:rPr lang="en-US" sz="1930" dirty="0">
                <a:solidFill>
                  <a:srgbClr val="6E5C73"/>
                </a:solidFill>
                <a:latin typeface="Courier New" pitchFamily="34" charset="0"/>
                <a:ea typeface="Courier New" pitchFamily="34" charset="-122"/>
                <a:cs typeface="Courier New" pitchFamily="34" charset="-120"/>
              </a:rPr>
              <a:t>pasos_despliegue_FINAL.docx</a:t>
            </a:r>
            <a:endParaRPr lang="en-US" sz="1930" dirty="0"/>
          </a:p>
        </p:txBody>
      </p:sp>
      <p:sp>
        <p:nvSpPr>
          <p:cNvPr id="11" name="Shape 8"/>
          <p:cNvSpPr/>
          <p:nvPr/>
        </p:nvSpPr>
        <p:spPr>
          <a:xfrm>
            <a:off x="1572768" y="6626657"/>
            <a:ext cx="8202168" cy="933602"/>
          </a:xfrm>
          <a:prstGeom prst="roundRect">
            <a:avLst>
              <a:gd name="adj" fmla="val 13516"/>
            </a:avLst>
          </a:prstGeom>
          <a:solidFill>
            <a:srgbClr val="E8553F"/>
          </a:solidFill>
          <a:ln w="12700">
            <a:solidFill>
              <a:srgbClr val="E8553F"/>
            </a:solidFill>
            <a:prstDash val="solid"/>
          </a:ln>
        </p:spPr>
      </p:sp>
      <p:sp>
        <p:nvSpPr>
          <p:cNvPr id="12" name="Text 9"/>
          <p:cNvSpPr txBox="1"/>
          <p:nvPr/>
        </p:nvSpPr>
        <p:spPr>
          <a:xfrm>
            <a:off x="1951330" y="6626657"/>
            <a:ext cx="7571232" cy="933602"/>
          </a:xfrm>
          <a:prstGeom prst="rect">
            <a:avLst/>
          </a:prstGeom>
          <a:noFill/>
          <a:ln/>
        </p:spPr>
        <p:txBody>
          <a:bodyPr wrap="square" lIns="0" tIns="0" rIns="0" bIns="0" rtlCol="0" anchor="ctr"/>
          <a:lstStyle/>
          <a:p>
            <a:pPr indent="0" marL="0">
              <a:buNone/>
            </a:pPr>
            <a:r>
              <a:rPr lang="en-US" sz="1930" b="1" dirty="0">
                <a:solidFill>
                  <a:srgbClr val="FFFFFF"/>
                </a:solidFill>
                <a:latin typeface="Courier New" pitchFamily="34" charset="0"/>
                <a:ea typeface="Courier New" pitchFamily="34" charset="-122"/>
                <a:cs typeface="Courier New" pitchFamily="34" charset="-120"/>
              </a:rPr>
              <a:t>pasos_despliegue_FINAL_FINAL2.docx</a:t>
            </a:r>
            <a:endParaRPr lang="en-US" sz="1930" dirty="0"/>
          </a:p>
        </p:txBody>
      </p:sp>
      <p:sp>
        <p:nvSpPr>
          <p:cNvPr id="13" name="Shape 10"/>
          <p:cNvSpPr/>
          <p:nvPr/>
        </p:nvSpPr>
        <p:spPr>
          <a:xfrm>
            <a:off x="10342778" y="3143707"/>
            <a:ext cx="6372454" cy="4971593"/>
          </a:xfrm>
          <a:prstGeom prst="roundRect">
            <a:avLst>
              <a:gd name="adj" fmla="val 2538"/>
            </a:avLst>
          </a:prstGeom>
          <a:solidFill>
            <a:srgbClr val="2A0E33"/>
          </a:solidFill>
          <a:ln w="12700">
            <a:solidFill>
              <a:srgbClr val="2A0E33"/>
            </a:solidFill>
            <a:prstDash val="solid"/>
          </a:ln>
        </p:spPr>
      </p:sp>
      <p:sp>
        <p:nvSpPr>
          <p:cNvPr id="14" name="Text 11"/>
          <p:cNvSpPr txBox="1"/>
          <p:nvPr/>
        </p:nvSpPr>
        <p:spPr>
          <a:xfrm>
            <a:off x="10721340" y="3522269"/>
            <a:ext cx="5678424" cy="441655"/>
          </a:xfrm>
          <a:prstGeom prst="rect">
            <a:avLst/>
          </a:prstGeom>
          <a:noFill/>
          <a:ln/>
        </p:spPr>
        <p:txBody>
          <a:bodyPr wrap="square" lIns="0" tIns="0" rIns="0" bIns="0" rtlCol="0" anchor="ctr"/>
          <a:lstStyle/>
          <a:p>
            <a:pPr indent="0" marL="0">
              <a:buNone/>
            </a:pPr>
            <a:r>
              <a:rPr lang="en-US" sz="2070" b="1" dirty="0">
                <a:solidFill>
                  <a:srgbClr val="F59120"/>
                </a:solidFill>
                <a:latin typeface="Arial" pitchFamily="34" charset="0"/>
                <a:ea typeface="Arial" pitchFamily="34" charset="-122"/>
                <a:cs typeface="Arial" pitchFamily="34" charset="-120"/>
              </a:rPr>
              <a:t>Dentro:</a:t>
            </a:r>
            <a:endParaRPr lang="en-US" sz="2070" dirty="0"/>
          </a:p>
        </p:txBody>
      </p:sp>
      <p:sp>
        <p:nvSpPr>
          <p:cNvPr id="15" name="Text 12"/>
          <p:cNvSpPr txBox="1"/>
          <p:nvPr/>
        </p:nvSpPr>
        <p:spPr>
          <a:xfrm>
            <a:off x="10721340" y="4216298"/>
            <a:ext cx="5678424" cy="3659429"/>
          </a:xfrm>
          <a:prstGeom prst="rect">
            <a:avLst/>
          </a:prstGeom>
          <a:noFill/>
          <a:ln/>
        </p:spPr>
        <p:txBody>
          <a:bodyPr wrap="square" lIns="0" tIns="0" rIns="0" bIns="0" rtlCol="0" anchor="t"/>
          <a:lstStyle/>
          <a:p>
            <a:pPr marL="342900" indent="-342900">
              <a:spcAft>
                <a:spcPts val="1500"/>
              </a:spcAft>
              <a:buSzPct val="100000"/>
              <a:buChar char="•"/>
            </a:pPr>
            <a:r>
              <a:rPr lang="en-US" sz="2070" dirty="0">
                <a:solidFill>
                  <a:srgbClr val="EFE6F2"/>
                </a:solidFill>
                <a:latin typeface="Calibri" pitchFamily="34" charset="0"/>
                <a:ea typeface="Calibri" pitchFamily="34" charset="-122"/>
                <a:cs typeface="Calibri" pitchFamily="34" charset="-120"/>
              </a:rPr>
              <a:t>27 capturas de pantalla</a:t>
            </a:r>
            <a:endParaRPr lang="en-US" sz="2070" dirty="0"/>
          </a:p>
          <a:p>
            <a:pPr marL="342900" indent="-342900">
              <a:spcAft>
                <a:spcPts val="1500"/>
              </a:spcAft>
              <a:buSzPct val="100000"/>
              <a:buChar char="•"/>
            </a:pPr>
            <a:r>
              <a:rPr lang="en-US" sz="2070" dirty="0">
                <a:solidFill>
                  <a:srgbClr val="EFE6F2"/>
                </a:solidFill>
                <a:latin typeface="Calibri" pitchFamily="34" charset="0"/>
                <a:ea typeface="Calibri" pitchFamily="34" charset="-122"/>
                <a:cs typeface="Calibri" pitchFamily="34" charset="-120"/>
              </a:rPr>
              <a:t>De una versión del portal que ya no existe</a:t>
            </a:r>
            <a:endParaRPr lang="en-US" sz="2070" dirty="0"/>
          </a:p>
          <a:p>
            <a:pPr marL="342900" indent="-342900">
              <a:spcAft>
                <a:spcPts val="1500"/>
              </a:spcAft>
              <a:buSzPct val="100000"/>
              <a:buChar char="•"/>
            </a:pPr>
            <a:r>
              <a:rPr lang="en-US" sz="2070" dirty="0">
                <a:solidFill>
                  <a:srgbClr val="EFE6F2"/>
                </a:solidFill>
                <a:latin typeface="Calibri" pitchFamily="34" charset="0"/>
                <a:ea typeface="Calibri" pitchFamily="34" charset="-122"/>
                <a:cs typeface="Calibri" pitchFamily="34" charset="-120"/>
              </a:rPr>
              <a:t>La captura 14 está en inglés, el resto en español</a:t>
            </a:r>
            <a:endParaRPr lang="en-US" sz="2070" dirty="0"/>
          </a:p>
          <a:p>
            <a:pPr marL="342900" indent="-342900">
              <a:spcAft>
                <a:spcPts val="1500"/>
              </a:spcAft>
              <a:buSzPct val="100000"/>
              <a:buChar char="•"/>
            </a:pPr>
            <a:r>
              <a:rPr lang="en-US" sz="2070" dirty="0">
                <a:solidFill>
                  <a:srgbClr val="EFE6F2"/>
                </a:solidFill>
                <a:latin typeface="Calibri" pitchFamily="34" charset="0"/>
                <a:ea typeface="Calibri" pitchFamily="34" charset="-122"/>
                <a:cs typeface="Calibri" pitchFamily="34" charset="-120"/>
              </a:rPr>
              <a:t>Un paso que solo sabe hacer Jose</a:t>
            </a:r>
            <a:endParaRPr lang="en-US" sz="2070" dirty="0"/>
          </a:p>
          <a:p>
            <a:pPr marL="342900" indent="-342900">
              <a:spcAft>
                <a:spcPts val="1500"/>
              </a:spcAft>
              <a:buSzPct val="100000"/>
              <a:buChar char="•"/>
            </a:pPr>
            <a:r>
              <a:rPr lang="en-US" sz="2070" dirty="0">
                <a:solidFill>
                  <a:srgbClr val="EFE6F2"/>
                </a:solidFill>
                <a:latin typeface="Calibri" pitchFamily="34" charset="0"/>
                <a:ea typeface="Calibri" pitchFamily="34" charset="-122"/>
                <a:cs typeface="Calibri" pitchFamily="34" charset="-120"/>
              </a:rPr>
              <a:t>Y Jose está de vacaciones</a:t>
            </a:r>
            <a:endParaRPr lang="en-US" sz="2070" dirty="0"/>
          </a:p>
        </p:txBody>
      </p:sp>
      <p:sp>
        <p:nvSpPr>
          <p:cNvPr id="16" name="Text 13"/>
          <p:cNvSpPr txBox="1"/>
          <p:nvPr/>
        </p:nvSpPr>
        <p:spPr>
          <a:xfrm>
            <a:off x="1572768" y="8506663"/>
            <a:ext cx="15142464" cy="694030"/>
          </a:xfrm>
          <a:prstGeom prst="rect">
            <a:avLst/>
          </a:prstGeom>
          <a:noFill/>
          <a:ln/>
        </p:spPr>
        <p:txBody>
          <a:bodyPr wrap="square" lIns="0" tIns="0" rIns="0" bIns="0" rtlCol="0" anchor="ctr"/>
          <a:lstStyle/>
          <a:p>
            <a:pPr indent="0" marL="0">
              <a:buNone/>
            </a:pPr>
            <a:r>
              <a:rPr lang="en-US" sz="2900" b="1" i="1" dirty="0">
                <a:solidFill>
                  <a:srgbClr val="E8553F"/>
                </a:solidFill>
                <a:latin typeface="Arial" pitchFamily="34" charset="0"/>
                <a:ea typeface="Arial" pitchFamily="34" charset="-122"/>
                <a:cs typeface="Arial" pitchFamily="34" charset="-120"/>
              </a:rPr>
              <a:t>Ese Word no es documentación. Es un acta de defunción.</a:t>
            </a:r>
            <a:endParaRPr lang="en-US" sz="29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home/claude/bg-white.jpg">    </p:cNvPr>
          <p:cNvPicPr>
            <a:picLocks noChangeAspect="1"/>
          </p:cNvPicPr>
          <p:nvPr/>
        </p:nvPicPr>
        <p:blipFill>
          <a:blip r:embed="rId1"/>
          <a:stretch>
            <a:fillRect/>
          </a:stretch>
        </p:blipFill>
        <p:spPr>
          <a:xfrm>
            <a:off x="0" y="0"/>
            <a:ext cx="18288000" cy="10287000"/>
          </a:xfrm>
          <a:prstGeom prst="rect">
            <a:avLst/>
          </a:prstGeom>
        </p:spPr>
      </p:pic>
      <p:sp>
        <p:nvSpPr>
          <p:cNvPr id="3" name="Text 0"/>
          <p:cNvSpPr txBox="1"/>
          <p:nvPr/>
        </p:nvSpPr>
        <p:spPr>
          <a:xfrm>
            <a:off x="1572768" y="1024128"/>
            <a:ext cx="15142464" cy="404165"/>
          </a:xfrm>
          <a:prstGeom prst="rect">
            <a:avLst/>
          </a:prstGeom>
          <a:noFill/>
          <a:ln/>
        </p:spPr>
        <p:txBody>
          <a:bodyPr wrap="square" lIns="0" tIns="0" rIns="0" bIns="0" rtlCol="0" anchor="ctr"/>
          <a:lstStyle/>
          <a:p>
            <a:pPr indent="0" marL="0">
              <a:buNone/>
            </a:pPr>
            <a:r>
              <a:rPr lang="en-US" sz="1660" b="1" spc="345" kern="0" dirty="0">
                <a:solidFill>
                  <a:srgbClr val="E8553F"/>
                </a:solidFill>
                <a:latin typeface="Calibri" pitchFamily="34" charset="0"/>
                <a:ea typeface="Calibri" pitchFamily="34" charset="-122"/>
                <a:cs typeface="Calibri" pitchFamily="34" charset="-120"/>
              </a:rPr>
              <a:t>EL PROBLEMA</a:t>
            </a:r>
            <a:endParaRPr lang="en-US" sz="1660" dirty="0"/>
          </a:p>
        </p:txBody>
      </p:sp>
      <p:sp>
        <p:nvSpPr>
          <p:cNvPr id="4" name="Text 1"/>
          <p:cNvSpPr txBox="1"/>
          <p:nvPr/>
        </p:nvSpPr>
        <p:spPr>
          <a:xfrm>
            <a:off x="1572768" y="1440180"/>
            <a:ext cx="15142464" cy="1072591"/>
          </a:xfrm>
          <a:prstGeom prst="rect">
            <a:avLst/>
          </a:prstGeom>
          <a:noFill/>
          <a:ln/>
        </p:spPr>
        <p:txBody>
          <a:bodyPr wrap="square" lIns="0" tIns="0" rIns="0" bIns="0" rtlCol="0" anchor="ctr"/>
          <a:lstStyle/>
          <a:p>
            <a:pPr algn="l" indent="0" marL="0">
              <a:buNone/>
            </a:pPr>
            <a:r>
              <a:rPr lang="en-US" sz="4690" b="1" dirty="0">
                <a:solidFill>
                  <a:srgbClr val="241028"/>
                </a:solidFill>
                <a:latin typeface="Arial" pitchFamily="34" charset="0"/>
                <a:ea typeface="Arial" pitchFamily="34" charset="-122"/>
                <a:cs typeface="Arial" pitchFamily="34" charset="-120"/>
              </a:rPr>
              <a:t>Hagamos la cuenta de un proyecto normal</a:t>
            </a:r>
            <a:endParaRPr lang="en-US" sz="4690" dirty="0"/>
          </a:p>
        </p:txBody>
      </p:sp>
      <p:sp>
        <p:nvSpPr>
          <p:cNvPr id="5" name="Shape 2"/>
          <p:cNvSpPr/>
          <p:nvPr/>
        </p:nvSpPr>
        <p:spPr>
          <a:xfrm>
            <a:off x="1572768" y="3206801"/>
            <a:ext cx="3609137" cy="2713025"/>
          </a:xfrm>
          <a:prstGeom prst="roundRect">
            <a:avLst>
              <a:gd name="adj" fmla="val 4651"/>
            </a:avLst>
          </a:prstGeom>
          <a:solidFill>
            <a:srgbClr val="FFFFFF"/>
          </a:solidFill>
          <a:ln w="12700">
            <a:solidFill>
              <a:srgbClr val="FFFFFF"/>
            </a:solidFill>
            <a:prstDash val="solid"/>
          </a:ln>
        </p:spPr>
      </p:sp>
      <p:sp>
        <p:nvSpPr>
          <p:cNvPr id="6" name="Text 3"/>
          <p:cNvSpPr txBox="1"/>
          <p:nvPr/>
        </p:nvSpPr>
        <p:spPr>
          <a:xfrm>
            <a:off x="1572768" y="3396082"/>
            <a:ext cx="3609137" cy="1198778"/>
          </a:xfrm>
          <a:prstGeom prst="rect">
            <a:avLst/>
          </a:prstGeom>
          <a:noFill/>
          <a:ln/>
        </p:spPr>
        <p:txBody>
          <a:bodyPr wrap="square" lIns="0" tIns="0" rIns="0" bIns="0" rtlCol="0" anchor="ctr"/>
          <a:lstStyle/>
          <a:p>
            <a:pPr algn="ctr" indent="0" marL="0">
              <a:buNone/>
            </a:pPr>
            <a:r>
              <a:rPr lang="en-US" sz="7450" b="1" dirty="0">
                <a:solidFill>
                  <a:srgbClr val="692179"/>
                </a:solidFill>
                <a:latin typeface="Arial" pitchFamily="34" charset="0"/>
                <a:ea typeface="Arial" pitchFamily="34" charset="-122"/>
                <a:cs typeface="Arial" pitchFamily="34" charset="-120"/>
              </a:rPr>
              <a:t>4</a:t>
            </a:r>
            <a:endParaRPr lang="en-US" sz="7450" dirty="0"/>
          </a:p>
        </p:txBody>
      </p:sp>
      <p:sp>
        <p:nvSpPr>
          <p:cNvPr id="7" name="Text 4"/>
          <p:cNvSpPr txBox="1"/>
          <p:nvPr/>
        </p:nvSpPr>
        <p:spPr>
          <a:xfrm>
            <a:off x="1572768" y="4594860"/>
            <a:ext cx="3609137" cy="441655"/>
          </a:xfrm>
          <a:prstGeom prst="rect">
            <a:avLst/>
          </a:prstGeom>
          <a:noFill/>
          <a:ln/>
        </p:spPr>
        <p:txBody>
          <a:bodyPr wrap="square" lIns="0" tIns="0" rIns="0" bIns="0" rtlCol="0" anchor="ctr"/>
          <a:lstStyle/>
          <a:p>
            <a:pPr algn="ctr" indent="0" marL="0">
              <a:buNone/>
            </a:pPr>
            <a:r>
              <a:rPr lang="en-US" sz="2070" b="1" dirty="0">
                <a:solidFill>
                  <a:srgbClr val="241028"/>
                </a:solidFill>
                <a:latin typeface="Arial" pitchFamily="34" charset="0"/>
                <a:ea typeface="Arial" pitchFamily="34" charset="-122"/>
                <a:cs typeface="Arial" pitchFamily="34" charset="-120"/>
              </a:rPr>
              <a:t>entornos</a:t>
            </a:r>
            <a:endParaRPr lang="en-US" sz="2070" dirty="0"/>
          </a:p>
        </p:txBody>
      </p:sp>
      <p:sp>
        <p:nvSpPr>
          <p:cNvPr id="8" name="Text 5"/>
          <p:cNvSpPr txBox="1"/>
          <p:nvPr/>
        </p:nvSpPr>
        <p:spPr>
          <a:xfrm>
            <a:off x="1762049" y="5062118"/>
            <a:ext cx="3230575" cy="694030"/>
          </a:xfrm>
          <a:prstGeom prst="rect">
            <a:avLst/>
          </a:prstGeom>
          <a:noFill/>
          <a:ln/>
        </p:spPr>
        <p:txBody>
          <a:bodyPr wrap="square" lIns="0" tIns="0" rIns="0" bIns="0" rtlCol="0" anchor="t"/>
          <a:lstStyle/>
          <a:p>
            <a:pPr algn="ctr" indent="0" marL="0">
              <a:buNone/>
            </a:pPr>
            <a:r>
              <a:rPr lang="en-US" sz="1660" dirty="0">
                <a:solidFill>
                  <a:srgbClr val="6E5C73"/>
                </a:solidFill>
                <a:latin typeface="Calibri" pitchFamily="34" charset="0"/>
                <a:ea typeface="Calibri" pitchFamily="34" charset="-122"/>
                <a:cs typeface="Calibri" pitchFamily="34" charset="-120"/>
              </a:rPr>
              <a:t>DEV · TEST · QA · PRO</a:t>
            </a:r>
            <a:endParaRPr lang="en-US" sz="1660" dirty="0"/>
          </a:p>
        </p:txBody>
      </p:sp>
      <p:sp>
        <p:nvSpPr>
          <p:cNvPr id="9" name="Shape 6"/>
          <p:cNvSpPr/>
          <p:nvPr/>
        </p:nvSpPr>
        <p:spPr>
          <a:xfrm>
            <a:off x="5497373" y="3206801"/>
            <a:ext cx="3609137" cy="2713025"/>
          </a:xfrm>
          <a:prstGeom prst="roundRect">
            <a:avLst>
              <a:gd name="adj" fmla="val 4651"/>
            </a:avLst>
          </a:prstGeom>
          <a:solidFill>
            <a:srgbClr val="FFFFFF"/>
          </a:solidFill>
          <a:ln w="12700">
            <a:solidFill>
              <a:srgbClr val="FFFFFF"/>
            </a:solidFill>
            <a:prstDash val="solid"/>
          </a:ln>
        </p:spPr>
      </p:sp>
      <p:sp>
        <p:nvSpPr>
          <p:cNvPr id="10" name="Text 7"/>
          <p:cNvSpPr txBox="1"/>
          <p:nvPr/>
        </p:nvSpPr>
        <p:spPr>
          <a:xfrm>
            <a:off x="5497373" y="3396082"/>
            <a:ext cx="3609137" cy="1198778"/>
          </a:xfrm>
          <a:prstGeom prst="rect">
            <a:avLst/>
          </a:prstGeom>
          <a:noFill/>
          <a:ln/>
        </p:spPr>
        <p:txBody>
          <a:bodyPr wrap="square" lIns="0" tIns="0" rIns="0" bIns="0" rtlCol="0" anchor="ctr"/>
          <a:lstStyle/>
          <a:p>
            <a:pPr algn="ctr" indent="0" marL="0">
              <a:buNone/>
            </a:pPr>
            <a:r>
              <a:rPr lang="en-US" sz="7450" b="1" dirty="0">
                <a:solidFill>
                  <a:srgbClr val="692179"/>
                </a:solidFill>
                <a:latin typeface="Arial" pitchFamily="34" charset="0"/>
                <a:ea typeface="Arial" pitchFamily="34" charset="-122"/>
                <a:cs typeface="Arial" pitchFamily="34" charset="-120"/>
              </a:rPr>
              <a:t>3</a:t>
            </a:r>
            <a:endParaRPr lang="en-US" sz="7450" dirty="0"/>
          </a:p>
        </p:txBody>
      </p:sp>
      <p:sp>
        <p:nvSpPr>
          <p:cNvPr id="11" name="Text 8"/>
          <p:cNvSpPr txBox="1"/>
          <p:nvPr/>
        </p:nvSpPr>
        <p:spPr>
          <a:xfrm>
            <a:off x="5497373" y="4594860"/>
            <a:ext cx="3609137" cy="441655"/>
          </a:xfrm>
          <a:prstGeom prst="rect">
            <a:avLst/>
          </a:prstGeom>
          <a:noFill/>
          <a:ln/>
        </p:spPr>
        <p:txBody>
          <a:bodyPr wrap="square" lIns="0" tIns="0" rIns="0" bIns="0" rtlCol="0" anchor="ctr"/>
          <a:lstStyle/>
          <a:p>
            <a:pPr algn="ctr" indent="0" marL="0">
              <a:buNone/>
            </a:pPr>
            <a:r>
              <a:rPr lang="en-US" sz="2070" b="1" dirty="0">
                <a:solidFill>
                  <a:srgbClr val="241028"/>
                </a:solidFill>
                <a:latin typeface="Arial" pitchFamily="34" charset="0"/>
                <a:ea typeface="Arial" pitchFamily="34" charset="-122"/>
                <a:cs typeface="Arial" pitchFamily="34" charset="-120"/>
              </a:rPr>
              <a:t>capas</a:t>
            </a:r>
            <a:endParaRPr lang="en-US" sz="2070" dirty="0"/>
          </a:p>
        </p:txBody>
      </p:sp>
      <p:sp>
        <p:nvSpPr>
          <p:cNvPr id="12" name="Text 9"/>
          <p:cNvSpPr txBox="1"/>
          <p:nvPr/>
        </p:nvSpPr>
        <p:spPr>
          <a:xfrm>
            <a:off x="5686654" y="5062118"/>
            <a:ext cx="3230575" cy="694030"/>
          </a:xfrm>
          <a:prstGeom prst="rect">
            <a:avLst/>
          </a:prstGeom>
          <a:noFill/>
          <a:ln/>
        </p:spPr>
        <p:txBody>
          <a:bodyPr wrap="square" lIns="0" tIns="0" rIns="0" bIns="0" rtlCol="0" anchor="t"/>
          <a:lstStyle/>
          <a:p>
            <a:pPr algn="ctr" indent="0" marL="0">
              <a:buNone/>
            </a:pPr>
            <a:r>
              <a:rPr lang="en-US" sz="1660" dirty="0">
                <a:solidFill>
                  <a:srgbClr val="6E5C73"/>
                </a:solidFill>
                <a:latin typeface="Calibri" pitchFamily="34" charset="0"/>
                <a:ea typeface="Calibri" pitchFamily="34" charset="-122"/>
                <a:cs typeface="Calibri" pitchFamily="34" charset="-120"/>
              </a:rPr>
              <a:t>Bronze · Silver · Gold</a:t>
            </a:r>
            <a:endParaRPr lang="en-US" sz="1660" dirty="0"/>
          </a:p>
        </p:txBody>
      </p:sp>
      <p:sp>
        <p:nvSpPr>
          <p:cNvPr id="13" name="Shape 10"/>
          <p:cNvSpPr/>
          <p:nvPr/>
        </p:nvSpPr>
        <p:spPr>
          <a:xfrm>
            <a:off x="9421978" y="3206801"/>
            <a:ext cx="3609137" cy="2713025"/>
          </a:xfrm>
          <a:prstGeom prst="roundRect">
            <a:avLst>
              <a:gd name="adj" fmla="val 4651"/>
            </a:avLst>
          </a:prstGeom>
          <a:solidFill>
            <a:srgbClr val="FFFFFF"/>
          </a:solidFill>
          <a:ln w="12700">
            <a:solidFill>
              <a:srgbClr val="FFFFFF"/>
            </a:solidFill>
            <a:prstDash val="solid"/>
          </a:ln>
        </p:spPr>
      </p:sp>
      <p:sp>
        <p:nvSpPr>
          <p:cNvPr id="14" name="Text 11"/>
          <p:cNvSpPr txBox="1"/>
          <p:nvPr/>
        </p:nvSpPr>
        <p:spPr>
          <a:xfrm>
            <a:off x="9421978" y="3396082"/>
            <a:ext cx="3609137" cy="1198778"/>
          </a:xfrm>
          <a:prstGeom prst="rect">
            <a:avLst/>
          </a:prstGeom>
          <a:noFill/>
          <a:ln/>
        </p:spPr>
        <p:txBody>
          <a:bodyPr wrap="square" lIns="0" tIns="0" rIns="0" bIns="0" rtlCol="0" anchor="ctr"/>
          <a:lstStyle/>
          <a:p>
            <a:pPr algn="ctr" indent="0" marL="0">
              <a:buNone/>
            </a:pPr>
            <a:r>
              <a:rPr lang="en-US" sz="7450" b="1" dirty="0">
                <a:solidFill>
                  <a:srgbClr val="692179"/>
                </a:solidFill>
                <a:latin typeface="Arial" pitchFamily="34" charset="0"/>
                <a:ea typeface="Arial" pitchFamily="34" charset="-122"/>
                <a:cs typeface="Arial" pitchFamily="34" charset="-120"/>
              </a:rPr>
              <a:t>12</a:t>
            </a:r>
            <a:endParaRPr lang="en-US" sz="7450" dirty="0"/>
          </a:p>
        </p:txBody>
      </p:sp>
      <p:sp>
        <p:nvSpPr>
          <p:cNvPr id="15" name="Text 12"/>
          <p:cNvSpPr txBox="1"/>
          <p:nvPr/>
        </p:nvSpPr>
        <p:spPr>
          <a:xfrm>
            <a:off x="9421978" y="4594860"/>
            <a:ext cx="3609137" cy="441655"/>
          </a:xfrm>
          <a:prstGeom prst="rect">
            <a:avLst/>
          </a:prstGeom>
          <a:noFill/>
          <a:ln/>
        </p:spPr>
        <p:txBody>
          <a:bodyPr wrap="square" lIns="0" tIns="0" rIns="0" bIns="0" rtlCol="0" anchor="ctr"/>
          <a:lstStyle/>
          <a:p>
            <a:pPr algn="ctr" indent="0" marL="0">
              <a:buNone/>
            </a:pPr>
            <a:r>
              <a:rPr lang="en-US" sz="2070" b="1" dirty="0">
                <a:solidFill>
                  <a:srgbClr val="241028"/>
                </a:solidFill>
                <a:latin typeface="Arial" pitchFamily="34" charset="0"/>
                <a:ea typeface="Arial" pitchFamily="34" charset="-122"/>
                <a:cs typeface="Arial" pitchFamily="34" charset="-120"/>
              </a:rPr>
              <a:t>workspaces</a:t>
            </a:r>
            <a:endParaRPr lang="en-US" sz="2070" dirty="0"/>
          </a:p>
        </p:txBody>
      </p:sp>
      <p:sp>
        <p:nvSpPr>
          <p:cNvPr id="16" name="Text 13"/>
          <p:cNvSpPr txBox="1"/>
          <p:nvPr/>
        </p:nvSpPr>
        <p:spPr>
          <a:xfrm>
            <a:off x="9611258" y="5062118"/>
            <a:ext cx="3230575" cy="694030"/>
          </a:xfrm>
          <a:prstGeom prst="rect">
            <a:avLst/>
          </a:prstGeom>
          <a:noFill/>
          <a:ln/>
        </p:spPr>
        <p:txBody>
          <a:bodyPr wrap="square" lIns="0" tIns="0" rIns="0" bIns="0" rtlCol="0" anchor="t"/>
          <a:lstStyle/>
          <a:p>
            <a:pPr algn="ctr" indent="0" marL="0">
              <a:buNone/>
            </a:pPr>
            <a:r>
              <a:rPr lang="en-US" sz="1660" dirty="0">
                <a:solidFill>
                  <a:srgbClr val="6E5C73"/>
                </a:solidFill>
                <a:latin typeface="Calibri" pitchFamily="34" charset="0"/>
                <a:ea typeface="Calibri" pitchFamily="34" charset="-122"/>
                <a:cs typeface="Calibri" pitchFamily="34" charset="-120"/>
              </a:rPr>
              <a:t>4 × 3, y ni has empezado</a:t>
            </a:r>
            <a:endParaRPr lang="en-US" sz="1660" dirty="0"/>
          </a:p>
        </p:txBody>
      </p:sp>
      <p:sp>
        <p:nvSpPr>
          <p:cNvPr id="17" name="Shape 14"/>
          <p:cNvSpPr/>
          <p:nvPr/>
        </p:nvSpPr>
        <p:spPr>
          <a:xfrm>
            <a:off x="13345668" y="3206801"/>
            <a:ext cx="3609137" cy="2713025"/>
          </a:xfrm>
          <a:prstGeom prst="roundRect">
            <a:avLst>
              <a:gd name="adj" fmla="val 4651"/>
            </a:avLst>
          </a:prstGeom>
          <a:solidFill>
            <a:srgbClr val="FFFFFF"/>
          </a:solidFill>
          <a:ln w="12700">
            <a:solidFill>
              <a:srgbClr val="FFFFFF"/>
            </a:solidFill>
            <a:prstDash val="solid"/>
          </a:ln>
        </p:spPr>
      </p:sp>
      <p:sp>
        <p:nvSpPr>
          <p:cNvPr id="18" name="Text 15"/>
          <p:cNvSpPr txBox="1"/>
          <p:nvPr/>
        </p:nvSpPr>
        <p:spPr>
          <a:xfrm>
            <a:off x="13345668" y="3396082"/>
            <a:ext cx="3609137" cy="1198778"/>
          </a:xfrm>
          <a:prstGeom prst="rect">
            <a:avLst/>
          </a:prstGeom>
          <a:noFill/>
          <a:ln/>
        </p:spPr>
        <p:txBody>
          <a:bodyPr wrap="square" lIns="0" tIns="0" rIns="0" bIns="0" rtlCol="0" anchor="ctr"/>
          <a:lstStyle/>
          <a:p>
            <a:pPr algn="ctr" indent="0" marL="0">
              <a:buNone/>
            </a:pPr>
            <a:r>
              <a:rPr lang="en-US" sz="7450" b="1" dirty="0">
                <a:solidFill>
                  <a:srgbClr val="692179"/>
                </a:solidFill>
                <a:latin typeface="Arial" pitchFamily="34" charset="0"/>
                <a:ea typeface="Arial" pitchFamily="34" charset="-122"/>
                <a:cs typeface="Arial" pitchFamily="34" charset="-120"/>
              </a:rPr>
              <a:t>48+</a:t>
            </a:r>
            <a:endParaRPr lang="en-US" sz="7450" dirty="0"/>
          </a:p>
        </p:txBody>
      </p:sp>
      <p:sp>
        <p:nvSpPr>
          <p:cNvPr id="19" name="Text 16"/>
          <p:cNvSpPr txBox="1"/>
          <p:nvPr/>
        </p:nvSpPr>
        <p:spPr>
          <a:xfrm>
            <a:off x="13345668" y="4594860"/>
            <a:ext cx="3609137" cy="441655"/>
          </a:xfrm>
          <a:prstGeom prst="rect">
            <a:avLst/>
          </a:prstGeom>
          <a:noFill/>
          <a:ln/>
        </p:spPr>
        <p:txBody>
          <a:bodyPr wrap="square" lIns="0" tIns="0" rIns="0" bIns="0" rtlCol="0" anchor="ctr"/>
          <a:lstStyle/>
          <a:p>
            <a:pPr algn="ctr" indent="0" marL="0">
              <a:buNone/>
            </a:pPr>
            <a:r>
              <a:rPr lang="en-US" sz="2070" b="1" dirty="0">
                <a:solidFill>
                  <a:srgbClr val="241028"/>
                </a:solidFill>
                <a:latin typeface="Arial" pitchFamily="34" charset="0"/>
                <a:ea typeface="Arial" pitchFamily="34" charset="-122"/>
                <a:cs typeface="Arial" pitchFamily="34" charset="-120"/>
              </a:rPr>
              <a:t>asignaciones</a:t>
            </a:r>
            <a:endParaRPr lang="en-US" sz="2070" dirty="0"/>
          </a:p>
        </p:txBody>
      </p:sp>
      <p:sp>
        <p:nvSpPr>
          <p:cNvPr id="20" name="Text 17"/>
          <p:cNvSpPr txBox="1"/>
          <p:nvPr/>
        </p:nvSpPr>
        <p:spPr>
          <a:xfrm>
            <a:off x="13534949" y="5062118"/>
            <a:ext cx="3230575" cy="694030"/>
          </a:xfrm>
          <a:prstGeom prst="rect">
            <a:avLst/>
          </a:prstGeom>
          <a:noFill/>
          <a:ln/>
        </p:spPr>
        <p:txBody>
          <a:bodyPr wrap="square" lIns="0" tIns="0" rIns="0" bIns="0" rtlCol="0" anchor="t"/>
          <a:lstStyle/>
          <a:p>
            <a:pPr algn="ctr" indent="0" marL="0">
              <a:buNone/>
            </a:pPr>
            <a:r>
              <a:rPr lang="en-US" sz="1660" dirty="0">
                <a:solidFill>
                  <a:srgbClr val="6E5C73"/>
                </a:solidFill>
                <a:latin typeface="Calibri" pitchFamily="34" charset="0"/>
                <a:ea typeface="Calibri" pitchFamily="34" charset="-122"/>
                <a:cs typeface="Calibri" pitchFamily="34" charset="-120"/>
              </a:rPr>
              <a:t>roles y security groups</a:t>
            </a:r>
            <a:endParaRPr lang="en-US" sz="1660" dirty="0"/>
          </a:p>
        </p:txBody>
      </p:sp>
      <p:sp>
        <p:nvSpPr>
          <p:cNvPr id="21" name="Shape 18"/>
          <p:cNvSpPr/>
          <p:nvPr/>
        </p:nvSpPr>
        <p:spPr>
          <a:xfrm>
            <a:off x="1572768" y="6298387"/>
            <a:ext cx="15142464" cy="1703527"/>
          </a:xfrm>
          <a:prstGeom prst="roundRect">
            <a:avLst>
              <a:gd name="adj" fmla="val 7407"/>
            </a:avLst>
          </a:prstGeom>
          <a:solidFill>
            <a:srgbClr val="2A0E33"/>
          </a:solidFill>
          <a:ln w="12700">
            <a:solidFill>
              <a:srgbClr val="2A0E33"/>
            </a:solidFill>
            <a:prstDash val="solid"/>
          </a:ln>
        </p:spPr>
      </p:sp>
      <p:sp>
        <p:nvSpPr>
          <p:cNvPr id="22" name="Text 19"/>
          <p:cNvSpPr txBox="1"/>
          <p:nvPr/>
        </p:nvSpPr>
        <p:spPr>
          <a:xfrm>
            <a:off x="2077517" y="6487668"/>
            <a:ext cx="14132966" cy="567842"/>
          </a:xfrm>
          <a:prstGeom prst="rect">
            <a:avLst/>
          </a:prstGeom>
          <a:noFill/>
          <a:ln/>
        </p:spPr>
        <p:txBody>
          <a:bodyPr wrap="square" lIns="0" tIns="0" rIns="0" bIns="0" rtlCol="0" anchor="ctr"/>
          <a:lstStyle/>
          <a:p>
            <a:pPr indent="0" marL="0">
              <a:buNone/>
            </a:pPr>
            <a:r>
              <a:rPr lang="en-US" sz="2900" b="1" dirty="0">
                <a:solidFill>
                  <a:srgbClr val="FFFFFF"/>
                </a:solidFill>
                <a:latin typeface="Arial" pitchFamily="34" charset="0"/>
                <a:ea typeface="Arial" pitchFamily="34" charset="-122"/>
                <a:cs typeface="Arial" pitchFamily="34" charset="-120"/>
              </a:rPr>
              <a:t>Una tarde entera. Haciendo clic. Sin equivocarte ni una vez.</a:t>
            </a:r>
            <a:endParaRPr lang="en-US" sz="2900" dirty="0"/>
          </a:p>
        </p:txBody>
      </p:sp>
      <p:sp>
        <p:nvSpPr>
          <p:cNvPr id="23" name="Text 20"/>
          <p:cNvSpPr txBox="1"/>
          <p:nvPr/>
        </p:nvSpPr>
        <p:spPr>
          <a:xfrm>
            <a:off x="2077517" y="7118604"/>
            <a:ext cx="14132966" cy="567842"/>
          </a:xfrm>
          <a:prstGeom prst="rect">
            <a:avLst/>
          </a:prstGeom>
          <a:noFill/>
          <a:ln/>
        </p:spPr>
        <p:txBody>
          <a:bodyPr wrap="square" lIns="0" tIns="0" rIns="0" bIns="0" rtlCol="0" anchor="ctr"/>
          <a:lstStyle/>
          <a:p>
            <a:pPr indent="0" marL="0">
              <a:buNone/>
            </a:pPr>
            <a:r>
              <a:rPr lang="en-US" sz="2210" i="1" dirty="0">
                <a:solidFill>
                  <a:srgbClr val="F59120"/>
                </a:solidFill>
                <a:latin typeface="Calibri" pitchFamily="34" charset="0"/>
                <a:ea typeface="Calibri" pitchFamily="34" charset="-122"/>
                <a:cs typeface="Calibri" pitchFamily="34" charset="-120"/>
              </a:rPr>
              <a:t>Y te vas a equivocar. Siempre falta un rol. Siempre.</a:t>
            </a:r>
            <a:endParaRPr lang="en-US" sz="221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home/claude/bg-dark.jpg">    </p:cNvPr>
          <p:cNvPicPr>
            <a:picLocks noChangeAspect="1"/>
          </p:cNvPicPr>
          <p:nvPr/>
        </p:nvPicPr>
        <p:blipFill>
          <a:blip r:embed="rId1"/>
          <a:stretch>
            <a:fillRect/>
          </a:stretch>
        </p:blipFill>
        <p:spPr>
          <a:xfrm>
            <a:off x="0" y="0"/>
            <a:ext cx="18288000" cy="10287000"/>
          </a:xfrm>
          <a:prstGeom prst="rect">
            <a:avLst/>
          </a:prstGeom>
        </p:spPr>
      </p:pic>
      <p:sp>
        <p:nvSpPr>
          <p:cNvPr id="3" name="Shape 0"/>
          <p:cNvSpPr/>
          <p:nvPr/>
        </p:nvSpPr>
        <p:spPr>
          <a:xfrm rot="720000">
            <a:off x="11604650" y="2260397"/>
            <a:ext cx="5552237" cy="5552237"/>
          </a:xfrm>
          <a:prstGeom prst="star16">
            <a:avLst/>
          </a:prstGeom>
          <a:solidFill>
            <a:srgbClr val="F59120"/>
          </a:solidFill>
          <a:ln w="12700">
            <a:solidFill>
              <a:srgbClr val="F59120"/>
            </a:solidFill>
            <a:prstDash val="solid"/>
          </a:ln>
        </p:spPr>
      </p:sp>
      <p:sp>
        <p:nvSpPr>
          <p:cNvPr id="4" name="Text 1"/>
          <p:cNvSpPr txBox="1"/>
          <p:nvPr/>
        </p:nvSpPr>
        <p:spPr>
          <a:xfrm>
            <a:off x="11604650" y="3711550"/>
            <a:ext cx="5552237" cy="2523744"/>
          </a:xfrm>
          <a:prstGeom prst="rect">
            <a:avLst/>
          </a:prstGeom>
          <a:noFill/>
          <a:ln/>
        </p:spPr>
        <p:txBody>
          <a:bodyPr wrap="square" lIns="0" tIns="0" rIns="0" bIns="0" rtlCol="0" anchor="ctr"/>
          <a:lstStyle/>
          <a:p>
            <a:pPr algn="ctr" indent="0" marL="0">
              <a:lnSpc>
                <a:spcPct val="90000"/>
              </a:lnSpc>
              <a:buNone/>
            </a:pPr>
            <a:r>
              <a:rPr lang="en-US" sz="4140" b="1" dirty="0">
                <a:solidFill>
                  <a:srgbClr val="2A0E33"/>
                </a:solidFill>
                <a:latin typeface="Arial" pitchFamily="34" charset="0"/>
                <a:ea typeface="Arial" pitchFamily="34" charset="-122"/>
                <a:cs typeface="Arial" pitchFamily="34" charset="-120"/>
              </a:rPr>
              <a:t>¡PERO</a:t>
            </a:r>
            <a:endParaRPr lang="en-US" sz="4140" dirty="0"/>
          </a:p>
          <a:p>
            <a:pPr algn="ctr" indent="0" marL="0">
              <a:lnSpc>
                <a:spcPct val="90000"/>
              </a:lnSpc>
              <a:buNone/>
            </a:pPr>
            <a:r>
              <a:rPr lang="en-US" sz="4140" b="1" dirty="0">
                <a:solidFill>
                  <a:srgbClr val="2A0E33"/>
                </a:solidFill>
                <a:latin typeface="Arial" pitchFamily="34" charset="0"/>
                <a:ea typeface="Arial" pitchFamily="34" charset="-122"/>
                <a:cs typeface="Arial" pitchFamily="34" charset="-120"/>
              </a:rPr>
              <a:t>ESPERA!</a:t>
            </a:r>
            <a:endParaRPr lang="en-US" sz="4140" dirty="0"/>
          </a:p>
        </p:txBody>
      </p:sp>
      <p:sp>
        <p:nvSpPr>
          <p:cNvPr id="5" name="Text 2"/>
          <p:cNvSpPr txBox="1"/>
          <p:nvPr/>
        </p:nvSpPr>
        <p:spPr>
          <a:xfrm>
            <a:off x="1572768" y="2891333"/>
            <a:ext cx="9590227" cy="630936"/>
          </a:xfrm>
          <a:prstGeom prst="rect">
            <a:avLst/>
          </a:prstGeom>
          <a:noFill/>
          <a:ln/>
        </p:spPr>
        <p:txBody>
          <a:bodyPr wrap="square" lIns="0" tIns="0" rIns="0" bIns="0" rtlCol="0" anchor="ctr"/>
          <a:lstStyle/>
          <a:p>
            <a:pPr indent="0" marL="0">
              <a:buNone/>
            </a:pPr>
            <a:r>
              <a:rPr lang="en-US" sz="2210" b="1" spc="552" kern="0" dirty="0">
                <a:solidFill>
                  <a:srgbClr val="F59120"/>
                </a:solidFill>
                <a:latin typeface="Arial" pitchFamily="34" charset="0"/>
                <a:ea typeface="Arial" pitchFamily="34" charset="-122"/>
                <a:cs typeface="Arial" pitchFamily="34" charset="-120"/>
              </a:rPr>
              <a:t>AÚN HAY MÁS</a:t>
            </a:r>
            <a:endParaRPr lang="en-US" sz="2210" dirty="0"/>
          </a:p>
        </p:txBody>
      </p:sp>
      <p:sp>
        <p:nvSpPr>
          <p:cNvPr id="6" name="Text 3"/>
          <p:cNvSpPr txBox="1"/>
          <p:nvPr/>
        </p:nvSpPr>
        <p:spPr>
          <a:xfrm>
            <a:off x="1572768" y="3648456"/>
            <a:ext cx="9590227" cy="3280867"/>
          </a:xfrm>
          <a:prstGeom prst="rect">
            <a:avLst/>
          </a:prstGeom>
          <a:noFill/>
          <a:ln/>
        </p:spPr>
        <p:txBody>
          <a:bodyPr wrap="square" lIns="0" tIns="0" rIns="0" bIns="0" rtlCol="0" anchor="t"/>
          <a:lstStyle/>
          <a:p>
            <a:pPr indent="0" marL="0">
              <a:lnSpc>
                <a:spcPct val="98000"/>
              </a:lnSpc>
              <a:buNone/>
            </a:pPr>
            <a:r>
              <a:rPr lang="en-US" sz="6350" b="1" dirty="0">
                <a:solidFill>
                  <a:srgbClr val="FFFFFF"/>
                </a:solidFill>
                <a:latin typeface="Arial" pitchFamily="34" charset="0"/>
                <a:ea typeface="Arial" pitchFamily="34" charset="-122"/>
                <a:cs typeface="Arial" pitchFamily="34" charset="-120"/>
              </a:rPr>
              <a:t>Ahora repítelo</a:t>
            </a:r>
            <a:endParaRPr lang="en-US" sz="6350" dirty="0"/>
          </a:p>
          <a:p>
            <a:pPr indent="0" marL="0">
              <a:lnSpc>
                <a:spcPct val="98000"/>
              </a:lnSpc>
              <a:buNone/>
            </a:pPr>
            <a:r>
              <a:rPr lang="en-US" sz="6350" b="1" dirty="0">
                <a:solidFill>
                  <a:srgbClr val="FFFFFF"/>
                </a:solidFill>
                <a:latin typeface="Arial" pitchFamily="34" charset="0"/>
                <a:ea typeface="Arial" pitchFamily="34" charset="-122"/>
                <a:cs typeface="Arial" pitchFamily="34" charset="-120"/>
              </a:rPr>
              <a:t>para el siguiente</a:t>
            </a:r>
            <a:endParaRPr lang="en-US" sz="6350" dirty="0"/>
          </a:p>
          <a:p>
            <a:pPr indent="0" marL="0">
              <a:lnSpc>
                <a:spcPct val="98000"/>
              </a:lnSpc>
              <a:buNone/>
            </a:pPr>
            <a:r>
              <a:rPr lang="en-US" sz="6350" b="1" dirty="0">
                <a:solidFill>
                  <a:srgbClr val="FFFFFF"/>
                </a:solidFill>
                <a:latin typeface="Arial" pitchFamily="34" charset="0"/>
                <a:ea typeface="Arial" pitchFamily="34" charset="-122"/>
                <a:cs typeface="Arial" pitchFamily="34" charset="-120"/>
              </a:rPr>
              <a:t>cliente.</a:t>
            </a:r>
            <a:endParaRPr lang="en-US" sz="6350" dirty="0"/>
          </a:p>
        </p:txBody>
      </p:sp>
      <p:sp>
        <p:nvSpPr>
          <p:cNvPr id="7" name="Text 4"/>
          <p:cNvSpPr txBox="1"/>
          <p:nvPr/>
        </p:nvSpPr>
        <p:spPr>
          <a:xfrm>
            <a:off x="1572768" y="7181698"/>
            <a:ext cx="9590227" cy="630936"/>
          </a:xfrm>
          <a:prstGeom prst="rect">
            <a:avLst/>
          </a:prstGeom>
          <a:noFill/>
          <a:ln/>
        </p:spPr>
        <p:txBody>
          <a:bodyPr wrap="square" lIns="0" tIns="0" rIns="0" bIns="0" rtlCol="0" anchor="ctr"/>
          <a:lstStyle/>
          <a:p>
            <a:pPr indent="0" marL="0">
              <a:buNone/>
            </a:pPr>
            <a:r>
              <a:rPr lang="en-US" sz="2480" i="1" dirty="0">
                <a:solidFill>
                  <a:srgbClr val="FFFFFF"/>
                </a:solidFill>
                <a:latin typeface="Calibri" pitchFamily="34" charset="0"/>
                <a:ea typeface="Calibri" pitchFamily="34" charset="-122"/>
                <a:cs typeface="Calibri" pitchFamily="34" charset="-120"/>
              </a:rPr>
              <a:t>Desde cero. Otra tarde. Otro Word.</a:t>
            </a:r>
            <a:endParaRPr lang="en-US" sz="248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home/claude/bg-white.jpg">    </p:cNvPr>
          <p:cNvPicPr>
            <a:picLocks noChangeAspect="1"/>
          </p:cNvPicPr>
          <p:nvPr/>
        </p:nvPicPr>
        <p:blipFill>
          <a:blip r:embed="rId1"/>
          <a:stretch>
            <a:fillRect/>
          </a:stretch>
        </p:blipFill>
        <p:spPr>
          <a:xfrm>
            <a:off x="0" y="0"/>
            <a:ext cx="18288000" cy="10287000"/>
          </a:xfrm>
          <a:prstGeom prst="rect">
            <a:avLst/>
          </a:prstGeom>
        </p:spPr>
      </p:pic>
      <p:sp>
        <p:nvSpPr>
          <p:cNvPr id="3" name="Text 0"/>
          <p:cNvSpPr txBox="1"/>
          <p:nvPr/>
        </p:nvSpPr>
        <p:spPr>
          <a:xfrm>
            <a:off x="1572768" y="1024128"/>
            <a:ext cx="15142464" cy="404165"/>
          </a:xfrm>
          <a:prstGeom prst="rect">
            <a:avLst/>
          </a:prstGeom>
          <a:noFill/>
          <a:ln/>
        </p:spPr>
        <p:txBody>
          <a:bodyPr wrap="square" lIns="0" tIns="0" rIns="0" bIns="0" rtlCol="0" anchor="ctr"/>
          <a:lstStyle/>
          <a:p>
            <a:pPr indent="0" marL="0">
              <a:buNone/>
            </a:pPr>
            <a:r>
              <a:rPr lang="en-US" sz="1660" b="1" spc="345" kern="0" dirty="0">
                <a:solidFill>
                  <a:srgbClr val="692179"/>
                </a:solidFill>
                <a:latin typeface="Calibri" pitchFamily="34" charset="0"/>
                <a:ea typeface="Calibri" pitchFamily="34" charset="-122"/>
                <a:cs typeface="Calibri" pitchFamily="34" charset="-120"/>
              </a:rPr>
              <a:t>HOLA</a:t>
            </a:r>
            <a:endParaRPr lang="en-US" sz="1660" dirty="0"/>
          </a:p>
        </p:txBody>
      </p:sp>
      <p:sp>
        <p:nvSpPr>
          <p:cNvPr id="4" name="Text 1"/>
          <p:cNvSpPr txBox="1"/>
          <p:nvPr/>
        </p:nvSpPr>
        <p:spPr>
          <a:xfrm>
            <a:off x="1572768" y="1440180"/>
            <a:ext cx="15142464" cy="1072591"/>
          </a:xfrm>
          <a:prstGeom prst="rect">
            <a:avLst/>
          </a:prstGeom>
          <a:noFill/>
          <a:ln/>
        </p:spPr>
        <p:txBody>
          <a:bodyPr wrap="square" lIns="0" tIns="0" rIns="0" bIns="0" rtlCol="0" anchor="ctr"/>
          <a:lstStyle/>
          <a:p>
            <a:pPr algn="l" indent="0" marL="0">
              <a:buNone/>
            </a:pPr>
            <a:r>
              <a:rPr lang="en-US" sz="4690" b="1" dirty="0">
                <a:solidFill>
                  <a:srgbClr val="241028"/>
                </a:solidFill>
                <a:latin typeface="Arial" pitchFamily="34" charset="0"/>
                <a:ea typeface="Arial" pitchFamily="34" charset="-122"/>
                <a:cs typeface="Arial" pitchFamily="34" charset="-120"/>
              </a:rPr>
              <a:t>Una de datos y uno de infra</a:t>
            </a:r>
            <a:endParaRPr lang="en-US" sz="4690" dirty="0"/>
          </a:p>
        </p:txBody>
      </p:sp>
      <p:sp>
        <p:nvSpPr>
          <p:cNvPr id="5" name="Shape 2"/>
          <p:cNvSpPr/>
          <p:nvPr/>
        </p:nvSpPr>
        <p:spPr>
          <a:xfrm>
            <a:off x="1572768" y="3143707"/>
            <a:ext cx="7381951" cy="4921301"/>
          </a:xfrm>
          <a:prstGeom prst="roundRect">
            <a:avLst>
              <a:gd name="adj" fmla="val 2564"/>
            </a:avLst>
          </a:prstGeom>
          <a:solidFill>
            <a:srgbClr val="F5ECF7"/>
          </a:solidFill>
          <a:ln w="12700">
            <a:solidFill>
              <a:srgbClr val="F5ECF7"/>
            </a:solidFill>
            <a:prstDash val="solid"/>
          </a:ln>
        </p:spPr>
      </p:sp>
      <p:sp>
        <p:nvSpPr>
          <p:cNvPr id="6" name="Shape 3"/>
          <p:cNvSpPr/>
          <p:nvPr/>
        </p:nvSpPr>
        <p:spPr>
          <a:xfrm>
            <a:off x="2014423" y="3522269"/>
            <a:ext cx="1577340" cy="1577340"/>
          </a:xfrm>
          <a:prstGeom prst="roundRect">
            <a:avLst>
              <a:gd name="adj" fmla="val 8000"/>
            </a:avLst>
          </a:prstGeom>
          <a:solidFill>
            <a:srgbClr val="FFFFFF"/>
          </a:solidFill>
          <a:ln w="26289">
            <a:solidFill>
              <a:srgbClr val="692179"/>
            </a:solidFill>
            <a:prstDash val="solid"/>
          </a:ln>
        </p:spPr>
      </p:sp>
      <p:sp>
        <p:nvSpPr>
          <p:cNvPr id="7" name="Text 4"/>
          <p:cNvSpPr txBox="1"/>
          <p:nvPr/>
        </p:nvSpPr>
        <p:spPr>
          <a:xfrm>
            <a:off x="2014423" y="3522269"/>
            <a:ext cx="1577340" cy="1577340"/>
          </a:xfrm>
          <a:prstGeom prst="rect">
            <a:avLst/>
          </a:prstGeom>
          <a:noFill/>
          <a:ln/>
        </p:spPr>
        <p:txBody>
          <a:bodyPr wrap="square" lIns="0" tIns="0" rIns="0" bIns="0" rtlCol="0" anchor="ctr"/>
          <a:lstStyle/>
          <a:p>
            <a:pPr algn="ctr" indent="0" marL="0">
              <a:buNone/>
            </a:pPr>
            <a:r>
              <a:rPr lang="en-US" sz="1520" i="1" dirty="0">
                <a:solidFill>
                  <a:srgbClr val="6E5C73"/>
                </a:solidFill>
                <a:latin typeface="Calibri" pitchFamily="34" charset="0"/>
                <a:ea typeface="Calibri" pitchFamily="34" charset="-122"/>
                <a:cs typeface="Calibri" pitchFamily="34" charset="-120"/>
              </a:rPr>
              <a:t>[ foto ]</a:t>
            </a:r>
            <a:endParaRPr lang="en-US" sz="1520" dirty="0"/>
          </a:p>
        </p:txBody>
      </p:sp>
      <p:sp>
        <p:nvSpPr>
          <p:cNvPr id="8" name="Text 5"/>
          <p:cNvSpPr txBox="1"/>
          <p:nvPr/>
        </p:nvSpPr>
        <p:spPr>
          <a:xfrm>
            <a:off x="3844138" y="3711550"/>
            <a:ext cx="4668926" cy="630936"/>
          </a:xfrm>
          <a:prstGeom prst="rect">
            <a:avLst/>
          </a:prstGeom>
          <a:noFill/>
          <a:ln/>
        </p:spPr>
        <p:txBody>
          <a:bodyPr wrap="square" lIns="0" tIns="0" rIns="0" bIns="0" rtlCol="0" anchor="ctr"/>
          <a:lstStyle/>
          <a:p>
            <a:pPr indent="0" marL="0">
              <a:buNone/>
            </a:pPr>
            <a:r>
              <a:rPr lang="en-US" sz="2760" b="1" dirty="0">
                <a:solidFill>
                  <a:srgbClr val="241028"/>
                </a:solidFill>
                <a:latin typeface="Arial" pitchFamily="34" charset="0"/>
                <a:ea typeface="Arial" pitchFamily="34" charset="-122"/>
                <a:cs typeface="Arial" pitchFamily="34" charset="-120"/>
              </a:rPr>
              <a:t>Mar Lizana Atienza</a:t>
            </a:r>
            <a:endParaRPr lang="en-US" sz="2760" dirty="0"/>
          </a:p>
        </p:txBody>
      </p:sp>
      <p:sp>
        <p:nvSpPr>
          <p:cNvPr id="9" name="Text 6"/>
          <p:cNvSpPr txBox="1"/>
          <p:nvPr/>
        </p:nvSpPr>
        <p:spPr>
          <a:xfrm>
            <a:off x="3844138" y="4342486"/>
            <a:ext cx="4668926" cy="567842"/>
          </a:xfrm>
          <a:prstGeom prst="rect">
            <a:avLst/>
          </a:prstGeom>
          <a:noFill/>
          <a:ln/>
        </p:spPr>
        <p:txBody>
          <a:bodyPr wrap="square" lIns="0" tIns="0" rIns="0" bIns="0" rtlCol="0" anchor="ctr"/>
          <a:lstStyle/>
          <a:p>
            <a:pPr indent="0" marL="0">
              <a:buNone/>
            </a:pPr>
            <a:r>
              <a:rPr lang="en-US" sz="1930" b="1" dirty="0">
                <a:solidFill>
                  <a:srgbClr val="692179"/>
                </a:solidFill>
                <a:latin typeface="Calibri" pitchFamily="34" charset="0"/>
                <a:ea typeface="Calibri" pitchFamily="34" charset="-122"/>
                <a:cs typeface="Calibri" pitchFamily="34" charset="-120"/>
              </a:rPr>
              <a:t>Data Squad Lead @ ENCAMINA</a:t>
            </a:r>
            <a:endParaRPr lang="en-US" sz="1930" dirty="0"/>
          </a:p>
        </p:txBody>
      </p:sp>
      <p:sp>
        <p:nvSpPr>
          <p:cNvPr id="10" name="Text 7"/>
          <p:cNvSpPr txBox="1"/>
          <p:nvPr/>
        </p:nvSpPr>
        <p:spPr>
          <a:xfrm>
            <a:off x="2014423" y="5415077"/>
            <a:ext cx="6498641" cy="2460650"/>
          </a:xfrm>
          <a:prstGeom prst="rect">
            <a:avLst/>
          </a:prstGeom>
          <a:noFill/>
          <a:ln/>
        </p:spPr>
        <p:txBody>
          <a:bodyPr wrap="square" lIns="0" tIns="0" rIns="0" bIns="0" rtlCol="0" anchor="t"/>
          <a:lstStyle/>
          <a:p>
            <a:pPr marL="342900" indent="-342900">
              <a:lnSpc>
                <a:spcPct val="110000"/>
              </a:lnSpc>
              <a:spcAft>
                <a:spcPts val="1200"/>
              </a:spcAft>
              <a:buSzPct val="100000"/>
              <a:buChar char="•"/>
            </a:pPr>
            <a:r>
              <a:rPr lang="en-US" sz="1930" dirty="0">
                <a:solidFill>
                  <a:srgbClr val="6E5C73"/>
                </a:solidFill>
                <a:latin typeface="Calibri" pitchFamily="34" charset="0"/>
                <a:ea typeface="Calibri" pitchFamily="34" charset="-122"/>
                <a:cs typeface="Calibri" pitchFamily="34" charset="-120"/>
              </a:rPr>
              <a:t>Diseño plataformas de datos sobre Microsoft Fabric</a:t>
            </a:r>
            <a:endParaRPr lang="en-US" sz="1930" dirty="0"/>
          </a:p>
          <a:p>
            <a:pPr marL="342900" indent="-342900">
              <a:lnSpc>
                <a:spcPct val="110000"/>
              </a:lnSpc>
              <a:spcAft>
                <a:spcPts val="1200"/>
              </a:spcAft>
              <a:buSzPct val="100000"/>
              <a:buChar char="•"/>
            </a:pPr>
            <a:r>
              <a:rPr lang="en-US" sz="1930" dirty="0">
                <a:solidFill>
                  <a:srgbClr val="6E5C73"/>
                </a:solidFill>
                <a:latin typeface="Calibri" pitchFamily="34" charset="0"/>
                <a:ea typeface="Calibri" pitchFamily="34" charset="-122"/>
                <a:cs typeface="Calibri" pitchFamily="34" charset="-120"/>
              </a:rPr>
              <a:t>Microsoft MVP en Microsoft Fabric y Azure DevOps</a:t>
            </a:r>
            <a:endParaRPr lang="en-US" sz="1930" dirty="0"/>
          </a:p>
          <a:p>
            <a:pPr marL="342900" indent="-342900">
              <a:lnSpc>
                <a:spcPct val="110000"/>
              </a:lnSpc>
              <a:spcAft>
                <a:spcPts val="1200"/>
              </a:spcAft>
              <a:buSzPct val="100000"/>
              <a:buChar char="•"/>
            </a:pPr>
            <a:r>
              <a:rPr lang="en-US" sz="1930" dirty="0">
                <a:solidFill>
                  <a:srgbClr val="6E5C73"/>
                </a:solidFill>
                <a:latin typeface="Calibri" pitchFamily="34" charset="0"/>
                <a:ea typeface="Calibri" pitchFamily="34" charset="-122"/>
                <a:cs typeface="Calibri" pitchFamily="34" charset="-120"/>
              </a:rPr>
              <a:t>Cofundadora de Women in Fabric y del Power BI &amp; Fabric User Group Barcelona</a:t>
            </a:r>
            <a:endParaRPr lang="en-US" sz="1930" dirty="0"/>
          </a:p>
          <a:p>
            <a:pPr marL="342900" indent="-342900">
              <a:lnSpc>
                <a:spcPct val="110000"/>
              </a:lnSpc>
              <a:spcAft>
                <a:spcPts val="1200"/>
              </a:spcAft>
              <a:buSzPct val="100000"/>
              <a:buChar char="•"/>
            </a:pPr>
            <a:r>
              <a:rPr lang="en-US" sz="1930" dirty="0">
                <a:solidFill>
                  <a:srgbClr val="6E5C73"/>
                </a:solidFill>
                <a:latin typeface="Calibri" pitchFamily="34" charset="0"/>
                <a:ea typeface="Calibri" pitchFamily="34" charset="-122"/>
                <a:cs typeface="Calibri" pitchFamily="34" charset="-120"/>
              </a:rPr>
              <a:t>Escribo en medium.com/@akanemar</a:t>
            </a:r>
            <a:endParaRPr lang="en-US" sz="1930" dirty="0"/>
          </a:p>
        </p:txBody>
      </p:sp>
      <p:sp>
        <p:nvSpPr>
          <p:cNvPr id="11" name="Shape 8"/>
          <p:cNvSpPr/>
          <p:nvPr/>
        </p:nvSpPr>
        <p:spPr>
          <a:xfrm>
            <a:off x="9396374" y="3143707"/>
            <a:ext cx="7318858" cy="4921301"/>
          </a:xfrm>
          <a:prstGeom prst="roundRect">
            <a:avLst>
              <a:gd name="adj" fmla="val 2564"/>
            </a:avLst>
          </a:prstGeom>
          <a:solidFill>
            <a:srgbClr val="F5ECF7"/>
          </a:solidFill>
          <a:ln w="12700">
            <a:solidFill>
              <a:srgbClr val="F5ECF7"/>
            </a:solidFill>
            <a:prstDash val="solid"/>
          </a:ln>
        </p:spPr>
      </p:sp>
      <p:sp>
        <p:nvSpPr>
          <p:cNvPr id="12" name="Shape 9"/>
          <p:cNvSpPr/>
          <p:nvPr/>
        </p:nvSpPr>
        <p:spPr>
          <a:xfrm>
            <a:off x="9838030" y="3522269"/>
            <a:ext cx="1577340" cy="1577340"/>
          </a:xfrm>
          <a:prstGeom prst="roundRect">
            <a:avLst>
              <a:gd name="adj" fmla="val 8000"/>
            </a:avLst>
          </a:prstGeom>
          <a:solidFill>
            <a:srgbClr val="FFFFFF"/>
          </a:solidFill>
          <a:ln w="26289">
            <a:solidFill>
              <a:srgbClr val="F59120"/>
            </a:solidFill>
            <a:prstDash val="solid"/>
          </a:ln>
        </p:spPr>
      </p:sp>
      <p:sp>
        <p:nvSpPr>
          <p:cNvPr id="13" name="Text 10"/>
          <p:cNvSpPr txBox="1"/>
          <p:nvPr/>
        </p:nvSpPr>
        <p:spPr>
          <a:xfrm>
            <a:off x="9838030" y="3522269"/>
            <a:ext cx="1577340" cy="1577340"/>
          </a:xfrm>
          <a:prstGeom prst="rect">
            <a:avLst/>
          </a:prstGeom>
          <a:noFill/>
          <a:ln/>
        </p:spPr>
        <p:txBody>
          <a:bodyPr wrap="square" lIns="0" tIns="0" rIns="0" bIns="0" rtlCol="0" anchor="ctr"/>
          <a:lstStyle/>
          <a:p>
            <a:pPr algn="ctr" indent="0" marL="0">
              <a:buNone/>
            </a:pPr>
            <a:r>
              <a:rPr lang="en-US" sz="1520" i="1" dirty="0">
                <a:solidFill>
                  <a:srgbClr val="6E5C73"/>
                </a:solidFill>
                <a:latin typeface="Calibri" pitchFamily="34" charset="0"/>
                <a:ea typeface="Calibri" pitchFamily="34" charset="-122"/>
                <a:cs typeface="Calibri" pitchFamily="34" charset="-120"/>
              </a:rPr>
              <a:t>[ foto ]</a:t>
            </a:r>
            <a:endParaRPr lang="en-US" sz="1520" dirty="0"/>
          </a:p>
        </p:txBody>
      </p:sp>
      <p:sp>
        <p:nvSpPr>
          <p:cNvPr id="14" name="Text 11"/>
          <p:cNvSpPr txBox="1"/>
          <p:nvPr/>
        </p:nvSpPr>
        <p:spPr>
          <a:xfrm>
            <a:off x="11667744" y="3711550"/>
            <a:ext cx="4605833" cy="630936"/>
          </a:xfrm>
          <a:prstGeom prst="rect">
            <a:avLst/>
          </a:prstGeom>
          <a:noFill/>
          <a:ln/>
        </p:spPr>
        <p:txBody>
          <a:bodyPr wrap="square" lIns="0" tIns="0" rIns="0" bIns="0" rtlCol="0" anchor="ctr"/>
          <a:lstStyle/>
          <a:p>
            <a:pPr indent="0" marL="0">
              <a:buNone/>
            </a:pPr>
            <a:r>
              <a:rPr lang="en-US" sz="2760" b="1" dirty="0">
                <a:solidFill>
                  <a:srgbClr val="241028"/>
                </a:solidFill>
                <a:latin typeface="Arial" pitchFamily="34" charset="0"/>
                <a:ea typeface="Arial" pitchFamily="34" charset="-122"/>
                <a:cs typeface="Arial" pitchFamily="34" charset="-120"/>
              </a:rPr>
              <a:t>Alfonso Ming</a:t>
            </a:r>
            <a:endParaRPr lang="en-US" sz="2760" dirty="0"/>
          </a:p>
        </p:txBody>
      </p:sp>
      <p:sp>
        <p:nvSpPr>
          <p:cNvPr id="15" name="Text 12"/>
          <p:cNvSpPr txBox="1"/>
          <p:nvPr/>
        </p:nvSpPr>
        <p:spPr>
          <a:xfrm>
            <a:off x="11667744" y="4342486"/>
            <a:ext cx="4605833" cy="567842"/>
          </a:xfrm>
          <a:prstGeom prst="rect">
            <a:avLst/>
          </a:prstGeom>
          <a:noFill/>
          <a:ln/>
        </p:spPr>
        <p:txBody>
          <a:bodyPr wrap="square" lIns="0" tIns="0" rIns="0" bIns="0" rtlCol="0" anchor="ctr"/>
          <a:lstStyle/>
          <a:p>
            <a:pPr indent="0" marL="0">
              <a:buNone/>
            </a:pPr>
            <a:r>
              <a:rPr lang="en-US" sz="1930" b="1" dirty="0">
                <a:solidFill>
                  <a:srgbClr val="F59120"/>
                </a:solidFill>
                <a:latin typeface="Calibri" pitchFamily="34" charset="0"/>
                <a:ea typeface="Calibri" pitchFamily="34" charset="-122"/>
                <a:cs typeface="Calibri" pitchFamily="34" charset="-120"/>
              </a:rPr>
              <a:t>Site Reliability Engineer @ SCRM</a:t>
            </a:r>
            <a:endParaRPr lang="en-US" sz="1930" dirty="0"/>
          </a:p>
        </p:txBody>
      </p:sp>
      <p:sp>
        <p:nvSpPr>
          <p:cNvPr id="16" name="Text 13"/>
          <p:cNvSpPr txBox="1"/>
          <p:nvPr/>
        </p:nvSpPr>
        <p:spPr>
          <a:xfrm>
            <a:off x="9838030" y="5415077"/>
            <a:ext cx="6435547" cy="2460650"/>
          </a:xfrm>
          <a:prstGeom prst="rect">
            <a:avLst/>
          </a:prstGeom>
          <a:noFill/>
          <a:ln/>
        </p:spPr>
        <p:txBody>
          <a:bodyPr wrap="square" lIns="0" tIns="0" rIns="0" bIns="0" rtlCol="0" anchor="t"/>
          <a:lstStyle/>
          <a:p>
            <a:pPr marL="342900" indent="-342900">
              <a:lnSpc>
                <a:spcPct val="110000"/>
              </a:lnSpc>
              <a:spcAft>
                <a:spcPts val="1200"/>
              </a:spcAft>
              <a:buSzPct val="100000"/>
              <a:buChar char="•"/>
            </a:pPr>
            <a:r>
              <a:rPr lang="en-US" sz="1930" dirty="0">
                <a:solidFill>
                  <a:srgbClr val="6E5C73"/>
                </a:solidFill>
                <a:latin typeface="Calibri" pitchFamily="34" charset="0"/>
                <a:ea typeface="Calibri" pitchFamily="34" charset="-122"/>
                <a:cs typeface="Calibri" pitchFamily="34" charset="-120"/>
              </a:rPr>
              <a:t>[ Alfonso: dos o tres líneas tuyas aquí ]</a:t>
            </a:r>
            <a:endParaRPr lang="en-US" sz="1930" dirty="0"/>
          </a:p>
        </p:txBody>
      </p:sp>
      <p:sp>
        <p:nvSpPr>
          <p:cNvPr id="17" name="Shape 14"/>
          <p:cNvSpPr/>
          <p:nvPr/>
        </p:nvSpPr>
        <p:spPr>
          <a:xfrm>
            <a:off x="1572768" y="8380476"/>
            <a:ext cx="15142464" cy="1198778"/>
          </a:xfrm>
          <a:prstGeom prst="roundRect">
            <a:avLst>
              <a:gd name="adj" fmla="val 10526"/>
            </a:avLst>
          </a:prstGeom>
          <a:solidFill>
            <a:srgbClr val="2A0E33"/>
          </a:solidFill>
          <a:ln w="12700">
            <a:solidFill>
              <a:srgbClr val="2A0E33"/>
            </a:solidFill>
            <a:prstDash val="solid"/>
          </a:ln>
        </p:spPr>
      </p:sp>
      <p:sp>
        <p:nvSpPr>
          <p:cNvPr id="18" name="Text 15"/>
          <p:cNvSpPr txBox="1"/>
          <p:nvPr/>
        </p:nvSpPr>
        <p:spPr>
          <a:xfrm>
            <a:off x="2077517" y="8380476"/>
            <a:ext cx="14132966" cy="1198778"/>
          </a:xfrm>
          <a:prstGeom prst="rect">
            <a:avLst/>
          </a:prstGeom>
          <a:noFill/>
          <a:ln/>
        </p:spPr>
        <p:txBody>
          <a:bodyPr wrap="square" lIns="0" tIns="0" rIns="0" bIns="0" rtlCol="0" anchor="ctr"/>
          <a:lstStyle/>
          <a:p>
            <a:pPr indent="0" marL="0">
              <a:buNone/>
            </a:pPr>
            <a:r>
              <a:rPr lang="en-US" sz="2350" b="1" dirty="0">
                <a:solidFill>
                  <a:srgbClr val="FFFFFF"/>
                </a:solidFill>
                <a:latin typeface="Arial" pitchFamily="34" charset="0"/>
                <a:ea typeface="Arial" pitchFamily="34" charset="-122"/>
                <a:cs typeface="Arial" pitchFamily="34" charset="-120"/>
              </a:rPr>
              <a:t>Justo las dos mitades de esta charla: quien sufre los workspaces y quien lleva años automatizando infraestructura.</a:t>
            </a:r>
            <a:endParaRPr lang="en-US" sz="23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pic>
        <p:nvPicPr>
          <p:cNvPr id="2" name="Image 0" descr="/home/claude/bg-white.jpg">    </p:cNvPr>
          <p:cNvPicPr>
            <a:picLocks noChangeAspect="1"/>
          </p:cNvPicPr>
          <p:nvPr/>
        </p:nvPicPr>
        <p:blipFill>
          <a:blip r:embed="rId1"/>
          <a:stretch>
            <a:fillRect/>
          </a:stretch>
        </p:blipFill>
        <p:spPr>
          <a:xfrm>
            <a:off x="0" y="0"/>
            <a:ext cx="18288000" cy="10287000"/>
          </a:xfrm>
          <a:prstGeom prst="rect">
            <a:avLst/>
          </a:prstGeom>
        </p:spPr>
      </p:pic>
      <p:sp>
        <p:nvSpPr>
          <p:cNvPr id="3" name="Text 0"/>
          <p:cNvSpPr txBox="1"/>
          <p:nvPr/>
        </p:nvSpPr>
        <p:spPr>
          <a:xfrm>
            <a:off x="1572768" y="1024128"/>
            <a:ext cx="15142464" cy="404165"/>
          </a:xfrm>
          <a:prstGeom prst="rect">
            <a:avLst/>
          </a:prstGeom>
          <a:noFill/>
          <a:ln/>
        </p:spPr>
        <p:txBody>
          <a:bodyPr wrap="square" lIns="0" tIns="0" rIns="0" bIns="0" rtlCol="0" anchor="ctr"/>
          <a:lstStyle/>
          <a:p>
            <a:pPr indent="0" marL="0">
              <a:buNone/>
            </a:pPr>
            <a:r>
              <a:rPr lang="en-US" sz="1660" b="1" spc="345" kern="0" dirty="0">
                <a:solidFill>
                  <a:srgbClr val="692179"/>
                </a:solidFill>
                <a:latin typeface="Calibri" pitchFamily="34" charset="0"/>
                <a:ea typeface="Calibri" pitchFamily="34" charset="-122"/>
                <a:cs typeface="Calibri" pitchFamily="34" charset="-120"/>
              </a:rPr>
              <a:t>HOJA DE RUTA</a:t>
            </a:r>
            <a:endParaRPr lang="en-US" sz="1660" dirty="0"/>
          </a:p>
        </p:txBody>
      </p:sp>
      <p:sp>
        <p:nvSpPr>
          <p:cNvPr id="4" name="Text 1"/>
          <p:cNvSpPr txBox="1"/>
          <p:nvPr/>
        </p:nvSpPr>
        <p:spPr>
          <a:xfrm>
            <a:off x="1572768" y="1440180"/>
            <a:ext cx="15142464" cy="1072591"/>
          </a:xfrm>
          <a:prstGeom prst="rect">
            <a:avLst/>
          </a:prstGeom>
          <a:noFill/>
          <a:ln/>
        </p:spPr>
        <p:txBody>
          <a:bodyPr wrap="square" lIns="0" tIns="0" rIns="0" bIns="0" rtlCol="0" anchor="ctr"/>
          <a:lstStyle/>
          <a:p>
            <a:pPr algn="l" indent="0" marL="0">
              <a:buNone/>
            </a:pPr>
            <a:r>
              <a:rPr lang="en-US" sz="4690" b="1" dirty="0">
                <a:solidFill>
                  <a:srgbClr val="241028"/>
                </a:solidFill>
                <a:latin typeface="Arial" pitchFamily="34" charset="0"/>
                <a:ea typeface="Arial" pitchFamily="34" charset="-122"/>
                <a:cs typeface="Arial" pitchFamily="34" charset="-120"/>
              </a:rPr>
              <a:t>Qué vamos a ver</a:t>
            </a:r>
            <a:endParaRPr lang="en-US" sz="4690" dirty="0"/>
          </a:p>
        </p:txBody>
      </p:sp>
      <p:sp>
        <p:nvSpPr>
          <p:cNvPr id="5" name="Shape 2"/>
          <p:cNvSpPr/>
          <p:nvPr/>
        </p:nvSpPr>
        <p:spPr>
          <a:xfrm>
            <a:off x="1572768" y="3143707"/>
            <a:ext cx="15142464" cy="1110082"/>
          </a:xfrm>
          <a:prstGeom prst="roundRect">
            <a:avLst>
              <a:gd name="adj" fmla="val 11367"/>
            </a:avLst>
          </a:prstGeom>
          <a:solidFill>
            <a:srgbClr val="FFFFFF"/>
          </a:solidFill>
          <a:ln w="12700">
            <a:solidFill>
              <a:srgbClr val="FFFFFF"/>
            </a:solidFill>
            <a:prstDash val="solid"/>
          </a:ln>
        </p:spPr>
      </p:sp>
      <p:sp>
        <p:nvSpPr>
          <p:cNvPr id="6" name="Shape 3"/>
          <p:cNvSpPr/>
          <p:nvPr/>
        </p:nvSpPr>
        <p:spPr>
          <a:xfrm>
            <a:off x="1951330" y="3384194"/>
            <a:ext cx="630936" cy="630936"/>
          </a:xfrm>
          <a:prstGeom prst="ellipse">
            <a:avLst/>
          </a:prstGeom>
          <a:solidFill>
            <a:srgbClr val="692179"/>
          </a:solidFill>
          <a:ln w="12700">
            <a:solidFill>
              <a:srgbClr val="692179"/>
            </a:solidFill>
            <a:prstDash val="solid"/>
          </a:ln>
        </p:spPr>
      </p:sp>
      <p:sp>
        <p:nvSpPr>
          <p:cNvPr id="7" name="Text 4"/>
          <p:cNvSpPr txBox="1"/>
          <p:nvPr/>
        </p:nvSpPr>
        <p:spPr>
          <a:xfrm>
            <a:off x="1951330" y="3384194"/>
            <a:ext cx="630936" cy="630936"/>
          </a:xfrm>
          <a:prstGeom prst="rect">
            <a:avLst/>
          </a:prstGeom>
          <a:noFill/>
          <a:ln/>
        </p:spPr>
        <p:txBody>
          <a:bodyPr wrap="square" lIns="0" tIns="0" rIns="0" bIns="0" rtlCol="0" anchor="ctr"/>
          <a:lstStyle/>
          <a:p>
            <a:pPr algn="ctr" indent="0" marL="0">
              <a:buNone/>
            </a:pPr>
            <a:r>
              <a:rPr lang="en-US" sz="2210" b="1" dirty="0">
                <a:solidFill>
                  <a:srgbClr val="FFFFFF"/>
                </a:solidFill>
                <a:latin typeface="Arial" pitchFamily="34" charset="0"/>
                <a:ea typeface="Arial" pitchFamily="34" charset="-122"/>
                <a:cs typeface="Arial" pitchFamily="34" charset="-120"/>
              </a:rPr>
              <a:t>1</a:t>
            </a:r>
            <a:endParaRPr lang="en-US" sz="2210" dirty="0"/>
          </a:p>
        </p:txBody>
      </p:sp>
      <p:sp>
        <p:nvSpPr>
          <p:cNvPr id="8" name="Text 5"/>
          <p:cNvSpPr txBox="1"/>
          <p:nvPr/>
        </p:nvSpPr>
        <p:spPr>
          <a:xfrm>
            <a:off x="2834640" y="3269894"/>
            <a:ext cx="13375843" cy="441655"/>
          </a:xfrm>
          <a:prstGeom prst="rect">
            <a:avLst/>
          </a:prstGeom>
          <a:noFill/>
          <a:ln/>
        </p:spPr>
        <p:txBody>
          <a:bodyPr wrap="square" lIns="0" tIns="0" rIns="0" bIns="0" rtlCol="0" anchor="ctr"/>
          <a:lstStyle/>
          <a:p>
            <a:pPr indent="0" marL="0">
              <a:buNone/>
            </a:pPr>
            <a:r>
              <a:rPr lang="en-US" sz="2350" b="1" dirty="0">
                <a:solidFill>
                  <a:srgbClr val="241028"/>
                </a:solidFill>
                <a:latin typeface="Arial" pitchFamily="34" charset="0"/>
                <a:ea typeface="Arial" pitchFamily="34" charset="-122"/>
                <a:cs typeface="Arial" pitchFamily="34" charset="-120"/>
              </a:rPr>
              <a:t>¿Qué es Infrastructure as Code?</a:t>
            </a:r>
            <a:endParaRPr lang="en-US" sz="2350" dirty="0"/>
          </a:p>
        </p:txBody>
      </p:sp>
      <p:sp>
        <p:nvSpPr>
          <p:cNvPr id="9" name="Text 6"/>
          <p:cNvSpPr txBox="1"/>
          <p:nvPr/>
        </p:nvSpPr>
        <p:spPr>
          <a:xfrm>
            <a:off x="2834640" y="3711550"/>
            <a:ext cx="13375843" cy="404165"/>
          </a:xfrm>
          <a:prstGeom prst="rect">
            <a:avLst/>
          </a:prstGeom>
          <a:noFill/>
          <a:ln/>
        </p:spPr>
        <p:txBody>
          <a:bodyPr wrap="square" lIns="0" tIns="0" rIns="0" bIns="0" rtlCol="0" anchor="ctr"/>
          <a:lstStyle/>
          <a:p>
            <a:pPr indent="0" marL="0">
              <a:buNone/>
            </a:pPr>
            <a:r>
              <a:rPr lang="en-US" sz="1790" dirty="0">
                <a:solidFill>
                  <a:srgbClr val="6E5C73"/>
                </a:solidFill>
                <a:latin typeface="Calibri" pitchFamily="34" charset="0"/>
                <a:ea typeface="Calibri" pitchFamily="34" charset="-122"/>
                <a:cs typeface="Calibri" pitchFamily="34" charset="-120"/>
              </a:rPr>
              <a:t>Y por qué tú ya lo estás haciendo sin saberlo</a:t>
            </a:r>
            <a:endParaRPr lang="en-US" sz="1790" dirty="0"/>
          </a:p>
        </p:txBody>
      </p:sp>
      <p:sp>
        <p:nvSpPr>
          <p:cNvPr id="10" name="Shape 7"/>
          <p:cNvSpPr/>
          <p:nvPr/>
        </p:nvSpPr>
        <p:spPr>
          <a:xfrm>
            <a:off x="1572768" y="4431182"/>
            <a:ext cx="15142464" cy="1110082"/>
          </a:xfrm>
          <a:prstGeom prst="roundRect">
            <a:avLst>
              <a:gd name="adj" fmla="val 11367"/>
            </a:avLst>
          </a:prstGeom>
          <a:solidFill>
            <a:srgbClr val="FFFFFF"/>
          </a:solidFill>
          <a:ln w="12700">
            <a:solidFill>
              <a:srgbClr val="FFFFFF"/>
            </a:solidFill>
            <a:prstDash val="solid"/>
          </a:ln>
        </p:spPr>
      </p:sp>
      <p:sp>
        <p:nvSpPr>
          <p:cNvPr id="11" name="Shape 8"/>
          <p:cNvSpPr/>
          <p:nvPr/>
        </p:nvSpPr>
        <p:spPr>
          <a:xfrm>
            <a:off x="1951330" y="4670755"/>
            <a:ext cx="630936" cy="630936"/>
          </a:xfrm>
          <a:prstGeom prst="ellipse">
            <a:avLst/>
          </a:prstGeom>
          <a:solidFill>
            <a:srgbClr val="692179"/>
          </a:solidFill>
          <a:ln w="12700">
            <a:solidFill>
              <a:srgbClr val="692179"/>
            </a:solidFill>
            <a:prstDash val="solid"/>
          </a:ln>
        </p:spPr>
      </p:sp>
      <p:sp>
        <p:nvSpPr>
          <p:cNvPr id="12" name="Text 9"/>
          <p:cNvSpPr txBox="1"/>
          <p:nvPr/>
        </p:nvSpPr>
        <p:spPr>
          <a:xfrm>
            <a:off x="1951330" y="4670755"/>
            <a:ext cx="630936" cy="630936"/>
          </a:xfrm>
          <a:prstGeom prst="rect">
            <a:avLst/>
          </a:prstGeom>
          <a:noFill/>
          <a:ln/>
        </p:spPr>
        <p:txBody>
          <a:bodyPr wrap="square" lIns="0" tIns="0" rIns="0" bIns="0" rtlCol="0" anchor="ctr"/>
          <a:lstStyle/>
          <a:p>
            <a:pPr algn="ctr" indent="0" marL="0">
              <a:buNone/>
            </a:pPr>
            <a:r>
              <a:rPr lang="en-US" sz="2210" b="1" dirty="0">
                <a:solidFill>
                  <a:srgbClr val="FFFFFF"/>
                </a:solidFill>
                <a:latin typeface="Arial" pitchFamily="34" charset="0"/>
                <a:ea typeface="Arial" pitchFamily="34" charset="-122"/>
                <a:cs typeface="Arial" pitchFamily="34" charset="-120"/>
              </a:rPr>
              <a:t>2</a:t>
            </a:r>
            <a:endParaRPr lang="en-US" sz="2210" dirty="0"/>
          </a:p>
        </p:txBody>
      </p:sp>
      <p:sp>
        <p:nvSpPr>
          <p:cNvPr id="13" name="Text 10"/>
          <p:cNvSpPr txBox="1"/>
          <p:nvPr/>
        </p:nvSpPr>
        <p:spPr>
          <a:xfrm>
            <a:off x="2834640" y="4557370"/>
            <a:ext cx="13375843" cy="441655"/>
          </a:xfrm>
          <a:prstGeom prst="rect">
            <a:avLst/>
          </a:prstGeom>
          <a:noFill/>
          <a:ln/>
        </p:spPr>
        <p:txBody>
          <a:bodyPr wrap="square" lIns="0" tIns="0" rIns="0" bIns="0" rtlCol="0" anchor="ctr"/>
          <a:lstStyle/>
          <a:p>
            <a:pPr indent="0" marL="0">
              <a:buNone/>
            </a:pPr>
            <a:r>
              <a:rPr lang="en-US" sz="2350" b="1" dirty="0">
                <a:solidFill>
                  <a:srgbClr val="241028"/>
                </a:solidFill>
                <a:latin typeface="Arial" pitchFamily="34" charset="0"/>
                <a:ea typeface="Arial" pitchFamily="34" charset="-122"/>
                <a:cs typeface="Arial" pitchFamily="34" charset="-120"/>
              </a:rPr>
              <a:t>¿Qué es Terraform?</a:t>
            </a:r>
            <a:endParaRPr lang="en-US" sz="2350" dirty="0"/>
          </a:p>
        </p:txBody>
      </p:sp>
      <p:sp>
        <p:nvSpPr>
          <p:cNvPr id="14" name="Text 11"/>
          <p:cNvSpPr txBox="1"/>
          <p:nvPr/>
        </p:nvSpPr>
        <p:spPr>
          <a:xfrm>
            <a:off x="2834640" y="4999025"/>
            <a:ext cx="13375843" cy="404165"/>
          </a:xfrm>
          <a:prstGeom prst="rect">
            <a:avLst/>
          </a:prstGeom>
          <a:noFill/>
          <a:ln/>
        </p:spPr>
        <p:txBody>
          <a:bodyPr wrap="square" lIns="0" tIns="0" rIns="0" bIns="0" rtlCol="0" anchor="ctr"/>
          <a:lstStyle/>
          <a:p>
            <a:pPr indent="0" marL="0">
              <a:buNone/>
            </a:pPr>
            <a:r>
              <a:rPr lang="en-US" sz="1790" dirty="0">
                <a:solidFill>
                  <a:srgbClr val="6E5C73"/>
                </a:solidFill>
                <a:latin typeface="Calibri" pitchFamily="34" charset="0"/>
                <a:ea typeface="Calibri" pitchFamily="34" charset="-122"/>
                <a:cs typeface="Calibri" pitchFamily="34" charset="-120"/>
              </a:rPr>
              <a:t>Tres piezas: una CLI, un lenguaje y unos providers</a:t>
            </a:r>
            <a:endParaRPr lang="en-US" sz="1790" dirty="0"/>
          </a:p>
        </p:txBody>
      </p:sp>
      <p:sp>
        <p:nvSpPr>
          <p:cNvPr id="15" name="Shape 12"/>
          <p:cNvSpPr/>
          <p:nvPr/>
        </p:nvSpPr>
        <p:spPr>
          <a:xfrm>
            <a:off x="1572768" y="5718658"/>
            <a:ext cx="15142464" cy="1110082"/>
          </a:xfrm>
          <a:prstGeom prst="roundRect">
            <a:avLst>
              <a:gd name="adj" fmla="val 11367"/>
            </a:avLst>
          </a:prstGeom>
          <a:solidFill>
            <a:srgbClr val="FFFFFF"/>
          </a:solidFill>
          <a:ln w="12700">
            <a:solidFill>
              <a:srgbClr val="FFFFFF"/>
            </a:solidFill>
            <a:prstDash val="solid"/>
          </a:ln>
        </p:spPr>
      </p:sp>
      <p:sp>
        <p:nvSpPr>
          <p:cNvPr id="16" name="Shape 13"/>
          <p:cNvSpPr/>
          <p:nvPr/>
        </p:nvSpPr>
        <p:spPr>
          <a:xfrm>
            <a:off x="1951330" y="5958230"/>
            <a:ext cx="630936" cy="630936"/>
          </a:xfrm>
          <a:prstGeom prst="ellipse">
            <a:avLst/>
          </a:prstGeom>
          <a:solidFill>
            <a:srgbClr val="692179"/>
          </a:solidFill>
          <a:ln w="12700">
            <a:solidFill>
              <a:srgbClr val="692179"/>
            </a:solidFill>
            <a:prstDash val="solid"/>
          </a:ln>
        </p:spPr>
      </p:sp>
      <p:sp>
        <p:nvSpPr>
          <p:cNvPr id="17" name="Text 14"/>
          <p:cNvSpPr txBox="1"/>
          <p:nvPr/>
        </p:nvSpPr>
        <p:spPr>
          <a:xfrm>
            <a:off x="1951330" y="5958230"/>
            <a:ext cx="630936" cy="630936"/>
          </a:xfrm>
          <a:prstGeom prst="rect">
            <a:avLst/>
          </a:prstGeom>
          <a:noFill/>
          <a:ln/>
        </p:spPr>
        <p:txBody>
          <a:bodyPr wrap="square" lIns="0" tIns="0" rIns="0" bIns="0" rtlCol="0" anchor="ctr"/>
          <a:lstStyle/>
          <a:p>
            <a:pPr algn="ctr" indent="0" marL="0">
              <a:buNone/>
            </a:pPr>
            <a:r>
              <a:rPr lang="en-US" sz="2210" b="1" dirty="0">
                <a:solidFill>
                  <a:srgbClr val="FFFFFF"/>
                </a:solidFill>
                <a:latin typeface="Arial" pitchFamily="34" charset="0"/>
                <a:ea typeface="Arial" pitchFamily="34" charset="-122"/>
                <a:cs typeface="Arial" pitchFamily="34" charset="-120"/>
              </a:rPr>
              <a:t>3</a:t>
            </a:r>
            <a:endParaRPr lang="en-US" sz="2210" dirty="0"/>
          </a:p>
        </p:txBody>
      </p:sp>
      <p:sp>
        <p:nvSpPr>
          <p:cNvPr id="18" name="Text 15"/>
          <p:cNvSpPr txBox="1"/>
          <p:nvPr/>
        </p:nvSpPr>
        <p:spPr>
          <a:xfrm>
            <a:off x="2834640" y="5844845"/>
            <a:ext cx="13375843" cy="441655"/>
          </a:xfrm>
          <a:prstGeom prst="rect">
            <a:avLst/>
          </a:prstGeom>
          <a:noFill/>
          <a:ln/>
        </p:spPr>
        <p:txBody>
          <a:bodyPr wrap="square" lIns="0" tIns="0" rIns="0" bIns="0" rtlCol="0" anchor="ctr"/>
          <a:lstStyle/>
          <a:p>
            <a:pPr indent="0" marL="0">
              <a:buNone/>
            </a:pPr>
            <a:r>
              <a:rPr lang="en-US" sz="2350" b="1" dirty="0">
                <a:solidFill>
                  <a:srgbClr val="241028"/>
                </a:solidFill>
                <a:latin typeface="Arial" pitchFamily="34" charset="0"/>
                <a:ea typeface="Arial" pitchFamily="34" charset="-122"/>
                <a:cs typeface="Arial" pitchFamily="34" charset="-120"/>
              </a:rPr>
              <a:t>¿Cómo funciona Terraform?</a:t>
            </a:r>
            <a:endParaRPr lang="en-US" sz="2350" dirty="0"/>
          </a:p>
        </p:txBody>
      </p:sp>
      <p:sp>
        <p:nvSpPr>
          <p:cNvPr id="19" name="Text 16"/>
          <p:cNvSpPr txBox="1"/>
          <p:nvPr/>
        </p:nvSpPr>
        <p:spPr>
          <a:xfrm>
            <a:off x="2834640" y="6286500"/>
            <a:ext cx="13375843" cy="404165"/>
          </a:xfrm>
          <a:prstGeom prst="rect">
            <a:avLst/>
          </a:prstGeom>
          <a:noFill/>
          <a:ln/>
        </p:spPr>
        <p:txBody>
          <a:bodyPr wrap="square" lIns="0" tIns="0" rIns="0" bIns="0" rtlCol="0" anchor="ctr"/>
          <a:lstStyle/>
          <a:p>
            <a:pPr indent="0" marL="0">
              <a:buNone/>
            </a:pPr>
            <a:r>
              <a:rPr lang="en-US" sz="1790" dirty="0">
                <a:solidFill>
                  <a:srgbClr val="6E5C73"/>
                </a:solidFill>
                <a:latin typeface="Calibri" pitchFamily="34" charset="0"/>
                <a:ea typeface="Calibri" pitchFamily="34" charset="-122"/>
                <a:cs typeface="Calibri" pitchFamily="34" charset="-120"/>
              </a:rPr>
              <a:t>El estado, el plan, el apply y por qué puedes dormir tranquila</a:t>
            </a:r>
            <a:endParaRPr lang="en-US" sz="1790" dirty="0"/>
          </a:p>
        </p:txBody>
      </p:sp>
      <p:sp>
        <p:nvSpPr>
          <p:cNvPr id="20" name="Shape 17"/>
          <p:cNvSpPr/>
          <p:nvPr/>
        </p:nvSpPr>
        <p:spPr>
          <a:xfrm>
            <a:off x="1572768" y="7005218"/>
            <a:ext cx="15142464" cy="1110082"/>
          </a:xfrm>
          <a:prstGeom prst="roundRect">
            <a:avLst>
              <a:gd name="adj" fmla="val 11367"/>
            </a:avLst>
          </a:prstGeom>
          <a:solidFill>
            <a:srgbClr val="FFFFFF"/>
          </a:solidFill>
          <a:ln w="12700">
            <a:solidFill>
              <a:srgbClr val="FFFFFF"/>
            </a:solidFill>
            <a:prstDash val="solid"/>
          </a:ln>
        </p:spPr>
      </p:sp>
      <p:sp>
        <p:nvSpPr>
          <p:cNvPr id="21" name="Shape 18"/>
          <p:cNvSpPr/>
          <p:nvPr/>
        </p:nvSpPr>
        <p:spPr>
          <a:xfrm>
            <a:off x="1951330" y="7244791"/>
            <a:ext cx="630936" cy="630936"/>
          </a:xfrm>
          <a:prstGeom prst="ellipse">
            <a:avLst/>
          </a:prstGeom>
          <a:solidFill>
            <a:srgbClr val="692179"/>
          </a:solidFill>
          <a:ln w="12700">
            <a:solidFill>
              <a:srgbClr val="692179"/>
            </a:solidFill>
            <a:prstDash val="solid"/>
          </a:ln>
        </p:spPr>
      </p:sp>
      <p:sp>
        <p:nvSpPr>
          <p:cNvPr id="22" name="Text 19"/>
          <p:cNvSpPr txBox="1"/>
          <p:nvPr/>
        </p:nvSpPr>
        <p:spPr>
          <a:xfrm>
            <a:off x="1951330" y="7244791"/>
            <a:ext cx="630936" cy="630936"/>
          </a:xfrm>
          <a:prstGeom prst="rect">
            <a:avLst/>
          </a:prstGeom>
          <a:noFill/>
          <a:ln/>
        </p:spPr>
        <p:txBody>
          <a:bodyPr wrap="square" lIns="0" tIns="0" rIns="0" bIns="0" rtlCol="0" anchor="ctr"/>
          <a:lstStyle/>
          <a:p>
            <a:pPr algn="ctr" indent="0" marL="0">
              <a:buNone/>
            </a:pPr>
            <a:r>
              <a:rPr lang="en-US" sz="2210" b="1" dirty="0">
                <a:solidFill>
                  <a:srgbClr val="FFFFFF"/>
                </a:solidFill>
                <a:latin typeface="Arial" pitchFamily="34" charset="0"/>
                <a:ea typeface="Arial" pitchFamily="34" charset="-122"/>
                <a:cs typeface="Arial" pitchFamily="34" charset="-120"/>
              </a:rPr>
              <a:t>4</a:t>
            </a:r>
            <a:endParaRPr lang="en-US" sz="2210" dirty="0"/>
          </a:p>
        </p:txBody>
      </p:sp>
      <p:sp>
        <p:nvSpPr>
          <p:cNvPr id="23" name="Text 20"/>
          <p:cNvSpPr txBox="1"/>
          <p:nvPr/>
        </p:nvSpPr>
        <p:spPr>
          <a:xfrm>
            <a:off x="2834640" y="7131406"/>
            <a:ext cx="13375843" cy="441655"/>
          </a:xfrm>
          <a:prstGeom prst="rect">
            <a:avLst/>
          </a:prstGeom>
          <a:noFill/>
          <a:ln/>
        </p:spPr>
        <p:txBody>
          <a:bodyPr wrap="square" lIns="0" tIns="0" rIns="0" bIns="0" rtlCol="0" anchor="ctr"/>
          <a:lstStyle/>
          <a:p>
            <a:pPr indent="0" marL="0">
              <a:buNone/>
            </a:pPr>
            <a:r>
              <a:rPr lang="en-US" sz="2350" b="1" dirty="0">
                <a:solidFill>
                  <a:srgbClr val="241028"/>
                </a:solidFill>
                <a:latin typeface="Arial" pitchFamily="34" charset="0"/>
                <a:ea typeface="Arial" pitchFamily="34" charset="-122"/>
                <a:cs typeface="Arial" pitchFamily="34" charset="-120"/>
              </a:rPr>
              <a:t>Terraform + Fabric, en la práctica</a:t>
            </a:r>
            <a:endParaRPr lang="en-US" sz="2350" dirty="0"/>
          </a:p>
        </p:txBody>
      </p:sp>
      <p:sp>
        <p:nvSpPr>
          <p:cNvPr id="24" name="Text 21"/>
          <p:cNvSpPr txBox="1"/>
          <p:nvPr/>
        </p:nvSpPr>
        <p:spPr>
          <a:xfrm>
            <a:off x="2834640" y="7573061"/>
            <a:ext cx="13375843" cy="404165"/>
          </a:xfrm>
          <a:prstGeom prst="rect">
            <a:avLst/>
          </a:prstGeom>
          <a:noFill/>
          <a:ln/>
        </p:spPr>
        <p:txBody>
          <a:bodyPr wrap="square" lIns="0" tIns="0" rIns="0" bIns="0" rtlCol="0" anchor="ctr"/>
          <a:lstStyle/>
          <a:p>
            <a:pPr indent="0" marL="0">
              <a:buNone/>
            </a:pPr>
            <a:r>
              <a:rPr lang="en-US" sz="1790" dirty="0">
                <a:solidFill>
                  <a:srgbClr val="6E5C73"/>
                </a:solidFill>
                <a:latin typeface="Calibri" pitchFamily="34" charset="0"/>
                <a:ea typeface="Calibri" pitchFamily="34" charset="-122"/>
                <a:cs typeface="Calibri" pitchFamily="34" charset="-120"/>
              </a:rPr>
              <a:t>Demo y un template que te llevas puesto</a:t>
            </a:r>
            <a:endParaRPr lang="en-US" sz="1790" dirty="0"/>
          </a:p>
        </p:txBody>
      </p:sp>
      <p:sp>
        <p:nvSpPr>
          <p:cNvPr id="25" name="Text 22"/>
          <p:cNvSpPr txBox="1"/>
          <p:nvPr/>
        </p:nvSpPr>
        <p:spPr>
          <a:xfrm>
            <a:off x="1572768" y="8443570"/>
            <a:ext cx="15142464" cy="630936"/>
          </a:xfrm>
          <a:prstGeom prst="rect">
            <a:avLst/>
          </a:prstGeom>
          <a:noFill/>
          <a:ln/>
        </p:spPr>
        <p:txBody>
          <a:bodyPr wrap="square" lIns="0" tIns="0" rIns="0" bIns="0" rtlCol="0" anchor="ctr"/>
          <a:lstStyle/>
          <a:p>
            <a:pPr indent="0" marL="0">
              <a:buNone/>
            </a:pPr>
            <a:r>
              <a:rPr lang="en-US" sz="2070" i="1" dirty="0">
                <a:solidFill>
                  <a:srgbClr val="692179"/>
                </a:solidFill>
                <a:latin typeface="Calibri" pitchFamily="34" charset="0"/>
                <a:ea typeface="Calibri" pitchFamily="34" charset="-122"/>
                <a:cs typeface="Calibri" pitchFamily="34" charset="-120"/>
              </a:rPr>
              <a:t>Al final te llevas un template .tf reutilizable y la satisfacción de no volver a hacer clic en New Workspace.</a:t>
            </a:r>
            <a:endParaRPr lang="en-US" sz="207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pic>
        <p:nvPicPr>
          <p:cNvPr id="2" name="Image 0" descr="/home/claude/bg-dark.jpg">    </p:cNvPr>
          <p:cNvPicPr>
            <a:picLocks noChangeAspect="1"/>
          </p:cNvPicPr>
          <p:nvPr/>
        </p:nvPicPr>
        <p:blipFill>
          <a:blip r:embed="rId1"/>
          <a:stretch>
            <a:fillRect/>
          </a:stretch>
        </p:blipFill>
        <p:spPr>
          <a:xfrm>
            <a:off x="0" y="0"/>
            <a:ext cx="18288000" cy="10287000"/>
          </a:xfrm>
          <a:prstGeom prst="rect">
            <a:avLst/>
          </a:prstGeom>
        </p:spPr>
      </p:pic>
      <p:sp>
        <p:nvSpPr>
          <p:cNvPr id="3" name="Text 0"/>
          <p:cNvSpPr txBox="1"/>
          <p:nvPr/>
        </p:nvSpPr>
        <p:spPr>
          <a:xfrm>
            <a:off x="1572768" y="3017520"/>
            <a:ext cx="15142464" cy="757123"/>
          </a:xfrm>
          <a:prstGeom prst="rect">
            <a:avLst/>
          </a:prstGeom>
          <a:noFill/>
          <a:ln/>
        </p:spPr>
        <p:txBody>
          <a:bodyPr wrap="square" lIns="0" tIns="0" rIns="0" bIns="0" rtlCol="0" anchor="ctr"/>
          <a:lstStyle/>
          <a:p>
            <a:pPr indent="0" marL="0">
              <a:buNone/>
            </a:pPr>
            <a:r>
              <a:rPr lang="en-US" sz="3040" dirty="0">
                <a:solidFill>
                  <a:srgbClr val="C77BD6"/>
                </a:solidFill>
                <a:latin typeface="Calibri" pitchFamily="34" charset="0"/>
                <a:ea typeface="Calibri" pitchFamily="34" charset="-122"/>
                <a:cs typeface="Calibri" pitchFamily="34" charset="-120"/>
              </a:rPr>
              <a:t>Requisitos previos de esta sesión:</a:t>
            </a:r>
            <a:endParaRPr lang="en-US" sz="3040" dirty="0"/>
          </a:p>
        </p:txBody>
      </p:sp>
      <p:sp>
        <p:nvSpPr>
          <p:cNvPr id="4" name="Text 1"/>
          <p:cNvSpPr txBox="1"/>
          <p:nvPr/>
        </p:nvSpPr>
        <p:spPr>
          <a:xfrm>
            <a:off x="1572768" y="3900830"/>
            <a:ext cx="15142464" cy="1766621"/>
          </a:xfrm>
          <a:prstGeom prst="rect">
            <a:avLst/>
          </a:prstGeom>
          <a:noFill/>
          <a:ln/>
        </p:spPr>
        <p:txBody>
          <a:bodyPr wrap="square" lIns="0" tIns="0" rIns="0" bIns="0" rtlCol="0" anchor="ctr"/>
          <a:lstStyle/>
          <a:p>
            <a:pPr indent="0" marL="0">
              <a:buNone/>
            </a:pPr>
            <a:r>
              <a:rPr lang="en-US" sz="11320" b="1" dirty="0">
                <a:solidFill>
                  <a:srgbClr val="F59120"/>
                </a:solidFill>
                <a:latin typeface="Arial" pitchFamily="34" charset="0"/>
                <a:ea typeface="Arial" pitchFamily="34" charset="-122"/>
                <a:cs typeface="Arial" pitchFamily="34" charset="-120"/>
              </a:rPr>
              <a:t>Ninguno.</a:t>
            </a:r>
            <a:endParaRPr lang="en-US" sz="11320" dirty="0"/>
          </a:p>
        </p:txBody>
      </p:sp>
      <p:sp>
        <p:nvSpPr>
          <p:cNvPr id="5" name="Text 2"/>
          <p:cNvSpPr txBox="1"/>
          <p:nvPr/>
        </p:nvSpPr>
        <p:spPr>
          <a:xfrm>
            <a:off x="1572768" y="5856732"/>
            <a:ext cx="14511528" cy="1198778"/>
          </a:xfrm>
          <a:prstGeom prst="rect">
            <a:avLst/>
          </a:prstGeom>
          <a:noFill/>
          <a:ln/>
        </p:spPr>
        <p:txBody>
          <a:bodyPr wrap="square" lIns="0" tIns="0" rIns="0" bIns="0" rtlCol="0" anchor="t"/>
          <a:lstStyle/>
          <a:p>
            <a:pPr indent="0" marL="0">
              <a:lnSpc>
                <a:spcPct val="115000"/>
              </a:lnSpc>
              <a:buNone/>
            </a:pPr>
            <a:r>
              <a:rPr lang="en-US" sz="2480" dirty="0">
                <a:solidFill>
                  <a:srgbClr val="FFFFFF"/>
                </a:solidFill>
                <a:latin typeface="Calibri" pitchFamily="34" charset="0"/>
                <a:ea typeface="Calibri" pitchFamily="34" charset="-122"/>
                <a:cs typeface="Calibri" pitchFamily="34" charset="-120"/>
              </a:rPr>
              <a:t>No vas a necesitar saber de redes, ni de contenedores, ni de Kubernetes,</a:t>
            </a:r>
            <a:endParaRPr lang="en-US" sz="2480" dirty="0"/>
          </a:p>
          <a:p>
            <a:pPr indent="0" marL="0">
              <a:lnSpc>
                <a:spcPct val="115000"/>
              </a:lnSpc>
              <a:buNone/>
            </a:pPr>
            <a:r>
              <a:rPr lang="en-US" sz="2480" dirty="0">
                <a:solidFill>
                  <a:srgbClr val="FFFFFF"/>
                </a:solidFill>
                <a:latin typeface="Calibri" pitchFamily="34" charset="0"/>
                <a:ea typeface="Calibri" pitchFamily="34" charset="-122"/>
                <a:cs typeface="Calibri" pitchFamily="34" charset="-120"/>
              </a:rPr>
              <a:t>ni nada que suene a "infra".</a:t>
            </a:r>
            <a:endParaRPr lang="en-US" sz="2480" dirty="0"/>
          </a:p>
        </p:txBody>
      </p:sp>
      <p:sp>
        <p:nvSpPr>
          <p:cNvPr id="6" name="Shape 3"/>
          <p:cNvSpPr/>
          <p:nvPr/>
        </p:nvSpPr>
        <p:spPr>
          <a:xfrm>
            <a:off x="1572768" y="7307885"/>
            <a:ext cx="15142464" cy="1261872"/>
          </a:xfrm>
          <a:prstGeom prst="roundRect">
            <a:avLst>
              <a:gd name="adj" fmla="val 10000"/>
            </a:avLst>
          </a:prstGeom>
          <a:solidFill>
            <a:srgbClr val="692179"/>
          </a:solidFill>
          <a:ln w="12700">
            <a:solidFill>
              <a:srgbClr val="692179"/>
            </a:solidFill>
            <a:prstDash val="solid"/>
          </a:ln>
        </p:spPr>
      </p:sp>
      <p:sp>
        <p:nvSpPr>
          <p:cNvPr id="7" name="Text 4"/>
          <p:cNvSpPr txBox="1"/>
          <p:nvPr/>
        </p:nvSpPr>
        <p:spPr>
          <a:xfrm>
            <a:off x="2077517" y="7307885"/>
            <a:ext cx="14132966" cy="1261872"/>
          </a:xfrm>
          <a:prstGeom prst="rect">
            <a:avLst/>
          </a:prstGeom>
          <a:noFill/>
          <a:ln/>
        </p:spPr>
        <p:txBody>
          <a:bodyPr wrap="square" lIns="0" tIns="0" rIns="0" bIns="0" rtlCol="0" anchor="ctr"/>
          <a:lstStyle/>
          <a:p>
            <a:pPr indent="0" marL="0">
              <a:buNone/>
            </a:pPr>
            <a:r>
              <a:rPr lang="en-US" sz="2760" b="1" dirty="0">
                <a:solidFill>
                  <a:srgbClr val="FFFFFF"/>
                </a:solidFill>
                <a:latin typeface="Arial" pitchFamily="34" charset="0"/>
                <a:ea typeface="Arial" pitchFamily="34" charset="-122"/>
                <a:cs typeface="Arial" pitchFamily="34" charset="-120"/>
              </a:rPr>
              <a:t>Si alguna vez has escrito un CREATE TABLE, ya sabes más de IaC de lo que crees.</a:t>
            </a:r>
            <a:endParaRPr lang="en-US" sz="276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home/claude/bg-dark.jpg">    </p:cNvPr>
          <p:cNvPicPr>
            <a:picLocks noChangeAspect="1"/>
          </p:cNvPicPr>
          <p:nvPr/>
        </p:nvPicPr>
        <p:blipFill>
          <a:blip r:embed="rId1"/>
          <a:stretch>
            <a:fillRect/>
          </a:stretch>
        </p:blipFill>
        <p:spPr>
          <a:xfrm>
            <a:off x="0" y="0"/>
            <a:ext cx="18288000" cy="10287000"/>
          </a:xfrm>
          <a:prstGeom prst="rect">
            <a:avLst/>
          </a:prstGeom>
        </p:spPr>
      </p:pic>
      <p:sp>
        <p:nvSpPr>
          <p:cNvPr id="3" name="Text 0"/>
          <p:cNvSpPr txBox="1"/>
          <p:nvPr/>
        </p:nvSpPr>
        <p:spPr>
          <a:xfrm>
            <a:off x="1572768" y="3459175"/>
            <a:ext cx="4037990" cy="2523744"/>
          </a:xfrm>
          <a:prstGeom prst="rect">
            <a:avLst/>
          </a:prstGeom>
          <a:noFill/>
          <a:ln/>
        </p:spPr>
        <p:txBody>
          <a:bodyPr wrap="square" lIns="0" tIns="0" rIns="0" bIns="0" rtlCol="0" anchor="ctr"/>
          <a:lstStyle/>
          <a:p>
            <a:pPr algn="l" indent="0" marL="0">
              <a:buNone/>
            </a:pPr>
            <a:r>
              <a:rPr lang="en-US" sz="14350" b="1" dirty="0">
                <a:solidFill>
                  <a:srgbClr val="F59120"/>
                </a:solidFill>
                <a:latin typeface="Arial" pitchFamily="34" charset="0"/>
                <a:ea typeface="Arial" pitchFamily="34" charset="-122"/>
                <a:cs typeface="Arial" pitchFamily="34" charset="-120"/>
              </a:rPr>
              <a:t>01</a:t>
            </a:r>
            <a:endParaRPr lang="en-US" sz="14350" dirty="0"/>
          </a:p>
        </p:txBody>
      </p:sp>
      <p:sp>
        <p:nvSpPr>
          <p:cNvPr id="4" name="Text 1"/>
          <p:cNvSpPr txBox="1"/>
          <p:nvPr/>
        </p:nvSpPr>
        <p:spPr>
          <a:xfrm>
            <a:off x="5169103" y="3837737"/>
            <a:ext cx="11230661" cy="1261872"/>
          </a:xfrm>
          <a:prstGeom prst="rect">
            <a:avLst/>
          </a:prstGeom>
          <a:noFill/>
          <a:ln/>
        </p:spPr>
        <p:txBody>
          <a:bodyPr wrap="square" lIns="0" tIns="0" rIns="0" bIns="0" rtlCol="0" anchor="ctr"/>
          <a:lstStyle/>
          <a:p>
            <a:pPr algn="l" indent="0" marL="0">
              <a:buNone/>
            </a:pPr>
            <a:r>
              <a:rPr lang="en-US" sz="5240" b="1" dirty="0">
                <a:solidFill>
                  <a:srgbClr val="FFFFFF"/>
                </a:solidFill>
                <a:latin typeface="Arial" pitchFamily="34" charset="0"/>
                <a:ea typeface="Arial" pitchFamily="34" charset="-122"/>
                <a:cs typeface="Arial" pitchFamily="34" charset="-120"/>
              </a:rPr>
              <a:t>¿Qué es Infrastructure as Code?</a:t>
            </a:r>
            <a:endParaRPr lang="en-US" sz="5240" dirty="0"/>
          </a:p>
        </p:txBody>
      </p:sp>
      <p:sp>
        <p:nvSpPr>
          <p:cNvPr id="5" name="Text 2"/>
          <p:cNvSpPr txBox="1"/>
          <p:nvPr/>
        </p:nvSpPr>
        <p:spPr>
          <a:xfrm>
            <a:off x="5232197" y="5225796"/>
            <a:ext cx="11230661" cy="757123"/>
          </a:xfrm>
          <a:prstGeom prst="rect">
            <a:avLst/>
          </a:prstGeom>
          <a:noFill/>
          <a:ln/>
        </p:spPr>
        <p:txBody>
          <a:bodyPr wrap="square" lIns="0" tIns="0" rIns="0" bIns="0" rtlCol="0" anchor="t"/>
          <a:lstStyle/>
          <a:p>
            <a:pPr algn="l" indent="0" marL="0">
              <a:buNone/>
            </a:pPr>
            <a:r>
              <a:rPr lang="en-US" sz="2350" i="1" dirty="0">
                <a:solidFill>
                  <a:srgbClr val="FFFFFF"/>
                </a:solidFill>
                <a:latin typeface="Calibri" pitchFamily="34" charset="0"/>
                <a:ea typeface="Calibri" pitchFamily="34" charset="-122"/>
                <a:cs typeface="Calibri" pitchFamily="34" charset="-120"/>
              </a:rPr>
              <a:t>Spoiler: tú ya lo haces. Solo que no con los workspaces.</a:t>
            </a:r>
            <a:endParaRPr lang="en-US" sz="23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home/claude/bg-white.jpg">    </p:cNvPr>
          <p:cNvPicPr>
            <a:picLocks noChangeAspect="1"/>
          </p:cNvPicPr>
          <p:nvPr/>
        </p:nvPicPr>
        <p:blipFill>
          <a:blip r:embed="rId1"/>
          <a:stretch>
            <a:fillRect/>
          </a:stretch>
        </p:blipFill>
        <p:spPr>
          <a:xfrm>
            <a:off x="0" y="0"/>
            <a:ext cx="18288000" cy="10287000"/>
          </a:xfrm>
          <a:prstGeom prst="rect">
            <a:avLst/>
          </a:prstGeom>
        </p:spPr>
      </p:pic>
      <p:sp>
        <p:nvSpPr>
          <p:cNvPr id="3" name="Text 0"/>
          <p:cNvSpPr txBox="1"/>
          <p:nvPr/>
        </p:nvSpPr>
        <p:spPr>
          <a:xfrm>
            <a:off x="1572768" y="1024128"/>
            <a:ext cx="15142464" cy="404165"/>
          </a:xfrm>
          <a:prstGeom prst="rect">
            <a:avLst/>
          </a:prstGeom>
          <a:noFill/>
          <a:ln/>
        </p:spPr>
        <p:txBody>
          <a:bodyPr wrap="square" lIns="0" tIns="0" rIns="0" bIns="0" rtlCol="0" anchor="ctr"/>
          <a:lstStyle/>
          <a:p>
            <a:pPr indent="0" marL="0">
              <a:buNone/>
            </a:pPr>
            <a:r>
              <a:rPr lang="en-US" sz="1660" b="1" spc="345" kern="0" dirty="0">
                <a:solidFill>
                  <a:srgbClr val="692179"/>
                </a:solidFill>
                <a:latin typeface="Calibri" pitchFamily="34" charset="0"/>
                <a:ea typeface="Calibri" pitchFamily="34" charset="-122"/>
                <a:cs typeface="Calibri" pitchFamily="34" charset="-120"/>
              </a:rPr>
              <a:t>BLOQUE 1 · IAC</a:t>
            </a:r>
            <a:endParaRPr lang="en-US" sz="1660" dirty="0"/>
          </a:p>
        </p:txBody>
      </p:sp>
      <p:sp>
        <p:nvSpPr>
          <p:cNvPr id="4" name="Text 1"/>
          <p:cNvSpPr txBox="1"/>
          <p:nvPr/>
        </p:nvSpPr>
        <p:spPr>
          <a:xfrm>
            <a:off x="1572768" y="1440180"/>
            <a:ext cx="15142464" cy="1072591"/>
          </a:xfrm>
          <a:prstGeom prst="rect">
            <a:avLst/>
          </a:prstGeom>
          <a:noFill/>
          <a:ln/>
        </p:spPr>
        <p:txBody>
          <a:bodyPr wrap="square" lIns="0" tIns="0" rIns="0" bIns="0" rtlCol="0" anchor="ctr"/>
          <a:lstStyle/>
          <a:p>
            <a:pPr algn="l" indent="0" marL="0">
              <a:buNone/>
            </a:pPr>
            <a:r>
              <a:rPr lang="en-US" sz="4690" b="1" dirty="0">
                <a:solidFill>
                  <a:srgbClr val="241028"/>
                </a:solidFill>
                <a:latin typeface="Arial" pitchFamily="34" charset="0"/>
                <a:ea typeface="Arial" pitchFamily="34" charset="-122"/>
                <a:cs typeface="Arial" pitchFamily="34" charset="-120"/>
              </a:rPr>
              <a:t>Cómo lo haces hoy: ClickOps</a:t>
            </a:r>
            <a:endParaRPr lang="en-US" sz="4690" dirty="0"/>
          </a:p>
        </p:txBody>
      </p:sp>
      <p:sp>
        <p:nvSpPr>
          <p:cNvPr id="5" name="Shape 2"/>
          <p:cNvSpPr/>
          <p:nvPr/>
        </p:nvSpPr>
        <p:spPr>
          <a:xfrm>
            <a:off x="1572768" y="3269894"/>
            <a:ext cx="2776118" cy="2839212"/>
          </a:xfrm>
          <a:prstGeom prst="roundRect">
            <a:avLst>
              <a:gd name="adj" fmla="val 4545"/>
            </a:avLst>
          </a:prstGeom>
          <a:solidFill>
            <a:srgbClr val="F5ECF7"/>
          </a:solidFill>
          <a:ln w="12700">
            <a:solidFill>
              <a:srgbClr val="F5ECF7"/>
            </a:solidFill>
            <a:prstDash val="solid"/>
          </a:ln>
        </p:spPr>
      </p:sp>
      <p:sp>
        <p:nvSpPr>
          <p:cNvPr id="6" name="Shape 3"/>
          <p:cNvSpPr/>
          <p:nvPr/>
        </p:nvSpPr>
        <p:spPr>
          <a:xfrm>
            <a:off x="2645359" y="3585362"/>
            <a:ext cx="630936" cy="630936"/>
          </a:xfrm>
          <a:prstGeom prst="ellipse">
            <a:avLst/>
          </a:prstGeom>
          <a:solidFill>
            <a:srgbClr val="692179"/>
          </a:solidFill>
          <a:ln w="12700">
            <a:solidFill>
              <a:srgbClr val="692179"/>
            </a:solidFill>
            <a:prstDash val="solid"/>
          </a:ln>
        </p:spPr>
      </p:sp>
      <p:sp>
        <p:nvSpPr>
          <p:cNvPr id="7" name="Text 4"/>
          <p:cNvSpPr txBox="1"/>
          <p:nvPr/>
        </p:nvSpPr>
        <p:spPr>
          <a:xfrm>
            <a:off x="2645359" y="3585362"/>
            <a:ext cx="630936" cy="630936"/>
          </a:xfrm>
          <a:prstGeom prst="rect">
            <a:avLst/>
          </a:prstGeom>
          <a:noFill/>
          <a:ln/>
        </p:spPr>
        <p:txBody>
          <a:bodyPr wrap="square" lIns="0" tIns="0" rIns="0" bIns="0" rtlCol="0" anchor="ctr"/>
          <a:lstStyle/>
          <a:p>
            <a:pPr algn="ctr" indent="0" marL="0">
              <a:buNone/>
            </a:pPr>
            <a:r>
              <a:rPr lang="en-US" sz="2210" b="1" dirty="0">
                <a:solidFill>
                  <a:srgbClr val="FFFFFF"/>
                </a:solidFill>
                <a:latin typeface="Arial" pitchFamily="34" charset="0"/>
                <a:ea typeface="Arial" pitchFamily="34" charset="-122"/>
                <a:cs typeface="Arial" pitchFamily="34" charset="-120"/>
              </a:rPr>
              <a:t>1</a:t>
            </a:r>
            <a:endParaRPr lang="en-US" sz="2210" dirty="0"/>
          </a:p>
        </p:txBody>
      </p:sp>
      <p:sp>
        <p:nvSpPr>
          <p:cNvPr id="8" name="Text 5"/>
          <p:cNvSpPr txBox="1"/>
          <p:nvPr/>
        </p:nvSpPr>
        <p:spPr>
          <a:xfrm>
            <a:off x="1799539" y="4405579"/>
            <a:ext cx="2321662" cy="757123"/>
          </a:xfrm>
          <a:prstGeom prst="rect">
            <a:avLst/>
          </a:prstGeom>
          <a:noFill/>
          <a:ln/>
        </p:spPr>
        <p:txBody>
          <a:bodyPr wrap="square" lIns="0" tIns="0" rIns="0" bIns="0" rtlCol="0" anchor="t"/>
          <a:lstStyle/>
          <a:p>
            <a:pPr algn="ctr" indent="0" marL="0">
              <a:buNone/>
            </a:pPr>
            <a:r>
              <a:rPr lang="en-US" sz="1930" b="1" dirty="0">
                <a:solidFill>
                  <a:srgbClr val="241028"/>
                </a:solidFill>
                <a:latin typeface="Arial" pitchFamily="34" charset="0"/>
                <a:ea typeface="Arial" pitchFamily="34" charset="-122"/>
                <a:cs typeface="Arial" pitchFamily="34" charset="-120"/>
              </a:rPr>
              <a:t>Abres el portal</a:t>
            </a:r>
            <a:endParaRPr lang="en-US" sz="1930" dirty="0"/>
          </a:p>
        </p:txBody>
      </p:sp>
      <p:sp>
        <p:nvSpPr>
          <p:cNvPr id="9" name="Text 6"/>
          <p:cNvSpPr txBox="1"/>
          <p:nvPr/>
        </p:nvSpPr>
        <p:spPr>
          <a:xfrm>
            <a:off x="1762049" y="5162702"/>
            <a:ext cx="2397557" cy="820217"/>
          </a:xfrm>
          <a:prstGeom prst="rect">
            <a:avLst/>
          </a:prstGeom>
          <a:noFill/>
          <a:ln/>
        </p:spPr>
        <p:txBody>
          <a:bodyPr wrap="square" lIns="0" tIns="0" rIns="0" bIns="0" rtlCol="0" anchor="t"/>
          <a:lstStyle/>
          <a:p>
            <a:pPr algn="ctr" indent="0" marL="0">
              <a:buNone/>
            </a:pPr>
            <a:r>
              <a:rPr lang="en-US" sz="1520" dirty="0">
                <a:solidFill>
                  <a:srgbClr val="6E5C73"/>
                </a:solidFill>
                <a:latin typeface="Calibri" pitchFamily="34" charset="0"/>
                <a:ea typeface="Calibri" pitchFamily="34" charset="-122"/>
                <a:cs typeface="Calibri" pitchFamily="34" charset="-120"/>
              </a:rPr>
              <a:t>app.fabric.microsoft.com</a:t>
            </a:r>
            <a:endParaRPr lang="en-US" sz="1520" dirty="0"/>
          </a:p>
        </p:txBody>
      </p:sp>
      <p:sp>
        <p:nvSpPr>
          <p:cNvPr id="10" name="Shape 7"/>
          <p:cNvSpPr/>
          <p:nvPr/>
        </p:nvSpPr>
        <p:spPr>
          <a:xfrm>
            <a:off x="4701845" y="3269894"/>
            <a:ext cx="2776118" cy="2839212"/>
          </a:xfrm>
          <a:prstGeom prst="roundRect">
            <a:avLst>
              <a:gd name="adj" fmla="val 4545"/>
            </a:avLst>
          </a:prstGeom>
          <a:solidFill>
            <a:srgbClr val="F5ECF7"/>
          </a:solidFill>
          <a:ln w="12700">
            <a:solidFill>
              <a:srgbClr val="F5ECF7"/>
            </a:solidFill>
            <a:prstDash val="solid"/>
          </a:ln>
        </p:spPr>
      </p:sp>
      <p:sp>
        <p:nvSpPr>
          <p:cNvPr id="11" name="Shape 8"/>
          <p:cNvSpPr/>
          <p:nvPr/>
        </p:nvSpPr>
        <p:spPr>
          <a:xfrm>
            <a:off x="5774436" y="3585362"/>
            <a:ext cx="630936" cy="630936"/>
          </a:xfrm>
          <a:prstGeom prst="ellipse">
            <a:avLst/>
          </a:prstGeom>
          <a:solidFill>
            <a:srgbClr val="692179"/>
          </a:solidFill>
          <a:ln w="12700">
            <a:solidFill>
              <a:srgbClr val="692179"/>
            </a:solidFill>
            <a:prstDash val="solid"/>
          </a:ln>
        </p:spPr>
      </p:sp>
      <p:sp>
        <p:nvSpPr>
          <p:cNvPr id="12" name="Text 9"/>
          <p:cNvSpPr txBox="1"/>
          <p:nvPr/>
        </p:nvSpPr>
        <p:spPr>
          <a:xfrm>
            <a:off x="5774436" y="3585362"/>
            <a:ext cx="630936" cy="630936"/>
          </a:xfrm>
          <a:prstGeom prst="rect">
            <a:avLst/>
          </a:prstGeom>
          <a:noFill/>
          <a:ln/>
        </p:spPr>
        <p:txBody>
          <a:bodyPr wrap="square" lIns="0" tIns="0" rIns="0" bIns="0" rtlCol="0" anchor="ctr"/>
          <a:lstStyle/>
          <a:p>
            <a:pPr algn="ctr" indent="0" marL="0">
              <a:buNone/>
            </a:pPr>
            <a:r>
              <a:rPr lang="en-US" sz="2210" b="1" dirty="0">
                <a:solidFill>
                  <a:srgbClr val="FFFFFF"/>
                </a:solidFill>
                <a:latin typeface="Arial" pitchFamily="34" charset="0"/>
                <a:ea typeface="Arial" pitchFamily="34" charset="-122"/>
                <a:cs typeface="Arial" pitchFamily="34" charset="-120"/>
              </a:rPr>
              <a:t>2</a:t>
            </a:r>
            <a:endParaRPr lang="en-US" sz="2210" dirty="0"/>
          </a:p>
        </p:txBody>
      </p:sp>
      <p:sp>
        <p:nvSpPr>
          <p:cNvPr id="13" name="Text 10"/>
          <p:cNvSpPr txBox="1"/>
          <p:nvPr/>
        </p:nvSpPr>
        <p:spPr>
          <a:xfrm>
            <a:off x="4929530" y="4405579"/>
            <a:ext cx="2321662" cy="757123"/>
          </a:xfrm>
          <a:prstGeom prst="rect">
            <a:avLst/>
          </a:prstGeom>
          <a:noFill/>
          <a:ln/>
        </p:spPr>
        <p:txBody>
          <a:bodyPr wrap="square" lIns="0" tIns="0" rIns="0" bIns="0" rtlCol="0" anchor="t"/>
          <a:lstStyle/>
          <a:p>
            <a:pPr algn="ctr" indent="0" marL="0">
              <a:buNone/>
            </a:pPr>
            <a:r>
              <a:rPr lang="en-US" sz="1930" b="1" dirty="0">
                <a:solidFill>
                  <a:srgbClr val="241028"/>
                </a:solidFill>
                <a:latin typeface="Arial" pitchFamily="34" charset="0"/>
                <a:ea typeface="Arial" pitchFamily="34" charset="-122"/>
                <a:cs typeface="Arial" pitchFamily="34" charset="-120"/>
              </a:rPr>
              <a:t>Clic, clic, clic</a:t>
            </a:r>
            <a:endParaRPr lang="en-US" sz="1930" dirty="0"/>
          </a:p>
        </p:txBody>
      </p:sp>
      <p:sp>
        <p:nvSpPr>
          <p:cNvPr id="14" name="Text 11"/>
          <p:cNvSpPr txBox="1"/>
          <p:nvPr/>
        </p:nvSpPr>
        <p:spPr>
          <a:xfrm>
            <a:off x="4891126" y="5162702"/>
            <a:ext cx="2397557" cy="820217"/>
          </a:xfrm>
          <a:prstGeom prst="rect">
            <a:avLst/>
          </a:prstGeom>
          <a:noFill/>
          <a:ln/>
        </p:spPr>
        <p:txBody>
          <a:bodyPr wrap="square" lIns="0" tIns="0" rIns="0" bIns="0" rtlCol="0" anchor="t"/>
          <a:lstStyle/>
          <a:p>
            <a:pPr algn="ctr" indent="0" marL="0">
              <a:buNone/>
            </a:pPr>
            <a:r>
              <a:rPr lang="en-US" sz="1520" dirty="0">
                <a:solidFill>
                  <a:srgbClr val="6E5C73"/>
                </a:solidFill>
                <a:latin typeface="Calibri" pitchFamily="34" charset="0"/>
                <a:ea typeface="Calibri" pitchFamily="34" charset="-122"/>
                <a:cs typeface="Calibri" pitchFamily="34" charset="-120"/>
              </a:rPr>
              <a:t>New workspace · asignar capacity · añadir roles</a:t>
            </a:r>
            <a:endParaRPr lang="en-US" sz="1520" dirty="0"/>
          </a:p>
        </p:txBody>
      </p:sp>
      <p:sp>
        <p:nvSpPr>
          <p:cNvPr id="15" name="Shape 12"/>
          <p:cNvSpPr/>
          <p:nvPr/>
        </p:nvSpPr>
        <p:spPr>
          <a:xfrm>
            <a:off x="7831836" y="3269894"/>
            <a:ext cx="2776118" cy="2839212"/>
          </a:xfrm>
          <a:prstGeom prst="roundRect">
            <a:avLst>
              <a:gd name="adj" fmla="val 4545"/>
            </a:avLst>
          </a:prstGeom>
          <a:solidFill>
            <a:srgbClr val="F5ECF7"/>
          </a:solidFill>
          <a:ln w="12700">
            <a:solidFill>
              <a:srgbClr val="F5ECF7"/>
            </a:solidFill>
            <a:prstDash val="solid"/>
          </a:ln>
        </p:spPr>
      </p:sp>
      <p:sp>
        <p:nvSpPr>
          <p:cNvPr id="16" name="Shape 13"/>
          <p:cNvSpPr/>
          <p:nvPr/>
        </p:nvSpPr>
        <p:spPr>
          <a:xfrm>
            <a:off x="8904427" y="3585362"/>
            <a:ext cx="630936" cy="630936"/>
          </a:xfrm>
          <a:prstGeom prst="ellipse">
            <a:avLst/>
          </a:prstGeom>
          <a:solidFill>
            <a:srgbClr val="692179"/>
          </a:solidFill>
          <a:ln w="12700">
            <a:solidFill>
              <a:srgbClr val="692179"/>
            </a:solidFill>
            <a:prstDash val="solid"/>
          </a:ln>
        </p:spPr>
      </p:sp>
      <p:sp>
        <p:nvSpPr>
          <p:cNvPr id="17" name="Text 14"/>
          <p:cNvSpPr txBox="1"/>
          <p:nvPr/>
        </p:nvSpPr>
        <p:spPr>
          <a:xfrm>
            <a:off x="8904427" y="3585362"/>
            <a:ext cx="630936" cy="630936"/>
          </a:xfrm>
          <a:prstGeom prst="rect">
            <a:avLst/>
          </a:prstGeom>
          <a:noFill/>
          <a:ln/>
        </p:spPr>
        <p:txBody>
          <a:bodyPr wrap="square" lIns="0" tIns="0" rIns="0" bIns="0" rtlCol="0" anchor="ctr"/>
          <a:lstStyle/>
          <a:p>
            <a:pPr algn="ctr" indent="0" marL="0">
              <a:buNone/>
            </a:pPr>
            <a:r>
              <a:rPr lang="en-US" sz="2210" b="1" dirty="0">
                <a:solidFill>
                  <a:srgbClr val="FFFFFF"/>
                </a:solidFill>
                <a:latin typeface="Arial" pitchFamily="34" charset="0"/>
                <a:ea typeface="Arial" pitchFamily="34" charset="-122"/>
                <a:cs typeface="Arial" pitchFamily="34" charset="-120"/>
              </a:rPr>
              <a:t>3</a:t>
            </a:r>
            <a:endParaRPr lang="en-US" sz="2210" dirty="0"/>
          </a:p>
        </p:txBody>
      </p:sp>
      <p:sp>
        <p:nvSpPr>
          <p:cNvPr id="18" name="Text 15"/>
          <p:cNvSpPr txBox="1"/>
          <p:nvPr/>
        </p:nvSpPr>
        <p:spPr>
          <a:xfrm>
            <a:off x="8058607" y="4405579"/>
            <a:ext cx="2321662" cy="757123"/>
          </a:xfrm>
          <a:prstGeom prst="rect">
            <a:avLst/>
          </a:prstGeom>
          <a:noFill/>
          <a:ln/>
        </p:spPr>
        <p:txBody>
          <a:bodyPr wrap="square" lIns="0" tIns="0" rIns="0" bIns="0" rtlCol="0" anchor="t"/>
          <a:lstStyle/>
          <a:p>
            <a:pPr algn="ctr" indent="0" marL="0">
              <a:buNone/>
            </a:pPr>
            <a:r>
              <a:rPr lang="en-US" sz="1930" b="1" dirty="0">
                <a:solidFill>
                  <a:srgbClr val="241028"/>
                </a:solidFill>
                <a:latin typeface="Arial" pitchFamily="34" charset="0"/>
                <a:ea typeface="Arial" pitchFamily="34" charset="-122"/>
                <a:cs typeface="Arial" pitchFamily="34" charset="-120"/>
              </a:rPr>
              <a:t>Haces capturas</a:t>
            </a:r>
            <a:endParaRPr lang="en-US" sz="1930" dirty="0"/>
          </a:p>
        </p:txBody>
      </p:sp>
      <p:sp>
        <p:nvSpPr>
          <p:cNvPr id="19" name="Text 16"/>
          <p:cNvSpPr txBox="1"/>
          <p:nvPr/>
        </p:nvSpPr>
        <p:spPr>
          <a:xfrm>
            <a:off x="8021117" y="5162702"/>
            <a:ext cx="2397557" cy="820217"/>
          </a:xfrm>
          <a:prstGeom prst="rect">
            <a:avLst/>
          </a:prstGeom>
          <a:noFill/>
          <a:ln/>
        </p:spPr>
        <p:txBody>
          <a:bodyPr wrap="square" lIns="0" tIns="0" rIns="0" bIns="0" rtlCol="0" anchor="t"/>
          <a:lstStyle/>
          <a:p>
            <a:pPr algn="ctr" indent="0" marL="0">
              <a:buNone/>
            </a:pPr>
            <a:r>
              <a:rPr lang="en-US" sz="1520" dirty="0">
                <a:solidFill>
                  <a:srgbClr val="6E5C73"/>
                </a:solidFill>
                <a:latin typeface="Calibri" pitchFamily="34" charset="0"/>
                <a:ea typeface="Calibri" pitchFamily="34" charset="-122"/>
                <a:cs typeface="Calibri" pitchFamily="34" charset="-120"/>
              </a:rPr>
              <a:t>"para documentarlo luego"</a:t>
            </a:r>
            <a:endParaRPr lang="en-US" sz="1520" dirty="0"/>
          </a:p>
        </p:txBody>
      </p:sp>
      <p:sp>
        <p:nvSpPr>
          <p:cNvPr id="20" name="Shape 17"/>
          <p:cNvSpPr/>
          <p:nvPr/>
        </p:nvSpPr>
        <p:spPr>
          <a:xfrm>
            <a:off x="10960913" y="3269894"/>
            <a:ext cx="2776118" cy="2839212"/>
          </a:xfrm>
          <a:prstGeom prst="roundRect">
            <a:avLst>
              <a:gd name="adj" fmla="val 4545"/>
            </a:avLst>
          </a:prstGeom>
          <a:solidFill>
            <a:srgbClr val="F5ECF7"/>
          </a:solidFill>
          <a:ln w="12700">
            <a:solidFill>
              <a:srgbClr val="F5ECF7"/>
            </a:solidFill>
            <a:prstDash val="solid"/>
          </a:ln>
        </p:spPr>
      </p:sp>
      <p:sp>
        <p:nvSpPr>
          <p:cNvPr id="21" name="Shape 18"/>
          <p:cNvSpPr/>
          <p:nvPr/>
        </p:nvSpPr>
        <p:spPr>
          <a:xfrm>
            <a:off x="12033504" y="3585362"/>
            <a:ext cx="630936" cy="630936"/>
          </a:xfrm>
          <a:prstGeom prst="ellipse">
            <a:avLst/>
          </a:prstGeom>
          <a:solidFill>
            <a:srgbClr val="692179"/>
          </a:solidFill>
          <a:ln w="12700">
            <a:solidFill>
              <a:srgbClr val="692179"/>
            </a:solidFill>
            <a:prstDash val="solid"/>
          </a:ln>
        </p:spPr>
      </p:sp>
      <p:sp>
        <p:nvSpPr>
          <p:cNvPr id="22" name="Text 19"/>
          <p:cNvSpPr txBox="1"/>
          <p:nvPr/>
        </p:nvSpPr>
        <p:spPr>
          <a:xfrm>
            <a:off x="12033504" y="3585362"/>
            <a:ext cx="630936" cy="630936"/>
          </a:xfrm>
          <a:prstGeom prst="rect">
            <a:avLst/>
          </a:prstGeom>
          <a:noFill/>
          <a:ln/>
        </p:spPr>
        <p:txBody>
          <a:bodyPr wrap="square" lIns="0" tIns="0" rIns="0" bIns="0" rtlCol="0" anchor="ctr"/>
          <a:lstStyle/>
          <a:p>
            <a:pPr algn="ctr" indent="0" marL="0">
              <a:buNone/>
            </a:pPr>
            <a:r>
              <a:rPr lang="en-US" sz="2210" b="1" dirty="0">
                <a:solidFill>
                  <a:srgbClr val="FFFFFF"/>
                </a:solidFill>
                <a:latin typeface="Arial" pitchFamily="34" charset="0"/>
                <a:ea typeface="Arial" pitchFamily="34" charset="-122"/>
                <a:cs typeface="Arial" pitchFamily="34" charset="-120"/>
              </a:rPr>
              <a:t>4</a:t>
            </a:r>
            <a:endParaRPr lang="en-US" sz="2210" dirty="0"/>
          </a:p>
        </p:txBody>
      </p:sp>
      <p:sp>
        <p:nvSpPr>
          <p:cNvPr id="23" name="Text 20"/>
          <p:cNvSpPr txBox="1"/>
          <p:nvPr/>
        </p:nvSpPr>
        <p:spPr>
          <a:xfrm>
            <a:off x="11188598" y="4405579"/>
            <a:ext cx="2321662" cy="757123"/>
          </a:xfrm>
          <a:prstGeom prst="rect">
            <a:avLst/>
          </a:prstGeom>
          <a:noFill/>
          <a:ln/>
        </p:spPr>
        <p:txBody>
          <a:bodyPr wrap="square" lIns="0" tIns="0" rIns="0" bIns="0" rtlCol="0" anchor="t"/>
          <a:lstStyle/>
          <a:p>
            <a:pPr algn="ctr" indent="0" marL="0">
              <a:buNone/>
            </a:pPr>
            <a:r>
              <a:rPr lang="en-US" sz="1930" b="1" dirty="0">
                <a:solidFill>
                  <a:srgbClr val="241028"/>
                </a:solidFill>
                <a:latin typeface="Arial" pitchFamily="34" charset="0"/>
                <a:ea typeface="Arial" pitchFamily="34" charset="-122"/>
                <a:cs typeface="Arial" pitchFamily="34" charset="-120"/>
              </a:rPr>
              <a:t>Las pegas en un Word</a:t>
            </a:r>
            <a:endParaRPr lang="en-US" sz="1930" dirty="0"/>
          </a:p>
        </p:txBody>
      </p:sp>
      <p:sp>
        <p:nvSpPr>
          <p:cNvPr id="24" name="Text 21"/>
          <p:cNvSpPr txBox="1"/>
          <p:nvPr/>
        </p:nvSpPr>
        <p:spPr>
          <a:xfrm>
            <a:off x="11150194" y="5162702"/>
            <a:ext cx="2397557" cy="820217"/>
          </a:xfrm>
          <a:prstGeom prst="rect">
            <a:avLst/>
          </a:prstGeom>
          <a:noFill/>
          <a:ln/>
        </p:spPr>
        <p:txBody>
          <a:bodyPr wrap="square" lIns="0" tIns="0" rIns="0" bIns="0" rtlCol="0" anchor="t"/>
          <a:lstStyle/>
          <a:p>
            <a:pPr algn="ctr" indent="0" marL="0">
              <a:buNone/>
            </a:pPr>
            <a:r>
              <a:rPr lang="en-US" sz="1520" dirty="0">
                <a:solidFill>
                  <a:srgbClr val="6E5C73"/>
                </a:solidFill>
                <a:latin typeface="Calibri" pitchFamily="34" charset="0"/>
                <a:ea typeface="Calibri" pitchFamily="34" charset="-122"/>
                <a:cs typeface="Calibri" pitchFamily="34" charset="-120"/>
              </a:rPr>
              <a:t>que nadie volverá a abrir con cariño</a:t>
            </a:r>
            <a:endParaRPr lang="en-US" sz="1520" dirty="0"/>
          </a:p>
        </p:txBody>
      </p:sp>
      <p:sp>
        <p:nvSpPr>
          <p:cNvPr id="25" name="Shape 22"/>
          <p:cNvSpPr/>
          <p:nvPr/>
        </p:nvSpPr>
        <p:spPr>
          <a:xfrm>
            <a:off x="14090904" y="3269894"/>
            <a:ext cx="2776118" cy="2839212"/>
          </a:xfrm>
          <a:prstGeom prst="roundRect">
            <a:avLst>
              <a:gd name="adj" fmla="val 4545"/>
            </a:avLst>
          </a:prstGeom>
          <a:solidFill>
            <a:srgbClr val="E8553F"/>
          </a:solidFill>
          <a:ln w="12700">
            <a:solidFill>
              <a:srgbClr val="E8553F"/>
            </a:solidFill>
            <a:prstDash val="solid"/>
          </a:ln>
        </p:spPr>
      </p:sp>
      <p:sp>
        <p:nvSpPr>
          <p:cNvPr id="26" name="Shape 23"/>
          <p:cNvSpPr/>
          <p:nvPr/>
        </p:nvSpPr>
        <p:spPr>
          <a:xfrm>
            <a:off x="15163495" y="3585362"/>
            <a:ext cx="630936" cy="630936"/>
          </a:xfrm>
          <a:prstGeom prst="ellipse">
            <a:avLst/>
          </a:prstGeom>
          <a:solidFill>
            <a:srgbClr val="FFFFFF"/>
          </a:solidFill>
          <a:ln w="12700">
            <a:solidFill>
              <a:srgbClr val="FFFFFF"/>
            </a:solidFill>
            <a:prstDash val="solid"/>
          </a:ln>
        </p:spPr>
      </p:sp>
      <p:sp>
        <p:nvSpPr>
          <p:cNvPr id="27" name="Text 24"/>
          <p:cNvSpPr txBox="1"/>
          <p:nvPr/>
        </p:nvSpPr>
        <p:spPr>
          <a:xfrm>
            <a:off x="15163495" y="3585362"/>
            <a:ext cx="630936" cy="630936"/>
          </a:xfrm>
          <a:prstGeom prst="rect">
            <a:avLst/>
          </a:prstGeom>
          <a:noFill/>
          <a:ln/>
        </p:spPr>
        <p:txBody>
          <a:bodyPr wrap="square" lIns="0" tIns="0" rIns="0" bIns="0" rtlCol="0" anchor="ctr"/>
          <a:lstStyle/>
          <a:p>
            <a:pPr algn="ctr" indent="0" marL="0">
              <a:buNone/>
            </a:pPr>
            <a:r>
              <a:rPr lang="en-US" sz="2210" b="1" dirty="0">
                <a:solidFill>
                  <a:srgbClr val="E8553F"/>
                </a:solidFill>
                <a:latin typeface="Arial" pitchFamily="34" charset="0"/>
                <a:ea typeface="Arial" pitchFamily="34" charset="-122"/>
                <a:cs typeface="Arial" pitchFamily="34" charset="-120"/>
              </a:rPr>
              <a:t>5</a:t>
            </a:r>
            <a:endParaRPr lang="en-US" sz="2210" dirty="0"/>
          </a:p>
        </p:txBody>
      </p:sp>
      <p:sp>
        <p:nvSpPr>
          <p:cNvPr id="28" name="Text 25"/>
          <p:cNvSpPr txBox="1"/>
          <p:nvPr/>
        </p:nvSpPr>
        <p:spPr>
          <a:xfrm>
            <a:off x="14317675" y="4405579"/>
            <a:ext cx="2321662" cy="757123"/>
          </a:xfrm>
          <a:prstGeom prst="rect">
            <a:avLst/>
          </a:prstGeom>
          <a:noFill/>
          <a:ln/>
        </p:spPr>
        <p:txBody>
          <a:bodyPr wrap="square" lIns="0" tIns="0" rIns="0" bIns="0" rtlCol="0" anchor="t"/>
          <a:lstStyle/>
          <a:p>
            <a:pPr algn="ctr" indent="0" marL="0">
              <a:buNone/>
            </a:pPr>
            <a:r>
              <a:rPr lang="en-US" sz="1930" b="1" dirty="0">
                <a:solidFill>
                  <a:srgbClr val="FFFFFF"/>
                </a:solidFill>
                <a:latin typeface="Arial" pitchFamily="34" charset="0"/>
                <a:ea typeface="Arial" pitchFamily="34" charset="-122"/>
                <a:cs typeface="Arial" pitchFamily="34" charset="-120"/>
              </a:rPr>
              <a:t>Funciona</a:t>
            </a:r>
            <a:endParaRPr lang="en-US" sz="1930" dirty="0"/>
          </a:p>
        </p:txBody>
      </p:sp>
      <p:sp>
        <p:nvSpPr>
          <p:cNvPr id="29" name="Text 26"/>
          <p:cNvSpPr txBox="1"/>
          <p:nvPr/>
        </p:nvSpPr>
        <p:spPr>
          <a:xfrm>
            <a:off x="14280185" y="5162702"/>
            <a:ext cx="2397557" cy="820217"/>
          </a:xfrm>
          <a:prstGeom prst="rect">
            <a:avLst/>
          </a:prstGeom>
          <a:noFill/>
          <a:ln/>
        </p:spPr>
        <p:txBody>
          <a:bodyPr wrap="square" lIns="0" tIns="0" rIns="0" bIns="0" rtlCol="0" anchor="t"/>
          <a:lstStyle/>
          <a:p>
            <a:pPr algn="ctr" indent="0" marL="0">
              <a:buNone/>
            </a:pPr>
            <a:r>
              <a:rPr lang="en-US" sz="1520" dirty="0">
                <a:solidFill>
                  <a:srgbClr val="FFFFFF"/>
                </a:solidFill>
                <a:latin typeface="Calibri" pitchFamily="34" charset="0"/>
                <a:ea typeface="Calibri" pitchFamily="34" charset="-122"/>
                <a:cs typeface="Calibri" pitchFamily="34" charset="-120"/>
              </a:rPr>
              <a:t>y se te olvida todo en 48 horas</a:t>
            </a:r>
            <a:endParaRPr lang="en-US" sz="1520" dirty="0"/>
          </a:p>
        </p:txBody>
      </p:sp>
      <p:sp>
        <p:nvSpPr>
          <p:cNvPr id="30" name="Shape 27"/>
          <p:cNvSpPr/>
          <p:nvPr/>
        </p:nvSpPr>
        <p:spPr>
          <a:xfrm>
            <a:off x="1572768" y="6550762"/>
            <a:ext cx="15142464" cy="1892808"/>
          </a:xfrm>
          <a:prstGeom prst="roundRect">
            <a:avLst>
              <a:gd name="adj" fmla="val 6667"/>
            </a:avLst>
          </a:prstGeom>
          <a:solidFill>
            <a:srgbClr val="2A0E33"/>
          </a:solidFill>
          <a:ln w="12700">
            <a:solidFill>
              <a:srgbClr val="2A0E33"/>
            </a:solidFill>
            <a:prstDash val="solid"/>
          </a:ln>
        </p:spPr>
      </p:sp>
      <p:sp>
        <p:nvSpPr>
          <p:cNvPr id="31" name="Text 28"/>
          <p:cNvSpPr txBox="1"/>
          <p:nvPr/>
        </p:nvSpPr>
        <p:spPr>
          <a:xfrm>
            <a:off x="2077517" y="6803136"/>
            <a:ext cx="14132966" cy="441655"/>
          </a:xfrm>
          <a:prstGeom prst="rect">
            <a:avLst/>
          </a:prstGeom>
          <a:noFill/>
          <a:ln/>
        </p:spPr>
        <p:txBody>
          <a:bodyPr wrap="square" lIns="0" tIns="0" rIns="0" bIns="0" rtlCol="0" anchor="ctr"/>
          <a:lstStyle/>
          <a:p>
            <a:pPr indent="0" marL="0">
              <a:buNone/>
            </a:pPr>
            <a:r>
              <a:rPr lang="en-US" sz="1930" dirty="0">
                <a:solidFill>
                  <a:srgbClr val="F59120"/>
                </a:solidFill>
                <a:latin typeface="Calibri" pitchFamily="34" charset="0"/>
                <a:ea typeface="Calibri" pitchFamily="34" charset="-122"/>
                <a:cs typeface="Calibri" pitchFamily="34" charset="-120"/>
              </a:rPr>
              <a:t>Tres meses después:</a:t>
            </a:r>
            <a:endParaRPr lang="en-US" sz="1930" dirty="0"/>
          </a:p>
        </p:txBody>
      </p:sp>
      <p:sp>
        <p:nvSpPr>
          <p:cNvPr id="32" name="Text 29"/>
          <p:cNvSpPr txBox="1"/>
          <p:nvPr/>
        </p:nvSpPr>
        <p:spPr>
          <a:xfrm>
            <a:off x="2077517" y="7307885"/>
            <a:ext cx="14132966" cy="694030"/>
          </a:xfrm>
          <a:prstGeom prst="rect">
            <a:avLst/>
          </a:prstGeom>
          <a:noFill/>
          <a:ln/>
        </p:spPr>
        <p:txBody>
          <a:bodyPr wrap="square" lIns="0" tIns="0" rIns="0" bIns="0" rtlCol="0" anchor="ctr"/>
          <a:lstStyle/>
          <a:p>
            <a:pPr indent="0" marL="0">
              <a:buNone/>
            </a:pPr>
            <a:r>
              <a:rPr lang="en-US" sz="2480" b="1" dirty="0">
                <a:solidFill>
                  <a:srgbClr val="FFFFFF"/>
                </a:solidFill>
                <a:latin typeface="Arial" pitchFamily="34" charset="0"/>
                <a:ea typeface="Arial" pitchFamily="34" charset="-122"/>
                <a:cs typeface="Arial" pitchFamily="34" charset="-120"/>
              </a:rPr>
              <a:t>"¿Por qué el workspace de QA no tiene el mismo rol que el de PRO?"   —   nadie lo sabe</a:t>
            </a:r>
            <a:endParaRPr lang="en-US" sz="248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pic>
        <p:nvPicPr>
          <p:cNvPr id="2" name="Image 0" descr="/home/claude/bg-white.jpg">    </p:cNvPr>
          <p:cNvPicPr>
            <a:picLocks noChangeAspect="1"/>
          </p:cNvPicPr>
          <p:nvPr/>
        </p:nvPicPr>
        <p:blipFill>
          <a:blip r:embed="rId1"/>
          <a:stretch>
            <a:fillRect/>
          </a:stretch>
        </p:blipFill>
        <p:spPr>
          <a:xfrm>
            <a:off x="0" y="0"/>
            <a:ext cx="18288000" cy="10287000"/>
          </a:xfrm>
          <a:prstGeom prst="rect">
            <a:avLst/>
          </a:prstGeom>
        </p:spPr>
      </p:pic>
      <p:sp>
        <p:nvSpPr>
          <p:cNvPr id="3" name="Text 0"/>
          <p:cNvSpPr txBox="1"/>
          <p:nvPr/>
        </p:nvSpPr>
        <p:spPr>
          <a:xfrm>
            <a:off x="1572768" y="1024128"/>
            <a:ext cx="15142464" cy="404165"/>
          </a:xfrm>
          <a:prstGeom prst="rect">
            <a:avLst/>
          </a:prstGeom>
          <a:noFill/>
          <a:ln/>
        </p:spPr>
        <p:txBody>
          <a:bodyPr wrap="square" lIns="0" tIns="0" rIns="0" bIns="0" rtlCol="0" anchor="ctr"/>
          <a:lstStyle/>
          <a:p>
            <a:pPr indent="0" marL="0">
              <a:buNone/>
            </a:pPr>
            <a:r>
              <a:rPr lang="en-US" sz="1660" b="1" spc="345" kern="0" dirty="0">
                <a:solidFill>
                  <a:srgbClr val="E8553F"/>
                </a:solidFill>
                <a:latin typeface="Calibri" pitchFamily="34" charset="0"/>
                <a:ea typeface="Calibri" pitchFamily="34" charset="-122"/>
                <a:cs typeface="Calibri" pitchFamily="34" charset="-120"/>
              </a:rPr>
              <a:t>BLOQUE 1 · IAC</a:t>
            </a:r>
            <a:endParaRPr lang="en-US" sz="1660" dirty="0"/>
          </a:p>
        </p:txBody>
      </p:sp>
      <p:sp>
        <p:nvSpPr>
          <p:cNvPr id="4" name="Text 1"/>
          <p:cNvSpPr txBox="1"/>
          <p:nvPr/>
        </p:nvSpPr>
        <p:spPr>
          <a:xfrm>
            <a:off x="1572768" y="1440180"/>
            <a:ext cx="15142464" cy="1072591"/>
          </a:xfrm>
          <a:prstGeom prst="rect">
            <a:avLst/>
          </a:prstGeom>
          <a:noFill/>
          <a:ln/>
        </p:spPr>
        <p:txBody>
          <a:bodyPr wrap="square" lIns="0" tIns="0" rIns="0" bIns="0" rtlCol="0" anchor="ctr"/>
          <a:lstStyle/>
          <a:p>
            <a:pPr algn="l" indent="0" marL="0">
              <a:buNone/>
            </a:pPr>
            <a:r>
              <a:rPr lang="en-US" sz="4690" b="1" dirty="0">
                <a:solidFill>
                  <a:srgbClr val="241028"/>
                </a:solidFill>
                <a:latin typeface="Arial" pitchFamily="34" charset="0"/>
                <a:ea typeface="Arial" pitchFamily="34" charset="-122"/>
                <a:cs typeface="Arial" pitchFamily="34" charset="-120"/>
              </a:rPr>
              <a:t>Los cuatro pecados del ClickOps</a:t>
            </a:r>
            <a:endParaRPr lang="en-US" sz="4690" dirty="0"/>
          </a:p>
        </p:txBody>
      </p:sp>
      <p:sp>
        <p:nvSpPr>
          <p:cNvPr id="5" name="Shape 2"/>
          <p:cNvSpPr/>
          <p:nvPr/>
        </p:nvSpPr>
        <p:spPr>
          <a:xfrm>
            <a:off x="1572768" y="3206801"/>
            <a:ext cx="7381951" cy="2334463"/>
          </a:xfrm>
          <a:prstGeom prst="roundRect">
            <a:avLst>
              <a:gd name="adj" fmla="val 5405"/>
            </a:avLst>
          </a:prstGeom>
          <a:solidFill>
            <a:srgbClr val="FFFFFF"/>
          </a:solidFill>
          <a:ln w="12700">
            <a:solidFill>
              <a:srgbClr val="FFFFFF"/>
            </a:solidFill>
            <a:prstDash val="solid"/>
          </a:ln>
        </p:spPr>
      </p:sp>
      <p:sp>
        <p:nvSpPr>
          <p:cNvPr id="6" name="Shape 3"/>
          <p:cNvSpPr/>
          <p:nvPr/>
        </p:nvSpPr>
        <p:spPr>
          <a:xfrm>
            <a:off x="2014423" y="3648456"/>
            <a:ext cx="694030" cy="694030"/>
          </a:xfrm>
          <a:prstGeom prst="ellipse">
            <a:avLst/>
          </a:prstGeom>
          <a:solidFill>
            <a:srgbClr val="E8553F"/>
          </a:solidFill>
          <a:ln w="12700">
            <a:solidFill>
              <a:srgbClr val="E8553F"/>
            </a:solidFill>
            <a:prstDash val="solid"/>
          </a:ln>
        </p:spPr>
      </p:sp>
      <p:sp>
        <p:nvSpPr>
          <p:cNvPr id="7" name="Text 4"/>
          <p:cNvSpPr txBox="1"/>
          <p:nvPr/>
        </p:nvSpPr>
        <p:spPr>
          <a:xfrm>
            <a:off x="2014423" y="3648456"/>
            <a:ext cx="694030" cy="694030"/>
          </a:xfrm>
          <a:prstGeom prst="rect">
            <a:avLst/>
          </a:prstGeom>
          <a:noFill/>
          <a:ln/>
        </p:spPr>
        <p:txBody>
          <a:bodyPr wrap="square" lIns="0" tIns="0" rIns="0" bIns="0" rtlCol="0" anchor="ctr"/>
          <a:lstStyle/>
          <a:p>
            <a:pPr algn="ctr" indent="0" marL="0">
              <a:buNone/>
            </a:pPr>
            <a:r>
              <a:rPr lang="en-US" sz="2350" b="1" dirty="0">
                <a:solidFill>
                  <a:srgbClr val="FFFFFF"/>
                </a:solidFill>
                <a:latin typeface="Arial" pitchFamily="34" charset="0"/>
                <a:ea typeface="Arial" pitchFamily="34" charset="-122"/>
                <a:cs typeface="Arial" pitchFamily="34" charset="-120"/>
              </a:rPr>
              <a:t>✕</a:t>
            </a:r>
            <a:endParaRPr lang="en-US" sz="2350" dirty="0"/>
          </a:p>
        </p:txBody>
      </p:sp>
      <p:sp>
        <p:nvSpPr>
          <p:cNvPr id="8" name="Text 5"/>
          <p:cNvSpPr txBox="1"/>
          <p:nvPr/>
        </p:nvSpPr>
        <p:spPr>
          <a:xfrm>
            <a:off x="2960827" y="3648456"/>
            <a:ext cx="5678424" cy="567842"/>
          </a:xfrm>
          <a:prstGeom prst="rect">
            <a:avLst/>
          </a:prstGeom>
          <a:noFill/>
          <a:ln/>
        </p:spPr>
        <p:txBody>
          <a:bodyPr wrap="square" lIns="0" tIns="0" rIns="0" bIns="0" rtlCol="0" anchor="ctr"/>
          <a:lstStyle/>
          <a:p>
            <a:pPr indent="0" marL="0">
              <a:buNone/>
            </a:pPr>
            <a:r>
              <a:rPr lang="en-US" sz="2620" b="1" dirty="0">
                <a:solidFill>
                  <a:srgbClr val="241028"/>
                </a:solidFill>
                <a:latin typeface="Arial" pitchFamily="34" charset="0"/>
                <a:ea typeface="Arial" pitchFamily="34" charset="-122"/>
                <a:cs typeface="Arial" pitchFamily="34" charset="-120"/>
              </a:rPr>
              <a:t>No está versionado</a:t>
            </a:r>
            <a:endParaRPr lang="en-US" sz="2620" dirty="0"/>
          </a:p>
        </p:txBody>
      </p:sp>
      <p:sp>
        <p:nvSpPr>
          <p:cNvPr id="9" name="Text 6"/>
          <p:cNvSpPr txBox="1"/>
          <p:nvPr/>
        </p:nvSpPr>
        <p:spPr>
          <a:xfrm>
            <a:off x="2960827" y="4279392"/>
            <a:ext cx="5678424" cy="1072591"/>
          </a:xfrm>
          <a:prstGeom prst="rect">
            <a:avLst/>
          </a:prstGeom>
          <a:noFill/>
          <a:ln/>
        </p:spPr>
        <p:txBody>
          <a:bodyPr wrap="square" lIns="0" tIns="0" rIns="0" bIns="0" rtlCol="0" anchor="t"/>
          <a:lstStyle/>
          <a:p>
            <a:pPr indent="0" marL="0">
              <a:lnSpc>
                <a:spcPct val="110000"/>
              </a:lnSpc>
              <a:buNone/>
            </a:pPr>
            <a:r>
              <a:rPr lang="en-US" sz="1860" dirty="0">
                <a:solidFill>
                  <a:srgbClr val="6E5C73"/>
                </a:solidFill>
                <a:latin typeface="Calibri" pitchFamily="34" charset="0"/>
                <a:ea typeface="Calibri" pitchFamily="34" charset="-122"/>
                <a:cs typeface="Calibri" pitchFamily="34" charset="-120"/>
              </a:rPr>
              <a:t>No hay historial. No sabes qué había ayer, ni quién lo cambió, ni por qué.</a:t>
            </a:r>
            <a:endParaRPr lang="en-US" sz="1860" dirty="0"/>
          </a:p>
        </p:txBody>
      </p:sp>
      <p:sp>
        <p:nvSpPr>
          <p:cNvPr id="10" name="Shape 7"/>
          <p:cNvSpPr/>
          <p:nvPr/>
        </p:nvSpPr>
        <p:spPr>
          <a:xfrm>
            <a:off x="9333281" y="3206801"/>
            <a:ext cx="7381951" cy="2334463"/>
          </a:xfrm>
          <a:prstGeom prst="roundRect">
            <a:avLst>
              <a:gd name="adj" fmla="val 5405"/>
            </a:avLst>
          </a:prstGeom>
          <a:solidFill>
            <a:srgbClr val="FFFFFF"/>
          </a:solidFill>
          <a:ln w="12700">
            <a:solidFill>
              <a:srgbClr val="FFFFFF"/>
            </a:solidFill>
            <a:prstDash val="solid"/>
          </a:ln>
        </p:spPr>
      </p:sp>
      <p:sp>
        <p:nvSpPr>
          <p:cNvPr id="11" name="Shape 8"/>
          <p:cNvSpPr/>
          <p:nvPr/>
        </p:nvSpPr>
        <p:spPr>
          <a:xfrm>
            <a:off x="9774936" y="3648456"/>
            <a:ext cx="694030" cy="694030"/>
          </a:xfrm>
          <a:prstGeom prst="ellipse">
            <a:avLst/>
          </a:prstGeom>
          <a:solidFill>
            <a:srgbClr val="E8553F"/>
          </a:solidFill>
          <a:ln w="12700">
            <a:solidFill>
              <a:srgbClr val="E8553F"/>
            </a:solidFill>
            <a:prstDash val="solid"/>
          </a:ln>
        </p:spPr>
      </p:sp>
      <p:sp>
        <p:nvSpPr>
          <p:cNvPr id="12" name="Text 9"/>
          <p:cNvSpPr txBox="1"/>
          <p:nvPr/>
        </p:nvSpPr>
        <p:spPr>
          <a:xfrm>
            <a:off x="9774936" y="3648456"/>
            <a:ext cx="694030" cy="694030"/>
          </a:xfrm>
          <a:prstGeom prst="rect">
            <a:avLst/>
          </a:prstGeom>
          <a:noFill/>
          <a:ln/>
        </p:spPr>
        <p:txBody>
          <a:bodyPr wrap="square" lIns="0" tIns="0" rIns="0" bIns="0" rtlCol="0" anchor="ctr"/>
          <a:lstStyle/>
          <a:p>
            <a:pPr algn="ctr" indent="0" marL="0">
              <a:buNone/>
            </a:pPr>
            <a:r>
              <a:rPr lang="en-US" sz="2350" b="1" dirty="0">
                <a:solidFill>
                  <a:srgbClr val="FFFFFF"/>
                </a:solidFill>
                <a:latin typeface="Arial" pitchFamily="34" charset="0"/>
                <a:ea typeface="Arial" pitchFamily="34" charset="-122"/>
                <a:cs typeface="Arial" pitchFamily="34" charset="-120"/>
              </a:rPr>
              <a:t>✕</a:t>
            </a:r>
            <a:endParaRPr lang="en-US" sz="2350" dirty="0"/>
          </a:p>
        </p:txBody>
      </p:sp>
      <p:sp>
        <p:nvSpPr>
          <p:cNvPr id="13" name="Text 10"/>
          <p:cNvSpPr txBox="1"/>
          <p:nvPr/>
        </p:nvSpPr>
        <p:spPr>
          <a:xfrm>
            <a:off x="10721340" y="3648456"/>
            <a:ext cx="5678424" cy="567842"/>
          </a:xfrm>
          <a:prstGeom prst="rect">
            <a:avLst/>
          </a:prstGeom>
          <a:noFill/>
          <a:ln/>
        </p:spPr>
        <p:txBody>
          <a:bodyPr wrap="square" lIns="0" tIns="0" rIns="0" bIns="0" rtlCol="0" anchor="ctr"/>
          <a:lstStyle/>
          <a:p>
            <a:pPr indent="0" marL="0">
              <a:buNone/>
            </a:pPr>
            <a:r>
              <a:rPr lang="en-US" sz="2620" b="1" dirty="0">
                <a:solidFill>
                  <a:srgbClr val="241028"/>
                </a:solidFill>
                <a:latin typeface="Arial" pitchFamily="34" charset="0"/>
                <a:ea typeface="Arial" pitchFamily="34" charset="-122"/>
                <a:cs typeface="Arial" pitchFamily="34" charset="-120"/>
              </a:rPr>
              <a:t>No es revisable</a:t>
            </a:r>
            <a:endParaRPr lang="en-US" sz="2620" dirty="0"/>
          </a:p>
        </p:txBody>
      </p:sp>
      <p:sp>
        <p:nvSpPr>
          <p:cNvPr id="14" name="Text 11"/>
          <p:cNvSpPr txBox="1"/>
          <p:nvPr/>
        </p:nvSpPr>
        <p:spPr>
          <a:xfrm>
            <a:off x="10721340" y="4279392"/>
            <a:ext cx="5678424" cy="1072591"/>
          </a:xfrm>
          <a:prstGeom prst="rect">
            <a:avLst/>
          </a:prstGeom>
          <a:noFill/>
          <a:ln/>
        </p:spPr>
        <p:txBody>
          <a:bodyPr wrap="square" lIns="0" tIns="0" rIns="0" bIns="0" rtlCol="0" anchor="t"/>
          <a:lstStyle/>
          <a:p>
            <a:pPr indent="0" marL="0">
              <a:lnSpc>
                <a:spcPct val="110000"/>
              </a:lnSpc>
              <a:buNone/>
            </a:pPr>
            <a:r>
              <a:rPr lang="en-US" sz="1860" dirty="0">
                <a:solidFill>
                  <a:srgbClr val="6E5C73"/>
                </a:solidFill>
                <a:latin typeface="Calibri" pitchFamily="34" charset="0"/>
                <a:ea typeface="Calibri" pitchFamily="34" charset="-122"/>
                <a:cs typeface="Calibri" pitchFamily="34" charset="-120"/>
              </a:rPr>
              <a:t>Nadie puede revisar un clic. No hay pull request para "le he dado a Añadir".</a:t>
            </a:r>
            <a:endParaRPr lang="en-US" sz="1860" dirty="0"/>
          </a:p>
        </p:txBody>
      </p:sp>
      <p:sp>
        <p:nvSpPr>
          <p:cNvPr id="15" name="Shape 12"/>
          <p:cNvSpPr/>
          <p:nvPr/>
        </p:nvSpPr>
        <p:spPr>
          <a:xfrm>
            <a:off x="1572768" y="5793638"/>
            <a:ext cx="7381951" cy="2334463"/>
          </a:xfrm>
          <a:prstGeom prst="roundRect">
            <a:avLst>
              <a:gd name="adj" fmla="val 5405"/>
            </a:avLst>
          </a:prstGeom>
          <a:solidFill>
            <a:srgbClr val="FFFFFF"/>
          </a:solidFill>
          <a:ln w="12700">
            <a:solidFill>
              <a:srgbClr val="FFFFFF"/>
            </a:solidFill>
            <a:prstDash val="solid"/>
          </a:ln>
        </p:spPr>
      </p:sp>
      <p:sp>
        <p:nvSpPr>
          <p:cNvPr id="16" name="Shape 13"/>
          <p:cNvSpPr/>
          <p:nvPr/>
        </p:nvSpPr>
        <p:spPr>
          <a:xfrm>
            <a:off x="2014423" y="6235294"/>
            <a:ext cx="694030" cy="694030"/>
          </a:xfrm>
          <a:prstGeom prst="ellipse">
            <a:avLst/>
          </a:prstGeom>
          <a:solidFill>
            <a:srgbClr val="E8553F"/>
          </a:solidFill>
          <a:ln w="12700">
            <a:solidFill>
              <a:srgbClr val="E8553F"/>
            </a:solidFill>
            <a:prstDash val="solid"/>
          </a:ln>
        </p:spPr>
      </p:sp>
      <p:sp>
        <p:nvSpPr>
          <p:cNvPr id="17" name="Text 14"/>
          <p:cNvSpPr txBox="1"/>
          <p:nvPr/>
        </p:nvSpPr>
        <p:spPr>
          <a:xfrm>
            <a:off x="2014423" y="6235294"/>
            <a:ext cx="694030" cy="694030"/>
          </a:xfrm>
          <a:prstGeom prst="rect">
            <a:avLst/>
          </a:prstGeom>
          <a:noFill/>
          <a:ln/>
        </p:spPr>
        <p:txBody>
          <a:bodyPr wrap="square" lIns="0" tIns="0" rIns="0" bIns="0" rtlCol="0" anchor="ctr"/>
          <a:lstStyle/>
          <a:p>
            <a:pPr algn="ctr" indent="0" marL="0">
              <a:buNone/>
            </a:pPr>
            <a:r>
              <a:rPr lang="en-US" sz="2350" b="1" dirty="0">
                <a:solidFill>
                  <a:srgbClr val="FFFFFF"/>
                </a:solidFill>
                <a:latin typeface="Arial" pitchFamily="34" charset="0"/>
                <a:ea typeface="Arial" pitchFamily="34" charset="-122"/>
                <a:cs typeface="Arial" pitchFamily="34" charset="-120"/>
              </a:rPr>
              <a:t>✕</a:t>
            </a:r>
            <a:endParaRPr lang="en-US" sz="2350" dirty="0"/>
          </a:p>
        </p:txBody>
      </p:sp>
      <p:sp>
        <p:nvSpPr>
          <p:cNvPr id="18" name="Text 15"/>
          <p:cNvSpPr txBox="1"/>
          <p:nvPr/>
        </p:nvSpPr>
        <p:spPr>
          <a:xfrm>
            <a:off x="2960827" y="6235294"/>
            <a:ext cx="5678424" cy="567842"/>
          </a:xfrm>
          <a:prstGeom prst="rect">
            <a:avLst/>
          </a:prstGeom>
          <a:noFill/>
          <a:ln/>
        </p:spPr>
        <p:txBody>
          <a:bodyPr wrap="square" lIns="0" tIns="0" rIns="0" bIns="0" rtlCol="0" anchor="ctr"/>
          <a:lstStyle/>
          <a:p>
            <a:pPr indent="0" marL="0">
              <a:buNone/>
            </a:pPr>
            <a:r>
              <a:rPr lang="en-US" sz="2620" b="1" dirty="0">
                <a:solidFill>
                  <a:srgbClr val="241028"/>
                </a:solidFill>
                <a:latin typeface="Arial" pitchFamily="34" charset="0"/>
                <a:ea typeface="Arial" pitchFamily="34" charset="-122"/>
                <a:cs typeface="Arial" pitchFamily="34" charset="-120"/>
              </a:rPr>
              <a:t>No es repetible</a:t>
            </a:r>
            <a:endParaRPr lang="en-US" sz="2620" dirty="0"/>
          </a:p>
        </p:txBody>
      </p:sp>
      <p:sp>
        <p:nvSpPr>
          <p:cNvPr id="19" name="Text 16"/>
          <p:cNvSpPr txBox="1"/>
          <p:nvPr/>
        </p:nvSpPr>
        <p:spPr>
          <a:xfrm>
            <a:off x="2960827" y="6866230"/>
            <a:ext cx="5678424" cy="1072591"/>
          </a:xfrm>
          <a:prstGeom prst="rect">
            <a:avLst/>
          </a:prstGeom>
          <a:noFill/>
          <a:ln/>
        </p:spPr>
        <p:txBody>
          <a:bodyPr wrap="square" lIns="0" tIns="0" rIns="0" bIns="0" rtlCol="0" anchor="t"/>
          <a:lstStyle/>
          <a:p>
            <a:pPr indent="0" marL="0">
              <a:lnSpc>
                <a:spcPct val="110000"/>
              </a:lnSpc>
              <a:buNone/>
            </a:pPr>
            <a:r>
              <a:rPr lang="en-US" sz="1860" dirty="0">
                <a:solidFill>
                  <a:srgbClr val="6E5C73"/>
                </a:solidFill>
                <a:latin typeface="Calibri" pitchFamily="34" charset="0"/>
                <a:ea typeface="Calibri" pitchFamily="34" charset="-122"/>
                <a:cs typeface="Calibri" pitchFamily="34" charset="-120"/>
              </a:rPr>
              <a:t>El mismo proceso, hecho por dos personas, da dos resultados distintos.</a:t>
            </a:r>
            <a:endParaRPr lang="en-US" sz="1860" dirty="0"/>
          </a:p>
        </p:txBody>
      </p:sp>
      <p:sp>
        <p:nvSpPr>
          <p:cNvPr id="20" name="Shape 17"/>
          <p:cNvSpPr/>
          <p:nvPr/>
        </p:nvSpPr>
        <p:spPr>
          <a:xfrm>
            <a:off x="9333281" y="5793638"/>
            <a:ext cx="7381951" cy="2334463"/>
          </a:xfrm>
          <a:prstGeom prst="roundRect">
            <a:avLst>
              <a:gd name="adj" fmla="val 5405"/>
            </a:avLst>
          </a:prstGeom>
          <a:solidFill>
            <a:srgbClr val="FFFFFF"/>
          </a:solidFill>
          <a:ln w="12700">
            <a:solidFill>
              <a:srgbClr val="FFFFFF"/>
            </a:solidFill>
            <a:prstDash val="solid"/>
          </a:ln>
        </p:spPr>
      </p:sp>
      <p:sp>
        <p:nvSpPr>
          <p:cNvPr id="21" name="Shape 18"/>
          <p:cNvSpPr/>
          <p:nvPr/>
        </p:nvSpPr>
        <p:spPr>
          <a:xfrm>
            <a:off x="9774936" y="6235294"/>
            <a:ext cx="694030" cy="694030"/>
          </a:xfrm>
          <a:prstGeom prst="ellipse">
            <a:avLst/>
          </a:prstGeom>
          <a:solidFill>
            <a:srgbClr val="E8553F"/>
          </a:solidFill>
          <a:ln w="12700">
            <a:solidFill>
              <a:srgbClr val="E8553F"/>
            </a:solidFill>
            <a:prstDash val="solid"/>
          </a:ln>
        </p:spPr>
      </p:sp>
      <p:sp>
        <p:nvSpPr>
          <p:cNvPr id="22" name="Text 19"/>
          <p:cNvSpPr txBox="1"/>
          <p:nvPr/>
        </p:nvSpPr>
        <p:spPr>
          <a:xfrm>
            <a:off x="9774936" y="6235294"/>
            <a:ext cx="694030" cy="694030"/>
          </a:xfrm>
          <a:prstGeom prst="rect">
            <a:avLst/>
          </a:prstGeom>
          <a:noFill/>
          <a:ln/>
        </p:spPr>
        <p:txBody>
          <a:bodyPr wrap="square" lIns="0" tIns="0" rIns="0" bIns="0" rtlCol="0" anchor="ctr"/>
          <a:lstStyle/>
          <a:p>
            <a:pPr algn="ctr" indent="0" marL="0">
              <a:buNone/>
            </a:pPr>
            <a:r>
              <a:rPr lang="en-US" sz="2350" b="1" dirty="0">
                <a:solidFill>
                  <a:srgbClr val="FFFFFF"/>
                </a:solidFill>
                <a:latin typeface="Arial" pitchFamily="34" charset="0"/>
                <a:ea typeface="Arial" pitchFamily="34" charset="-122"/>
                <a:cs typeface="Arial" pitchFamily="34" charset="-120"/>
              </a:rPr>
              <a:t>✕</a:t>
            </a:r>
            <a:endParaRPr lang="en-US" sz="2350" dirty="0"/>
          </a:p>
        </p:txBody>
      </p:sp>
      <p:sp>
        <p:nvSpPr>
          <p:cNvPr id="23" name="Text 20"/>
          <p:cNvSpPr txBox="1"/>
          <p:nvPr/>
        </p:nvSpPr>
        <p:spPr>
          <a:xfrm>
            <a:off x="10721340" y="6235294"/>
            <a:ext cx="5678424" cy="567842"/>
          </a:xfrm>
          <a:prstGeom prst="rect">
            <a:avLst/>
          </a:prstGeom>
          <a:noFill/>
          <a:ln/>
        </p:spPr>
        <p:txBody>
          <a:bodyPr wrap="square" lIns="0" tIns="0" rIns="0" bIns="0" rtlCol="0" anchor="ctr"/>
          <a:lstStyle/>
          <a:p>
            <a:pPr indent="0" marL="0">
              <a:buNone/>
            </a:pPr>
            <a:r>
              <a:rPr lang="en-US" sz="2620" b="1" dirty="0">
                <a:solidFill>
                  <a:srgbClr val="241028"/>
                </a:solidFill>
                <a:latin typeface="Arial" pitchFamily="34" charset="0"/>
                <a:ea typeface="Arial" pitchFamily="34" charset="-122"/>
                <a:cs typeface="Arial" pitchFamily="34" charset="-120"/>
              </a:rPr>
              <a:t>No es auditable</a:t>
            </a:r>
            <a:endParaRPr lang="en-US" sz="2620" dirty="0"/>
          </a:p>
        </p:txBody>
      </p:sp>
      <p:sp>
        <p:nvSpPr>
          <p:cNvPr id="24" name="Text 21"/>
          <p:cNvSpPr txBox="1"/>
          <p:nvPr/>
        </p:nvSpPr>
        <p:spPr>
          <a:xfrm>
            <a:off x="10721340" y="6866230"/>
            <a:ext cx="5678424" cy="1072591"/>
          </a:xfrm>
          <a:prstGeom prst="rect">
            <a:avLst/>
          </a:prstGeom>
          <a:noFill/>
          <a:ln/>
        </p:spPr>
        <p:txBody>
          <a:bodyPr wrap="square" lIns="0" tIns="0" rIns="0" bIns="0" rtlCol="0" anchor="t"/>
          <a:lstStyle/>
          <a:p>
            <a:pPr indent="0" marL="0">
              <a:lnSpc>
                <a:spcPct val="110000"/>
              </a:lnSpc>
              <a:buNone/>
            </a:pPr>
            <a:r>
              <a:rPr lang="en-US" sz="1860" dirty="0">
                <a:solidFill>
                  <a:srgbClr val="6E5C73"/>
                </a:solidFill>
                <a:latin typeface="Calibri" pitchFamily="34" charset="0"/>
                <a:ea typeface="Calibri" pitchFamily="34" charset="-122"/>
                <a:cs typeface="Calibri" pitchFamily="34" charset="-120"/>
              </a:rPr>
              <a:t>Cuando venga la auditoría a preguntar quién tiene acceso a qué: suerte.</a:t>
            </a:r>
            <a:endParaRPr lang="en-US" sz="1860" dirty="0"/>
          </a:p>
        </p:txBody>
      </p:sp>
      <p:sp>
        <p:nvSpPr>
          <p:cNvPr id="25" name="Text 22"/>
          <p:cNvSpPr txBox="1"/>
          <p:nvPr/>
        </p:nvSpPr>
        <p:spPr>
          <a:xfrm>
            <a:off x="1572768" y="8569757"/>
            <a:ext cx="15142464" cy="630936"/>
          </a:xfrm>
          <a:prstGeom prst="rect">
            <a:avLst/>
          </a:prstGeom>
          <a:noFill/>
          <a:ln/>
        </p:spPr>
        <p:txBody>
          <a:bodyPr wrap="square" lIns="0" tIns="0" rIns="0" bIns="0" rtlCol="0" anchor="ctr"/>
          <a:lstStyle/>
          <a:p>
            <a:pPr indent="0" marL="0">
              <a:buNone/>
            </a:pPr>
            <a:r>
              <a:rPr lang="en-US" sz="2070" i="1" dirty="0">
                <a:solidFill>
                  <a:srgbClr val="692179"/>
                </a:solidFill>
                <a:latin typeface="Calibri" pitchFamily="34" charset="0"/>
                <a:ea typeface="Calibri" pitchFamily="34" charset="-122"/>
                <a:cs typeface="Calibri" pitchFamily="34" charset="-120"/>
              </a:rPr>
              <a:t>Ninguno de estos cuatro problemas es un problema de infraestructura. Son problemas de ingeniería.</a:t>
            </a:r>
            <a:endParaRPr lang="en-US" sz="207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pic>
        <p:nvPicPr>
          <p:cNvPr id="2" name="Image 0" descr="/home/claude/bg-white.jpg">    </p:cNvPr>
          <p:cNvPicPr>
            <a:picLocks noChangeAspect="1"/>
          </p:cNvPicPr>
          <p:nvPr/>
        </p:nvPicPr>
        <p:blipFill>
          <a:blip r:embed="rId1"/>
          <a:stretch>
            <a:fillRect/>
          </a:stretch>
        </p:blipFill>
        <p:spPr>
          <a:xfrm>
            <a:off x="0" y="0"/>
            <a:ext cx="18288000" cy="10287000"/>
          </a:xfrm>
          <a:prstGeom prst="rect">
            <a:avLst/>
          </a:prstGeom>
        </p:spPr>
      </p:pic>
      <p:sp>
        <p:nvSpPr>
          <p:cNvPr id="3" name="Text 0"/>
          <p:cNvSpPr txBox="1"/>
          <p:nvPr/>
        </p:nvSpPr>
        <p:spPr>
          <a:xfrm>
            <a:off x="1572768" y="1024128"/>
            <a:ext cx="15142464" cy="404165"/>
          </a:xfrm>
          <a:prstGeom prst="rect">
            <a:avLst/>
          </a:prstGeom>
          <a:noFill/>
          <a:ln/>
        </p:spPr>
        <p:txBody>
          <a:bodyPr wrap="square" lIns="0" tIns="0" rIns="0" bIns="0" rtlCol="0" anchor="ctr"/>
          <a:lstStyle/>
          <a:p>
            <a:pPr indent="0" marL="0">
              <a:buNone/>
            </a:pPr>
            <a:r>
              <a:rPr lang="en-US" sz="1660" b="1" spc="345" kern="0" dirty="0">
                <a:solidFill>
                  <a:srgbClr val="692179"/>
                </a:solidFill>
                <a:latin typeface="Calibri" pitchFamily="34" charset="0"/>
                <a:ea typeface="Calibri" pitchFamily="34" charset="-122"/>
                <a:cs typeface="Calibri" pitchFamily="34" charset="-120"/>
              </a:rPr>
              <a:t>BLOQUE 1 · IAC</a:t>
            </a:r>
            <a:endParaRPr lang="en-US" sz="1660" dirty="0"/>
          </a:p>
        </p:txBody>
      </p:sp>
      <p:sp>
        <p:nvSpPr>
          <p:cNvPr id="4" name="Text 1"/>
          <p:cNvSpPr txBox="1"/>
          <p:nvPr/>
        </p:nvSpPr>
        <p:spPr>
          <a:xfrm>
            <a:off x="1572768" y="1440180"/>
            <a:ext cx="15142464" cy="1072591"/>
          </a:xfrm>
          <a:prstGeom prst="rect">
            <a:avLst/>
          </a:prstGeom>
          <a:noFill/>
          <a:ln/>
        </p:spPr>
        <p:txBody>
          <a:bodyPr wrap="square" lIns="0" tIns="0" rIns="0" bIns="0" rtlCol="0" anchor="ctr"/>
          <a:lstStyle/>
          <a:p>
            <a:pPr algn="l" indent="0" marL="0">
              <a:buNone/>
            </a:pPr>
            <a:r>
              <a:rPr lang="en-US" sz="4690" b="1" dirty="0">
                <a:solidFill>
                  <a:srgbClr val="241028"/>
                </a:solidFill>
                <a:latin typeface="Arial" pitchFamily="34" charset="0"/>
                <a:ea typeface="Arial" pitchFamily="34" charset="-122"/>
                <a:cs typeface="Arial" pitchFamily="34" charset="-120"/>
              </a:rPr>
              <a:t>Tú ya haces esto. Se llama CREATE TABLE.</a:t>
            </a:r>
            <a:endParaRPr lang="en-US" sz="4690" dirty="0"/>
          </a:p>
        </p:txBody>
      </p:sp>
      <p:sp>
        <p:nvSpPr>
          <p:cNvPr id="5" name="Shape 2"/>
          <p:cNvSpPr/>
          <p:nvPr/>
        </p:nvSpPr>
        <p:spPr>
          <a:xfrm>
            <a:off x="1572768" y="3080614"/>
            <a:ext cx="7381951" cy="4542739"/>
          </a:xfrm>
          <a:prstGeom prst="roundRect">
            <a:avLst>
              <a:gd name="adj" fmla="val 2778"/>
            </a:avLst>
          </a:prstGeom>
          <a:solidFill>
            <a:srgbClr val="F5ECF7"/>
          </a:solidFill>
          <a:ln w="12700">
            <a:solidFill>
              <a:srgbClr val="F5ECF7"/>
            </a:solidFill>
            <a:prstDash val="solid"/>
          </a:ln>
        </p:spPr>
      </p:sp>
      <p:sp>
        <p:nvSpPr>
          <p:cNvPr id="6" name="Text 3"/>
          <p:cNvSpPr txBox="1"/>
          <p:nvPr/>
        </p:nvSpPr>
        <p:spPr>
          <a:xfrm>
            <a:off x="2014423" y="3332988"/>
            <a:ext cx="6498641" cy="567842"/>
          </a:xfrm>
          <a:prstGeom prst="rect">
            <a:avLst/>
          </a:prstGeom>
          <a:noFill/>
          <a:ln/>
        </p:spPr>
        <p:txBody>
          <a:bodyPr wrap="square" lIns="0" tIns="0" rIns="0" bIns="0" rtlCol="0" anchor="ctr"/>
          <a:lstStyle/>
          <a:p>
            <a:pPr indent="0" marL="0">
              <a:buNone/>
            </a:pPr>
            <a:r>
              <a:rPr lang="en-US" sz="2210" b="1" dirty="0">
                <a:solidFill>
                  <a:srgbClr val="E8553F"/>
                </a:solidFill>
                <a:latin typeface="Arial" pitchFamily="34" charset="0"/>
                <a:ea typeface="Arial" pitchFamily="34" charset="-122"/>
                <a:cs typeface="Arial" pitchFamily="34" charset="-120"/>
              </a:rPr>
              <a:t>Lo que NUNCA harías con una tabla</a:t>
            </a:r>
            <a:endParaRPr lang="en-US" sz="2210" dirty="0"/>
          </a:p>
        </p:txBody>
      </p:sp>
      <p:sp>
        <p:nvSpPr>
          <p:cNvPr id="7" name="Text 4"/>
          <p:cNvSpPr txBox="1"/>
          <p:nvPr/>
        </p:nvSpPr>
        <p:spPr>
          <a:xfrm>
            <a:off x="2014423" y="4090111"/>
            <a:ext cx="6498641" cy="3280867"/>
          </a:xfrm>
          <a:prstGeom prst="rect">
            <a:avLst/>
          </a:prstGeom>
          <a:noFill/>
          <a:ln/>
        </p:spPr>
        <p:txBody>
          <a:bodyPr wrap="square" lIns="0" tIns="0" rIns="0" bIns="0" rtlCol="0" anchor="t"/>
          <a:lstStyle/>
          <a:p>
            <a:pPr marL="342900" indent="-342900">
              <a:spcAft>
                <a:spcPts val="1700"/>
              </a:spcAft>
              <a:buSzPct val="100000"/>
              <a:buChar char="•"/>
            </a:pPr>
            <a:r>
              <a:rPr lang="en-US" sz="2070" dirty="0">
                <a:solidFill>
                  <a:srgbClr val="241028"/>
                </a:solidFill>
                <a:latin typeface="Calibri" pitchFamily="34" charset="0"/>
                <a:ea typeface="Calibri" pitchFamily="34" charset="-122"/>
                <a:cs typeface="Calibri" pitchFamily="34" charset="-120"/>
              </a:rPr>
              <a:t>Crearla a mano en el portal, columna a columna</a:t>
            </a:r>
            <a:endParaRPr lang="en-US" sz="2070" dirty="0"/>
          </a:p>
          <a:p>
            <a:pPr marL="342900" indent="-342900">
              <a:spcAft>
                <a:spcPts val="1700"/>
              </a:spcAft>
              <a:buSzPct val="100000"/>
              <a:buChar char="•"/>
            </a:pPr>
            <a:r>
              <a:rPr lang="en-US" sz="2070" dirty="0">
                <a:solidFill>
                  <a:srgbClr val="241028"/>
                </a:solidFill>
                <a:latin typeface="Calibri" pitchFamily="34" charset="0"/>
                <a:ea typeface="Calibri" pitchFamily="34" charset="-122"/>
                <a:cs typeface="Calibri" pitchFamily="34" charset="-120"/>
              </a:rPr>
              <a:t>Documentar los tipos de datos en un Word</a:t>
            </a:r>
            <a:endParaRPr lang="en-US" sz="2070" dirty="0"/>
          </a:p>
          <a:p>
            <a:pPr marL="342900" indent="-342900">
              <a:spcAft>
                <a:spcPts val="1700"/>
              </a:spcAft>
              <a:buSzPct val="100000"/>
              <a:buChar char="•"/>
            </a:pPr>
            <a:r>
              <a:rPr lang="en-US" sz="2070" dirty="0">
                <a:solidFill>
                  <a:srgbClr val="241028"/>
                </a:solidFill>
                <a:latin typeface="Calibri" pitchFamily="34" charset="0"/>
                <a:ea typeface="Calibri" pitchFamily="34" charset="-122"/>
                <a:cs typeface="Calibri" pitchFamily="34" charset="-120"/>
              </a:rPr>
              <a:t>Repetir el proceso en DEV, TEST, QA y PRO</a:t>
            </a:r>
            <a:endParaRPr lang="en-US" sz="2070" dirty="0"/>
          </a:p>
          <a:p>
            <a:pPr marL="342900" indent="-342900">
              <a:spcAft>
                <a:spcPts val="1700"/>
              </a:spcAft>
              <a:buSzPct val="100000"/>
              <a:buChar char="•"/>
            </a:pPr>
            <a:r>
              <a:rPr lang="en-US" sz="2070" dirty="0">
                <a:solidFill>
                  <a:srgbClr val="241028"/>
                </a:solidFill>
                <a:latin typeface="Calibri" pitchFamily="34" charset="0"/>
                <a:ea typeface="Calibri" pitchFamily="34" charset="-122"/>
                <a:cs typeface="Calibri" pitchFamily="34" charset="-120"/>
              </a:rPr>
              <a:t>Rezar para que las cuatro sean iguales</a:t>
            </a:r>
            <a:endParaRPr lang="en-US" sz="2070" dirty="0"/>
          </a:p>
        </p:txBody>
      </p:sp>
      <p:sp>
        <p:nvSpPr>
          <p:cNvPr id="8" name="Shape 5"/>
          <p:cNvSpPr/>
          <p:nvPr/>
        </p:nvSpPr>
        <p:spPr>
          <a:xfrm>
            <a:off x="9396374" y="3080614"/>
            <a:ext cx="7318858" cy="4542739"/>
          </a:xfrm>
          <a:prstGeom prst="roundRect">
            <a:avLst>
              <a:gd name="adj" fmla="val 2778"/>
            </a:avLst>
          </a:prstGeom>
          <a:solidFill>
            <a:srgbClr val="2A0E33"/>
          </a:solidFill>
          <a:ln w="12700">
            <a:solidFill>
              <a:srgbClr val="2A0E33"/>
            </a:solidFill>
            <a:prstDash val="solid"/>
          </a:ln>
        </p:spPr>
      </p:sp>
      <p:sp>
        <p:nvSpPr>
          <p:cNvPr id="9" name="Text 6"/>
          <p:cNvSpPr txBox="1"/>
          <p:nvPr/>
        </p:nvSpPr>
        <p:spPr>
          <a:xfrm>
            <a:off x="9838030" y="3332988"/>
            <a:ext cx="6435547" cy="567842"/>
          </a:xfrm>
          <a:prstGeom prst="rect">
            <a:avLst/>
          </a:prstGeom>
          <a:noFill/>
          <a:ln/>
        </p:spPr>
        <p:txBody>
          <a:bodyPr wrap="square" lIns="0" tIns="0" rIns="0" bIns="0" rtlCol="0" anchor="ctr"/>
          <a:lstStyle/>
          <a:p>
            <a:pPr indent="0" marL="0">
              <a:buNone/>
            </a:pPr>
            <a:r>
              <a:rPr lang="en-US" sz="2210" b="1" dirty="0">
                <a:solidFill>
                  <a:srgbClr val="2BB5A0"/>
                </a:solidFill>
                <a:latin typeface="Arial" pitchFamily="34" charset="0"/>
                <a:ea typeface="Arial" pitchFamily="34" charset="-122"/>
                <a:cs typeface="Arial" pitchFamily="34" charset="-120"/>
              </a:rPr>
              <a:t>Lo que haces de verdad</a:t>
            </a:r>
            <a:endParaRPr lang="en-US" sz="2210" dirty="0"/>
          </a:p>
        </p:txBody>
      </p:sp>
      <p:sp>
        <p:nvSpPr>
          <p:cNvPr id="10" name="Shape 7"/>
          <p:cNvSpPr/>
          <p:nvPr/>
        </p:nvSpPr>
        <p:spPr>
          <a:xfrm>
            <a:off x="9838030" y="4027018"/>
            <a:ext cx="6435547" cy="1955902"/>
          </a:xfrm>
          <a:prstGeom prst="roundRect">
            <a:avLst>
              <a:gd name="adj" fmla="val 5143"/>
            </a:avLst>
          </a:prstGeom>
          <a:solidFill>
            <a:srgbClr val="210A2E"/>
          </a:solidFill>
          <a:ln w="12700">
            <a:solidFill>
              <a:srgbClr val="210A2E"/>
            </a:solidFill>
            <a:prstDash val="solid"/>
          </a:ln>
        </p:spPr>
      </p:sp>
      <p:sp>
        <p:nvSpPr>
          <p:cNvPr id="11" name="Text 8"/>
          <p:cNvSpPr txBox="1"/>
          <p:nvPr/>
        </p:nvSpPr>
        <p:spPr>
          <a:xfrm>
            <a:off x="10116007" y="4229100"/>
            <a:ext cx="5880506" cy="1551737"/>
          </a:xfrm>
          <a:prstGeom prst="rect">
            <a:avLst/>
          </a:prstGeom>
          <a:noFill/>
          <a:ln/>
        </p:spPr>
        <p:txBody>
          <a:bodyPr wrap="square" lIns="0" tIns="0" rIns="0" bIns="0" rtlCol="0" anchor="t"/>
          <a:lstStyle/>
          <a:p>
            <a:pPr algn="l" indent="0" marL="0">
              <a:lnSpc>
                <a:spcPct val="112000"/>
              </a:lnSpc>
              <a:buNone/>
            </a:pPr>
            <a:r>
              <a:rPr lang="en-US" sz="1660" dirty="0">
                <a:solidFill>
                  <a:srgbClr val="EFE6F2"/>
                </a:solidFill>
                <a:latin typeface="Courier New" pitchFamily="34" charset="0"/>
                <a:ea typeface="Courier New" pitchFamily="34" charset="-122"/>
                <a:cs typeface="Courier New" pitchFamily="34" charset="-120"/>
              </a:rPr>
              <a:t>CREATE</a:t>
            </a:r>
            <a:pPr algn="l" indent="0" marL="0">
              <a:lnSpc>
                <a:spcPct val="112000"/>
              </a:lnSpc>
              <a:buNone/>
            </a:pPr>
            <a:r>
              <a:rPr lang="en-US" sz="1660" dirty="0">
                <a:solidFill>
                  <a:srgbClr val="C77BD6"/>
                </a:solidFill>
                <a:latin typeface="Courier New" pitchFamily="34" charset="0"/>
                <a:ea typeface="Courier New" pitchFamily="34" charset="-122"/>
                <a:cs typeface="Courier New" pitchFamily="34" charset="-120"/>
              </a:rPr>
              <a:t> </a:t>
            </a:r>
            <a:pPr algn="l" indent="0" marL="0">
              <a:lnSpc>
                <a:spcPct val="112000"/>
              </a:lnSpc>
              <a:buNone/>
            </a:pPr>
            <a:r>
              <a:rPr lang="en-US" sz="1660" dirty="0">
                <a:solidFill>
                  <a:srgbClr val="EFE6F2"/>
                </a:solidFill>
                <a:latin typeface="Courier New" pitchFamily="34" charset="0"/>
                <a:ea typeface="Courier New" pitchFamily="34" charset="-122"/>
                <a:cs typeface="Courier New" pitchFamily="34" charset="-120"/>
              </a:rPr>
              <a:t>TABLE</a:t>
            </a:r>
            <a:pPr algn="l" indent="0" marL="0">
              <a:lnSpc>
                <a:spcPct val="112000"/>
              </a:lnSpc>
              <a:buNone/>
            </a:pPr>
            <a:r>
              <a:rPr lang="en-US" sz="1660" dirty="0">
                <a:solidFill>
                  <a:srgbClr val="C77BD6"/>
                </a:solidFill>
                <a:latin typeface="Courier New" pitchFamily="34" charset="0"/>
                <a:ea typeface="Courier New" pitchFamily="34" charset="-122"/>
                <a:cs typeface="Courier New" pitchFamily="34" charset="-120"/>
              </a:rPr>
              <a:t> </a:t>
            </a:r>
            <a:pPr algn="l" indent="0" marL="0">
              <a:lnSpc>
                <a:spcPct val="112000"/>
              </a:lnSpc>
              <a:buNone/>
            </a:pPr>
            <a:r>
              <a:rPr lang="en-US" sz="1660" dirty="0">
                <a:solidFill>
                  <a:srgbClr val="EFE6F2"/>
                </a:solidFill>
                <a:latin typeface="Courier New" pitchFamily="34" charset="0"/>
                <a:ea typeface="Courier New" pitchFamily="34" charset="-122"/>
                <a:cs typeface="Courier New" pitchFamily="34" charset="-120"/>
              </a:rPr>
              <a:t>ventas</a:t>
            </a:r>
            <a:pPr algn="l" indent="0" marL="0">
              <a:lnSpc>
                <a:spcPct val="112000"/>
              </a:lnSpc>
              <a:buNone/>
            </a:pPr>
            <a:r>
              <a:rPr lang="en-US" sz="1660" dirty="0">
                <a:solidFill>
                  <a:srgbClr val="C77BD6"/>
                </a:solidFill>
                <a:latin typeface="Courier New" pitchFamily="34" charset="0"/>
                <a:ea typeface="Courier New" pitchFamily="34" charset="-122"/>
                <a:cs typeface="Courier New" pitchFamily="34" charset="-120"/>
              </a:rPr>
              <a:t> </a:t>
            </a:r>
            <a:pPr algn="l" indent="0" marL="0">
              <a:lnSpc>
                <a:spcPct val="112000"/>
              </a:lnSpc>
              <a:buNone/>
            </a:pPr>
            <a:r>
              <a:rPr lang="en-US" sz="1660" dirty="0">
                <a:solidFill>
                  <a:srgbClr val="C77BD6"/>
                </a:solidFill>
                <a:latin typeface="Courier New" pitchFamily="34" charset="0"/>
                <a:ea typeface="Courier New" pitchFamily="34" charset="-122"/>
                <a:cs typeface="Courier New" pitchFamily="34" charset="-120"/>
              </a:rPr>
              <a:t>(</a:t>
            </a:r>
            <a:endParaRPr lang="en-US" sz="1660" dirty="0"/>
          </a:p>
          <a:p>
            <a:pPr algn="l" indent="0" marL="0">
              <a:lnSpc>
                <a:spcPct val="112000"/>
              </a:lnSpc>
              <a:buNone/>
            </a:pPr>
            <a:r>
              <a:rPr lang="en-US" sz="1660" dirty="0">
                <a:solidFill>
                  <a:srgbClr val="C77BD6"/>
                </a:solidFill>
                <a:latin typeface="Courier New" pitchFamily="34" charset="0"/>
                <a:ea typeface="Courier New" pitchFamily="34" charset="-122"/>
                <a:cs typeface="Courier New" pitchFamily="34" charset="-120"/>
              </a:rPr>
              <a:t>  </a:t>
            </a:r>
            <a:pPr algn="l" indent="0" marL="0">
              <a:lnSpc>
                <a:spcPct val="112000"/>
              </a:lnSpc>
              <a:buNone/>
            </a:pPr>
            <a:r>
              <a:rPr lang="en-US" sz="1660" dirty="0">
                <a:solidFill>
                  <a:srgbClr val="EFE6F2"/>
                </a:solidFill>
                <a:latin typeface="Courier New" pitchFamily="34" charset="0"/>
                <a:ea typeface="Courier New" pitchFamily="34" charset="-122"/>
                <a:cs typeface="Courier New" pitchFamily="34" charset="-120"/>
              </a:rPr>
              <a:t>id</a:t>
            </a:r>
            <a:pPr algn="l" indent="0" marL="0">
              <a:lnSpc>
                <a:spcPct val="112000"/>
              </a:lnSpc>
              <a:buNone/>
            </a:pPr>
            <a:r>
              <a:rPr lang="en-US" sz="1660" dirty="0">
                <a:solidFill>
                  <a:srgbClr val="C77BD6"/>
                </a:solidFill>
                <a:latin typeface="Courier New" pitchFamily="34" charset="0"/>
                <a:ea typeface="Courier New" pitchFamily="34" charset="-122"/>
                <a:cs typeface="Courier New" pitchFamily="34" charset="-120"/>
              </a:rPr>
              <a:t>        </a:t>
            </a:r>
            <a:pPr algn="l" indent="0" marL="0">
              <a:lnSpc>
                <a:spcPct val="112000"/>
              </a:lnSpc>
              <a:buNone/>
            </a:pPr>
            <a:r>
              <a:rPr lang="en-US" sz="1660" dirty="0">
                <a:solidFill>
                  <a:srgbClr val="EFE6F2"/>
                </a:solidFill>
                <a:latin typeface="Courier New" pitchFamily="34" charset="0"/>
                <a:ea typeface="Courier New" pitchFamily="34" charset="-122"/>
                <a:cs typeface="Courier New" pitchFamily="34" charset="-120"/>
              </a:rPr>
              <a:t>INT</a:t>
            </a:r>
            <a:pPr algn="l" indent="0" marL="0">
              <a:lnSpc>
                <a:spcPct val="112000"/>
              </a:lnSpc>
              <a:buNone/>
            </a:pPr>
            <a:r>
              <a:rPr lang="en-US" sz="1660" dirty="0">
                <a:solidFill>
                  <a:srgbClr val="C77BD6"/>
                </a:solidFill>
                <a:latin typeface="Courier New" pitchFamily="34" charset="0"/>
                <a:ea typeface="Courier New" pitchFamily="34" charset="-122"/>
                <a:cs typeface="Courier New" pitchFamily="34" charset="-120"/>
              </a:rPr>
              <a:t>,</a:t>
            </a:r>
            <a:endParaRPr lang="en-US" sz="1660" dirty="0"/>
          </a:p>
          <a:p>
            <a:pPr algn="l" indent="0" marL="0">
              <a:lnSpc>
                <a:spcPct val="112000"/>
              </a:lnSpc>
              <a:buNone/>
            </a:pPr>
            <a:r>
              <a:rPr lang="en-US" sz="1660" dirty="0">
                <a:solidFill>
                  <a:srgbClr val="C77BD6"/>
                </a:solidFill>
                <a:latin typeface="Courier New" pitchFamily="34" charset="0"/>
                <a:ea typeface="Courier New" pitchFamily="34" charset="-122"/>
                <a:cs typeface="Courier New" pitchFamily="34" charset="-120"/>
              </a:rPr>
              <a:t>  </a:t>
            </a:r>
            <a:pPr algn="l" indent="0" marL="0">
              <a:lnSpc>
                <a:spcPct val="112000"/>
              </a:lnSpc>
              <a:buNone/>
            </a:pPr>
            <a:r>
              <a:rPr lang="en-US" sz="1660" dirty="0">
                <a:solidFill>
                  <a:srgbClr val="EFE6F2"/>
                </a:solidFill>
                <a:latin typeface="Courier New" pitchFamily="34" charset="0"/>
                <a:ea typeface="Courier New" pitchFamily="34" charset="-122"/>
                <a:cs typeface="Courier New" pitchFamily="34" charset="-120"/>
              </a:rPr>
              <a:t>fecha</a:t>
            </a:r>
            <a:pPr algn="l" indent="0" marL="0">
              <a:lnSpc>
                <a:spcPct val="112000"/>
              </a:lnSpc>
              <a:buNone/>
            </a:pPr>
            <a:r>
              <a:rPr lang="en-US" sz="1660" dirty="0">
                <a:solidFill>
                  <a:srgbClr val="C77BD6"/>
                </a:solidFill>
                <a:latin typeface="Courier New" pitchFamily="34" charset="0"/>
                <a:ea typeface="Courier New" pitchFamily="34" charset="-122"/>
                <a:cs typeface="Courier New" pitchFamily="34" charset="-120"/>
              </a:rPr>
              <a:t>     </a:t>
            </a:r>
            <a:pPr algn="l" indent="0" marL="0">
              <a:lnSpc>
                <a:spcPct val="112000"/>
              </a:lnSpc>
              <a:buNone/>
            </a:pPr>
            <a:r>
              <a:rPr lang="en-US" sz="1660" dirty="0">
                <a:solidFill>
                  <a:srgbClr val="EFE6F2"/>
                </a:solidFill>
                <a:latin typeface="Courier New" pitchFamily="34" charset="0"/>
                <a:ea typeface="Courier New" pitchFamily="34" charset="-122"/>
                <a:cs typeface="Courier New" pitchFamily="34" charset="-120"/>
              </a:rPr>
              <a:t>DATE</a:t>
            </a:r>
            <a:pPr algn="l" indent="0" marL="0">
              <a:lnSpc>
                <a:spcPct val="112000"/>
              </a:lnSpc>
              <a:buNone/>
            </a:pPr>
            <a:r>
              <a:rPr lang="en-US" sz="1660" dirty="0">
                <a:solidFill>
                  <a:srgbClr val="C77BD6"/>
                </a:solidFill>
                <a:latin typeface="Courier New" pitchFamily="34" charset="0"/>
                <a:ea typeface="Courier New" pitchFamily="34" charset="-122"/>
                <a:cs typeface="Courier New" pitchFamily="34" charset="-120"/>
              </a:rPr>
              <a:t>,</a:t>
            </a:r>
            <a:endParaRPr lang="en-US" sz="1660" dirty="0"/>
          </a:p>
          <a:p>
            <a:pPr algn="l" indent="0" marL="0">
              <a:lnSpc>
                <a:spcPct val="112000"/>
              </a:lnSpc>
              <a:buNone/>
            </a:pPr>
            <a:r>
              <a:rPr lang="en-US" sz="1660" dirty="0">
                <a:solidFill>
                  <a:srgbClr val="C77BD6"/>
                </a:solidFill>
                <a:latin typeface="Courier New" pitchFamily="34" charset="0"/>
                <a:ea typeface="Courier New" pitchFamily="34" charset="-122"/>
                <a:cs typeface="Courier New" pitchFamily="34" charset="-120"/>
              </a:rPr>
              <a:t>  </a:t>
            </a:r>
            <a:pPr algn="l" indent="0" marL="0">
              <a:lnSpc>
                <a:spcPct val="112000"/>
              </a:lnSpc>
              <a:buNone/>
            </a:pPr>
            <a:r>
              <a:rPr lang="en-US" sz="1660" dirty="0">
                <a:solidFill>
                  <a:srgbClr val="EFE6F2"/>
                </a:solidFill>
                <a:latin typeface="Courier New" pitchFamily="34" charset="0"/>
                <a:ea typeface="Courier New" pitchFamily="34" charset="-122"/>
                <a:cs typeface="Courier New" pitchFamily="34" charset="-120"/>
              </a:rPr>
              <a:t>importe</a:t>
            </a:r>
            <a:pPr algn="l" indent="0" marL="0">
              <a:lnSpc>
                <a:spcPct val="112000"/>
              </a:lnSpc>
              <a:buNone/>
            </a:pPr>
            <a:r>
              <a:rPr lang="en-US" sz="1660" dirty="0">
                <a:solidFill>
                  <a:srgbClr val="C77BD6"/>
                </a:solidFill>
                <a:latin typeface="Courier New" pitchFamily="34" charset="0"/>
                <a:ea typeface="Courier New" pitchFamily="34" charset="-122"/>
                <a:cs typeface="Courier New" pitchFamily="34" charset="-120"/>
              </a:rPr>
              <a:t>   </a:t>
            </a:r>
            <a:pPr algn="l" indent="0" marL="0">
              <a:lnSpc>
                <a:spcPct val="112000"/>
              </a:lnSpc>
              <a:buNone/>
            </a:pPr>
            <a:r>
              <a:rPr lang="en-US" sz="1660" dirty="0">
                <a:solidFill>
                  <a:srgbClr val="EFE6F2"/>
                </a:solidFill>
                <a:latin typeface="Courier New" pitchFamily="34" charset="0"/>
                <a:ea typeface="Courier New" pitchFamily="34" charset="-122"/>
                <a:cs typeface="Courier New" pitchFamily="34" charset="-120"/>
              </a:rPr>
              <a:t>DECIMAL</a:t>
            </a:r>
            <a:pPr algn="l" indent="0" marL="0">
              <a:lnSpc>
                <a:spcPct val="112000"/>
              </a:lnSpc>
              <a:buNone/>
            </a:pPr>
            <a:r>
              <a:rPr lang="en-US" sz="1660" dirty="0">
                <a:solidFill>
                  <a:srgbClr val="C77BD6"/>
                </a:solidFill>
                <a:latin typeface="Courier New" pitchFamily="34" charset="0"/>
                <a:ea typeface="Courier New" pitchFamily="34" charset="-122"/>
                <a:cs typeface="Courier New" pitchFamily="34" charset="-120"/>
              </a:rPr>
              <a:t>(</a:t>
            </a:r>
            <a:pPr algn="l" indent="0" marL="0">
              <a:lnSpc>
                <a:spcPct val="112000"/>
              </a:lnSpc>
              <a:buNone/>
            </a:pPr>
            <a:r>
              <a:rPr lang="en-US" sz="1660" dirty="0">
                <a:solidFill>
                  <a:srgbClr val="F5C06A"/>
                </a:solidFill>
                <a:latin typeface="Courier New" pitchFamily="34" charset="0"/>
                <a:ea typeface="Courier New" pitchFamily="34" charset="-122"/>
                <a:cs typeface="Courier New" pitchFamily="34" charset="-120"/>
              </a:rPr>
              <a:t>10</a:t>
            </a:r>
            <a:pPr algn="l" indent="0" marL="0">
              <a:lnSpc>
                <a:spcPct val="112000"/>
              </a:lnSpc>
              <a:buNone/>
            </a:pPr>
            <a:r>
              <a:rPr lang="en-US" sz="1660" dirty="0">
                <a:solidFill>
                  <a:srgbClr val="C77BD6"/>
                </a:solidFill>
                <a:latin typeface="Courier New" pitchFamily="34" charset="0"/>
                <a:ea typeface="Courier New" pitchFamily="34" charset="-122"/>
                <a:cs typeface="Courier New" pitchFamily="34" charset="-120"/>
              </a:rPr>
              <a:t>,</a:t>
            </a:r>
            <a:pPr algn="l" indent="0" marL="0">
              <a:lnSpc>
                <a:spcPct val="112000"/>
              </a:lnSpc>
              <a:buNone/>
            </a:pPr>
            <a:r>
              <a:rPr lang="en-US" sz="1660" dirty="0">
                <a:solidFill>
                  <a:srgbClr val="F5C06A"/>
                </a:solidFill>
                <a:latin typeface="Courier New" pitchFamily="34" charset="0"/>
                <a:ea typeface="Courier New" pitchFamily="34" charset="-122"/>
                <a:cs typeface="Courier New" pitchFamily="34" charset="-120"/>
              </a:rPr>
              <a:t>2</a:t>
            </a:r>
            <a:pPr algn="l" indent="0" marL="0">
              <a:lnSpc>
                <a:spcPct val="112000"/>
              </a:lnSpc>
              <a:buNone/>
            </a:pPr>
            <a:r>
              <a:rPr lang="en-US" sz="1660" dirty="0">
                <a:solidFill>
                  <a:srgbClr val="C77BD6"/>
                </a:solidFill>
                <a:latin typeface="Courier New" pitchFamily="34" charset="0"/>
                <a:ea typeface="Courier New" pitchFamily="34" charset="-122"/>
                <a:cs typeface="Courier New" pitchFamily="34" charset="-120"/>
              </a:rPr>
              <a:t>)</a:t>
            </a:r>
            <a:endParaRPr lang="en-US" sz="1660" dirty="0"/>
          </a:p>
          <a:p>
            <a:pPr algn="l" indent="0" marL="0">
              <a:lnSpc>
                <a:spcPct val="112000"/>
              </a:lnSpc>
              <a:buNone/>
            </a:pPr>
            <a:r>
              <a:rPr lang="en-US" sz="1660" dirty="0">
                <a:solidFill>
                  <a:srgbClr val="C77BD6"/>
                </a:solidFill>
                <a:latin typeface="Courier New" pitchFamily="34" charset="0"/>
                <a:ea typeface="Courier New" pitchFamily="34" charset="-122"/>
                <a:cs typeface="Courier New" pitchFamily="34" charset="-120"/>
              </a:rPr>
              <a:t>);</a:t>
            </a:r>
            <a:endParaRPr lang="en-US" sz="1660" dirty="0"/>
          </a:p>
        </p:txBody>
      </p:sp>
      <p:sp>
        <p:nvSpPr>
          <p:cNvPr id="12" name="Text 9"/>
          <p:cNvSpPr txBox="1"/>
          <p:nvPr/>
        </p:nvSpPr>
        <p:spPr>
          <a:xfrm>
            <a:off x="9838030" y="6172200"/>
            <a:ext cx="6435547" cy="1261872"/>
          </a:xfrm>
          <a:prstGeom prst="rect">
            <a:avLst/>
          </a:prstGeom>
          <a:noFill/>
          <a:ln/>
        </p:spPr>
        <p:txBody>
          <a:bodyPr wrap="square" lIns="0" tIns="0" rIns="0" bIns="0" rtlCol="0" anchor="t"/>
          <a:lstStyle/>
          <a:p>
            <a:pPr marL="342900" indent="-342900">
              <a:spcAft>
                <a:spcPts val="700"/>
              </a:spcAft>
              <a:buSzPct val="100000"/>
              <a:buChar char="•"/>
            </a:pPr>
            <a:r>
              <a:rPr lang="en-US" sz="1790" dirty="0">
                <a:solidFill>
                  <a:srgbClr val="EFE6F2"/>
                </a:solidFill>
                <a:latin typeface="Calibri" pitchFamily="34" charset="0"/>
                <a:ea typeface="Calibri" pitchFamily="34" charset="-122"/>
                <a:cs typeface="Calibri" pitchFamily="34" charset="-120"/>
              </a:rPr>
              <a:t>Está en un .sql</a:t>
            </a:r>
            <a:endParaRPr lang="en-US" sz="1790" dirty="0"/>
          </a:p>
          <a:p>
            <a:pPr marL="342900" indent="-342900">
              <a:spcAft>
                <a:spcPts val="700"/>
              </a:spcAft>
              <a:buSzPct val="100000"/>
              <a:buChar char="•"/>
            </a:pPr>
            <a:r>
              <a:rPr lang="en-US" sz="1790" dirty="0">
                <a:solidFill>
                  <a:srgbClr val="EFE6F2"/>
                </a:solidFill>
                <a:latin typeface="Calibri" pitchFamily="34" charset="0"/>
                <a:ea typeface="Calibri" pitchFamily="34" charset="-122"/>
                <a:cs typeface="Calibri" pitchFamily="34" charset="-120"/>
              </a:rPr>
              <a:t>Está en git</a:t>
            </a:r>
            <a:endParaRPr lang="en-US" sz="1790" dirty="0"/>
          </a:p>
          <a:p>
            <a:pPr marL="342900" indent="-342900">
              <a:spcAft>
                <a:spcPts val="700"/>
              </a:spcAft>
              <a:buSzPct val="100000"/>
              <a:buChar char="•"/>
            </a:pPr>
            <a:r>
              <a:rPr lang="en-US" sz="1790" dirty="0">
                <a:solidFill>
                  <a:srgbClr val="EFE6F2"/>
                </a:solidFill>
                <a:latin typeface="Calibri" pitchFamily="34" charset="0"/>
                <a:ea typeface="Calibri" pitchFamily="34" charset="-122"/>
                <a:cs typeface="Calibri" pitchFamily="34" charset="-120"/>
              </a:rPr>
              <a:t>Se ejecuta igual en los cuatro entornos</a:t>
            </a:r>
            <a:endParaRPr lang="en-US" sz="1790" dirty="0"/>
          </a:p>
        </p:txBody>
      </p:sp>
      <p:sp>
        <p:nvSpPr>
          <p:cNvPr id="13" name="Shape 10"/>
          <p:cNvSpPr/>
          <p:nvPr/>
        </p:nvSpPr>
        <p:spPr>
          <a:xfrm>
            <a:off x="1572768" y="7938821"/>
            <a:ext cx="15142464" cy="1261872"/>
          </a:xfrm>
          <a:prstGeom prst="roundRect">
            <a:avLst>
              <a:gd name="adj" fmla="val 10000"/>
            </a:avLst>
          </a:prstGeom>
          <a:solidFill>
            <a:srgbClr val="692179"/>
          </a:solidFill>
          <a:ln w="12700">
            <a:solidFill>
              <a:srgbClr val="692179"/>
            </a:solidFill>
            <a:prstDash val="solid"/>
          </a:ln>
        </p:spPr>
      </p:sp>
      <p:sp>
        <p:nvSpPr>
          <p:cNvPr id="14" name="Text 11"/>
          <p:cNvSpPr txBox="1"/>
          <p:nvPr/>
        </p:nvSpPr>
        <p:spPr>
          <a:xfrm>
            <a:off x="2077517" y="7938821"/>
            <a:ext cx="14132966" cy="1261872"/>
          </a:xfrm>
          <a:prstGeom prst="rect">
            <a:avLst/>
          </a:prstGeom>
          <a:noFill/>
          <a:ln/>
        </p:spPr>
        <p:txBody>
          <a:bodyPr wrap="square" lIns="0" tIns="0" rIns="0" bIns="0" rtlCol="0" anchor="ctr"/>
          <a:lstStyle/>
          <a:p>
            <a:pPr indent="0" marL="0">
              <a:buNone/>
            </a:pPr>
            <a:r>
              <a:rPr lang="en-US" sz="2620" b="1" dirty="0">
                <a:solidFill>
                  <a:srgbClr val="FFFFFF"/>
                </a:solidFill>
                <a:latin typeface="Arial" pitchFamily="34" charset="0"/>
                <a:ea typeface="Arial" pitchFamily="34" charset="-122"/>
                <a:cs typeface="Arial" pitchFamily="34" charset="-120"/>
              </a:rPr>
              <a:t>IaC es exactamente lo mismo — pero el objeto que creas es el workspace, no la tabla.</a:t>
            </a:r>
            <a:endParaRPr lang="en-US" sz="262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pic>
        <p:nvPicPr>
          <p:cNvPr id="2" name="Image 0" descr="/home/claude/bg-dark.jpg">    </p:cNvPr>
          <p:cNvPicPr>
            <a:picLocks noChangeAspect="1"/>
          </p:cNvPicPr>
          <p:nvPr/>
        </p:nvPicPr>
        <p:blipFill>
          <a:blip r:embed="rId1"/>
          <a:stretch>
            <a:fillRect/>
          </a:stretch>
        </p:blipFill>
        <p:spPr>
          <a:xfrm>
            <a:off x="0" y="0"/>
            <a:ext cx="18288000" cy="10287000"/>
          </a:xfrm>
          <a:prstGeom prst="rect">
            <a:avLst/>
          </a:prstGeom>
        </p:spPr>
      </p:pic>
      <p:sp>
        <p:nvSpPr>
          <p:cNvPr id="3" name="Text 0"/>
          <p:cNvSpPr txBox="1"/>
          <p:nvPr/>
        </p:nvSpPr>
        <p:spPr>
          <a:xfrm>
            <a:off x="1572768" y="1024128"/>
            <a:ext cx="15142464" cy="404165"/>
          </a:xfrm>
          <a:prstGeom prst="rect">
            <a:avLst/>
          </a:prstGeom>
          <a:noFill/>
          <a:ln/>
        </p:spPr>
        <p:txBody>
          <a:bodyPr wrap="square" lIns="0" tIns="0" rIns="0" bIns="0" rtlCol="0" anchor="ctr"/>
          <a:lstStyle/>
          <a:p>
            <a:pPr indent="0" marL="0">
              <a:buNone/>
            </a:pPr>
            <a:r>
              <a:rPr lang="en-US" sz="1660" b="1" spc="345" kern="0" dirty="0">
                <a:solidFill>
                  <a:srgbClr val="F59120"/>
                </a:solidFill>
                <a:latin typeface="Calibri" pitchFamily="34" charset="0"/>
                <a:ea typeface="Calibri" pitchFamily="34" charset="-122"/>
                <a:cs typeface="Calibri" pitchFamily="34" charset="-120"/>
              </a:rPr>
              <a:t>BLOQUE 1 · IAC</a:t>
            </a:r>
            <a:endParaRPr lang="en-US" sz="1660" dirty="0"/>
          </a:p>
        </p:txBody>
      </p:sp>
      <p:sp>
        <p:nvSpPr>
          <p:cNvPr id="4" name="Text 1"/>
          <p:cNvSpPr txBox="1"/>
          <p:nvPr/>
        </p:nvSpPr>
        <p:spPr>
          <a:xfrm>
            <a:off x="1572768" y="1440180"/>
            <a:ext cx="15142464" cy="1072591"/>
          </a:xfrm>
          <a:prstGeom prst="rect">
            <a:avLst/>
          </a:prstGeom>
          <a:noFill/>
          <a:ln/>
        </p:spPr>
        <p:txBody>
          <a:bodyPr wrap="square" lIns="0" tIns="0" rIns="0" bIns="0" rtlCol="0" anchor="ctr"/>
          <a:lstStyle/>
          <a:p>
            <a:pPr algn="l" indent="0" marL="0">
              <a:buNone/>
            </a:pPr>
            <a:r>
              <a:rPr lang="en-US" sz="4690" b="1" dirty="0">
                <a:solidFill>
                  <a:srgbClr val="FFFFFF"/>
                </a:solidFill>
                <a:latin typeface="Arial" pitchFamily="34" charset="0"/>
                <a:ea typeface="Arial" pitchFamily="34" charset="-122"/>
                <a:cs typeface="Arial" pitchFamily="34" charset="-120"/>
              </a:rPr>
              <a:t>Infrastructure as Code, por fin</a:t>
            </a:r>
            <a:endParaRPr lang="en-US" sz="4690" dirty="0"/>
          </a:p>
        </p:txBody>
      </p:sp>
      <p:sp>
        <p:nvSpPr>
          <p:cNvPr id="5" name="Shape 2"/>
          <p:cNvSpPr/>
          <p:nvPr/>
        </p:nvSpPr>
        <p:spPr>
          <a:xfrm>
            <a:off x="1572768" y="3017520"/>
            <a:ext cx="15142464" cy="1892808"/>
          </a:xfrm>
          <a:prstGeom prst="roundRect">
            <a:avLst>
              <a:gd name="adj" fmla="val 6667"/>
            </a:avLst>
          </a:prstGeom>
          <a:solidFill>
            <a:srgbClr val="692179"/>
          </a:solidFill>
          <a:ln w="12700">
            <a:solidFill>
              <a:srgbClr val="692179"/>
            </a:solidFill>
            <a:prstDash val="solid"/>
          </a:ln>
        </p:spPr>
      </p:sp>
      <p:sp>
        <p:nvSpPr>
          <p:cNvPr id="6" name="Text 3"/>
          <p:cNvSpPr txBox="1"/>
          <p:nvPr/>
        </p:nvSpPr>
        <p:spPr>
          <a:xfrm>
            <a:off x="2140610" y="3017520"/>
            <a:ext cx="14006779" cy="1892808"/>
          </a:xfrm>
          <a:prstGeom prst="rect">
            <a:avLst/>
          </a:prstGeom>
          <a:noFill/>
          <a:ln/>
        </p:spPr>
        <p:txBody>
          <a:bodyPr wrap="square" lIns="0" tIns="0" rIns="0" bIns="0" rtlCol="0" anchor="ctr"/>
          <a:lstStyle/>
          <a:p>
            <a:pPr indent="0" marL="0">
              <a:lnSpc>
                <a:spcPct val="110000"/>
              </a:lnSpc>
              <a:buNone/>
            </a:pPr>
            <a:r>
              <a:rPr lang="en-US" sz="3170" b="1" dirty="0">
                <a:solidFill>
                  <a:srgbClr val="FFFFFF"/>
                </a:solidFill>
                <a:latin typeface="Arial" pitchFamily="34" charset="0"/>
                <a:ea typeface="Arial" pitchFamily="34" charset="-122"/>
                <a:cs typeface="Arial" pitchFamily="34" charset="-120"/>
              </a:rPr>
              <a:t>Describir tu plataforma en ficheros de texto, guardados en git, que una herramienta aplica por ti.</a:t>
            </a:r>
            <a:endParaRPr lang="en-US" sz="3170" dirty="0"/>
          </a:p>
        </p:txBody>
      </p:sp>
      <p:sp>
        <p:nvSpPr>
          <p:cNvPr id="7" name="Shape 4"/>
          <p:cNvSpPr/>
          <p:nvPr/>
        </p:nvSpPr>
        <p:spPr>
          <a:xfrm>
            <a:off x="1572768" y="5288890"/>
            <a:ext cx="4845406" cy="2902306"/>
          </a:xfrm>
          <a:prstGeom prst="roundRect">
            <a:avLst>
              <a:gd name="adj" fmla="val 4348"/>
            </a:avLst>
          </a:prstGeom>
          <a:solidFill>
            <a:srgbClr val="1E0A2B"/>
          </a:solidFill>
          <a:ln w="12700">
            <a:solidFill>
              <a:srgbClr val="1E0A2B"/>
            </a:solidFill>
            <a:prstDash val="solid"/>
          </a:ln>
        </p:spPr>
      </p:sp>
      <p:sp>
        <p:nvSpPr>
          <p:cNvPr id="8" name="Shape 5"/>
          <p:cNvSpPr/>
          <p:nvPr/>
        </p:nvSpPr>
        <p:spPr>
          <a:xfrm>
            <a:off x="2014423" y="5667451"/>
            <a:ext cx="630936" cy="630936"/>
          </a:xfrm>
          <a:prstGeom prst="ellipse">
            <a:avLst/>
          </a:prstGeom>
          <a:solidFill>
            <a:srgbClr val="F59120"/>
          </a:solidFill>
          <a:ln w="12700">
            <a:solidFill>
              <a:srgbClr val="F59120"/>
            </a:solidFill>
            <a:prstDash val="solid"/>
          </a:ln>
        </p:spPr>
      </p:sp>
      <p:sp>
        <p:nvSpPr>
          <p:cNvPr id="9" name="Text 6"/>
          <p:cNvSpPr txBox="1"/>
          <p:nvPr/>
        </p:nvSpPr>
        <p:spPr>
          <a:xfrm>
            <a:off x="2014423" y="5667451"/>
            <a:ext cx="630936" cy="630936"/>
          </a:xfrm>
          <a:prstGeom prst="rect">
            <a:avLst/>
          </a:prstGeom>
          <a:noFill/>
          <a:ln/>
        </p:spPr>
        <p:txBody>
          <a:bodyPr wrap="square" lIns="0" tIns="0" rIns="0" bIns="0" rtlCol="0" anchor="ctr"/>
          <a:lstStyle/>
          <a:p>
            <a:pPr algn="ctr" indent="0" marL="0">
              <a:buNone/>
            </a:pPr>
            <a:r>
              <a:rPr lang="en-US" sz="2210" b="1" dirty="0">
                <a:solidFill>
                  <a:srgbClr val="2A0E33"/>
                </a:solidFill>
                <a:latin typeface="Arial" pitchFamily="34" charset="0"/>
                <a:ea typeface="Arial" pitchFamily="34" charset="-122"/>
                <a:cs typeface="Arial" pitchFamily="34" charset="-120"/>
              </a:rPr>
              <a:t>1</a:t>
            </a:r>
            <a:endParaRPr lang="en-US" sz="2210" dirty="0"/>
          </a:p>
        </p:txBody>
      </p:sp>
      <p:sp>
        <p:nvSpPr>
          <p:cNvPr id="10" name="Text 7"/>
          <p:cNvSpPr txBox="1"/>
          <p:nvPr/>
        </p:nvSpPr>
        <p:spPr>
          <a:xfrm>
            <a:off x="2014423" y="6487668"/>
            <a:ext cx="4037990" cy="567842"/>
          </a:xfrm>
          <a:prstGeom prst="rect">
            <a:avLst/>
          </a:prstGeom>
          <a:noFill/>
          <a:ln/>
        </p:spPr>
        <p:txBody>
          <a:bodyPr wrap="square" lIns="0" tIns="0" rIns="0" bIns="0" rtlCol="0" anchor="ctr"/>
          <a:lstStyle/>
          <a:p>
            <a:pPr indent="0" marL="0">
              <a:buNone/>
            </a:pPr>
            <a:r>
              <a:rPr lang="en-US" sz="2210" b="1" dirty="0">
                <a:solidFill>
                  <a:srgbClr val="FFFFFF"/>
                </a:solidFill>
                <a:latin typeface="Arial" pitchFamily="34" charset="0"/>
                <a:ea typeface="Arial" pitchFamily="34" charset="-122"/>
                <a:cs typeface="Arial" pitchFamily="34" charset="-120"/>
              </a:rPr>
              <a:t>Ficheros de texto</a:t>
            </a:r>
            <a:endParaRPr lang="en-US" sz="2210" dirty="0"/>
          </a:p>
        </p:txBody>
      </p:sp>
      <p:sp>
        <p:nvSpPr>
          <p:cNvPr id="11" name="Text 8"/>
          <p:cNvSpPr txBox="1"/>
          <p:nvPr/>
        </p:nvSpPr>
        <p:spPr>
          <a:xfrm>
            <a:off x="2014423" y="7055510"/>
            <a:ext cx="4037990" cy="1009498"/>
          </a:xfrm>
          <a:prstGeom prst="rect">
            <a:avLst/>
          </a:prstGeom>
          <a:noFill/>
          <a:ln/>
        </p:spPr>
        <p:txBody>
          <a:bodyPr wrap="square" lIns="0" tIns="0" rIns="0" bIns="0" rtlCol="0" anchor="t"/>
          <a:lstStyle/>
          <a:p>
            <a:pPr indent="0" marL="0">
              <a:lnSpc>
                <a:spcPct val="110000"/>
              </a:lnSpc>
              <a:buNone/>
            </a:pPr>
            <a:r>
              <a:rPr lang="en-US" sz="1790" dirty="0">
                <a:solidFill>
                  <a:srgbClr val="C77BD6"/>
                </a:solidFill>
                <a:latin typeface="Calibri" pitchFamily="34" charset="0"/>
                <a:ea typeface="Calibri" pitchFamily="34" charset="-122"/>
                <a:cs typeface="Calibri" pitchFamily="34" charset="-120"/>
              </a:rPr>
              <a:t>Se leen, se comparan, se copian y se pegan. Sin capturas.</a:t>
            </a:r>
            <a:endParaRPr lang="en-US" sz="1790" dirty="0"/>
          </a:p>
        </p:txBody>
      </p:sp>
      <p:sp>
        <p:nvSpPr>
          <p:cNvPr id="12" name="Shape 9"/>
          <p:cNvSpPr/>
          <p:nvPr/>
        </p:nvSpPr>
        <p:spPr>
          <a:xfrm>
            <a:off x="6720840" y="5288890"/>
            <a:ext cx="4845406" cy="2902306"/>
          </a:xfrm>
          <a:prstGeom prst="roundRect">
            <a:avLst>
              <a:gd name="adj" fmla="val 4348"/>
            </a:avLst>
          </a:prstGeom>
          <a:solidFill>
            <a:srgbClr val="1E0A2B"/>
          </a:solidFill>
          <a:ln w="12700">
            <a:solidFill>
              <a:srgbClr val="1E0A2B"/>
            </a:solidFill>
            <a:prstDash val="solid"/>
          </a:ln>
        </p:spPr>
      </p:sp>
      <p:sp>
        <p:nvSpPr>
          <p:cNvPr id="13" name="Shape 10"/>
          <p:cNvSpPr/>
          <p:nvPr/>
        </p:nvSpPr>
        <p:spPr>
          <a:xfrm>
            <a:off x="7162495" y="5667451"/>
            <a:ext cx="630936" cy="630936"/>
          </a:xfrm>
          <a:prstGeom prst="ellipse">
            <a:avLst/>
          </a:prstGeom>
          <a:solidFill>
            <a:srgbClr val="F59120"/>
          </a:solidFill>
          <a:ln w="12700">
            <a:solidFill>
              <a:srgbClr val="F59120"/>
            </a:solidFill>
            <a:prstDash val="solid"/>
          </a:ln>
        </p:spPr>
      </p:sp>
      <p:sp>
        <p:nvSpPr>
          <p:cNvPr id="14" name="Text 11"/>
          <p:cNvSpPr txBox="1"/>
          <p:nvPr/>
        </p:nvSpPr>
        <p:spPr>
          <a:xfrm>
            <a:off x="7162495" y="5667451"/>
            <a:ext cx="630936" cy="630936"/>
          </a:xfrm>
          <a:prstGeom prst="rect">
            <a:avLst/>
          </a:prstGeom>
          <a:noFill/>
          <a:ln/>
        </p:spPr>
        <p:txBody>
          <a:bodyPr wrap="square" lIns="0" tIns="0" rIns="0" bIns="0" rtlCol="0" anchor="ctr"/>
          <a:lstStyle/>
          <a:p>
            <a:pPr algn="ctr" indent="0" marL="0">
              <a:buNone/>
            </a:pPr>
            <a:r>
              <a:rPr lang="en-US" sz="2210" b="1" dirty="0">
                <a:solidFill>
                  <a:srgbClr val="2A0E33"/>
                </a:solidFill>
                <a:latin typeface="Arial" pitchFamily="34" charset="0"/>
                <a:ea typeface="Arial" pitchFamily="34" charset="-122"/>
                <a:cs typeface="Arial" pitchFamily="34" charset="-120"/>
              </a:rPr>
              <a:t>2</a:t>
            </a:r>
            <a:endParaRPr lang="en-US" sz="2210" dirty="0"/>
          </a:p>
        </p:txBody>
      </p:sp>
      <p:sp>
        <p:nvSpPr>
          <p:cNvPr id="15" name="Text 12"/>
          <p:cNvSpPr txBox="1"/>
          <p:nvPr/>
        </p:nvSpPr>
        <p:spPr>
          <a:xfrm>
            <a:off x="7162495" y="6487668"/>
            <a:ext cx="4037990" cy="567842"/>
          </a:xfrm>
          <a:prstGeom prst="rect">
            <a:avLst/>
          </a:prstGeom>
          <a:noFill/>
          <a:ln/>
        </p:spPr>
        <p:txBody>
          <a:bodyPr wrap="square" lIns="0" tIns="0" rIns="0" bIns="0" rtlCol="0" anchor="ctr"/>
          <a:lstStyle/>
          <a:p>
            <a:pPr indent="0" marL="0">
              <a:buNone/>
            </a:pPr>
            <a:r>
              <a:rPr lang="en-US" sz="2210" b="1" dirty="0">
                <a:solidFill>
                  <a:srgbClr val="FFFFFF"/>
                </a:solidFill>
                <a:latin typeface="Arial" pitchFamily="34" charset="0"/>
                <a:ea typeface="Arial" pitchFamily="34" charset="-122"/>
                <a:cs typeface="Arial" pitchFamily="34" charset="-120"/>
              </a:rPr>
              <a:t>En git</a:t>
            </a:r>
            <a:endParaRPr lang="en-US" sz="2210" dirty="0"/>
          </a:p>
        </p:txBody>
      </p:sp>
      <p:sp>
        <p:nvSpPr>
          <p:cNvPr id="16" name="Text 13"/>
          <p:cNvSpPr txBox="1"/>
          <p:nvPr/>
        </p:nvSpPr>
        <p:spPr>
          <a:xfrm>
            <a:off x="7162495" y="7055510"/>
            <a:ext cx="4037990" cy="1009498"/>
          </a:xfrm>
          <a:prstGeom prst="rect">
            <a:avLst/>
          </a:prstGeom>
          <a:noFill/>
          <a:ln/>
        </p:spPr>
        <p:txBody>
          <a:bodyPr wrap="square" lIns="0" tIns="0" rIns="0" bIns="0" rtlCol="0" anchor="t"/>
          <a:lstStyle/>
          <a:p>
            <a:pPr indent="0" marL="0">
              <a:lnSpc>
                <a:spcPct val="110000"/>
              </a:lnSpc>
              <a:buNone/>
            </a:pPr>
            <a:r>
              <a:rPr lang="en-US" sz="1790" dirty="0">
                <a:solidFill>
                  <a:srgbClr val="C77BD6"/>
                </a:solidFill>
                <a:latin typeface="Calibri" pitchFamily="34" charset="0"/>
                <a:ea typeface="Calibri" pitchFamily="34" charset="-122"/>
                <a:cs typeface="Calibri" pitchFamily="34" charset="-120"/>
              </a:rPr>
              <a:t>Historial, ramas, pull requests, rollback. Lo de siempre.</a:t>
            </a:r>
            <a:endParaRPr lang="en-US" sz="1790" dirty="0"/>
          </a:p>
        </p:txBody>
      </p:sp>
      <p:sp>
        <p:nvSpPr>
          <p:cNvPr id="17" name="Shape 14"/>
          <p:cNvSpPr/>
          <p:nvPr/>
        </p:nvSpPr>
        <p:spPr>
          <a:xfrm>
            <a:off x="11869826" y="5288890"/>
            <a:ext cx="4845406" cy="2902306"/>
          </a:xfrm>
          <a:prstGeom prst="roundRect">
            <a:avLst>
              <a:gd name="adj" fmla="val 4348"/>
            </a:avLst>
          </a:prstGeom>
          <a:solidFill>
            <a:srgbClr val="1E0A2B"/>
          </a:solidFill>
          <a:ln w="12700">
            <a:solidFill>
              <a:srgbClr val="1E0A2B"/>
            </a:solidFill>
            <a:prstDash val="solid"/>
          </a:ln>
        </p:spPr>
      </p:sp>
      <p:sp>
        <p:nvSpPr>
          <p:cNvPr id="18" name="Shape 15"/>
          <p:cNvSpPr/>
          <p:nvPr/>
        </p:nvSpPr>
        <p:spPr>
          <a:xfrm>
            <a:off x="12311482" y="5667451"/>
            <a:ext cx="630936" cy="630936"/>
          </a:xfrm>
          <a:prstGeom prst="ellipse">
            <a:avLst/>
          </a:prstGeom>
          <a:solidFill>
            <a:srgbClr val="F59120"/>
          </a:solidFill>
          <a:ln w="12700">
            <a:solidFill>
              <a:srgbClr val="F59120"/>
            </a:solidFill>
            <a:prstDash val="solid"/>
          </a:ln>
        </p:spPr>
      </p:sp>
      <p:sp>
        <p:nvSpPr>
          <p:cNvPr id="19" name="Text 16"/>
          <p:cNvSpPr txBox="1"/>
          <p:nvPr/>
        </p:nvSpPr>
        <p:spPr>
          <a:xfrm>
            <a:off x="12311482" y="5667451"/>
            <a:ext cx="630936" cy="630936"/>
          </a:xfrm>
          <a:prstGeom prst="rect">
            <a:avLst/>
          </a:prstGeom>
          <a:noFill/>
          <a:ln/>
        </p:spPr>
        <p:txBody>
          <a:bodyPr wrap="square" lIns="0" tIns="0" rIns="0" bIns="0" rtlCol="0" anchor="ctr"/>
          <a:lstStyle/>
          <a:p>
            <a:pPr algn="ctr" indent="0" marL="0">
              <a:buNone/>
            </a:pPr>
            <a:r>
              <a:rPr lang="en-US" sz="2210" b="1" dirty="0">
                <a:solidFill>
                  <a:srgbClr val="2A0E33"/>
                </a:solidFill>
                <a:latin typeface="Arial" pitchFamily="34" charset="0"/>
                <a:ea typeface="Arial" pitchFamily="34" charset="-122"/>
                <a:cs typeface="Arial" pitchFamily="34" charset="-120"/>
              </a:rPr>
              <a:t>3</a:t>
            </a:r>
            <a:endParaRPr lang="en-US" sz="2210" dirty="0"/>
          </a:p>
        </p:txBody>
      </p:sp>
      <p:sp>
        <p:nvSpPr>
          <p:cNvPr id="20" name="Text 17"/>
          <p:cNvSpPr txBox="1"/>
          <p:nvPr/>
        </p:nvSpPr>
        <p:spPr>
          <a:xfrm>
            <a:off x="12311482" y="6487668"/>
            <a:ext cx="4037990" cy="567842"/>
          </a:xfrm>
          <a:prstGeom prst="rect">
            <a:avLst/>
          </a:prstGeom>
          <a:noFill/>
          <a:ln/>
        </p:spPr>
        <p:txBody>
          <a:bodyPr wrap="square" lIns="0" tIns="0" rIns="0" bIns="0" rtlCol="0" anchor="ctr"/>
          <a:lstStyle/>
          <a:p>
            <a:pPr indent="0" marL="0">
              <a:buNone/>
            </a:pPr>
            <a:r>
              <a:rPr lang="en-US" sz="2210" b="1" dirty="0">
                <a:solidFill>
                  <a:srgbClr val="FFFFFF"/>
                </a:solidFill>
                <a:latin typeface="Arial" pitchFamily="34" charset="0"/>
                <a:ea typeface="Arial" pitchFamily="34" charset="-122"/>
                <a:cs typeface="Arial" pitchFamily="34" charset="-120"/>
              </a:rPr>
              <a:t>Aplicado por una herramienta</a:t>
            </a:r>
            <a:endParaRPr lang="en-US" sz="2210" dirty="0"/>
          </a:p>
        </p:txBody>
      </p:sp>
      <p:sp>
        <p:nvSpPr>
          <p:cNvPr id="21" name="Text 18"/>
          <p:cNvSpPr txBox="1"/>
          <p:nvPr/>
        </p:nvSpPr>
        <p:spPr>
          <a:xfrm>
            <a:off x="12311482" y="7055510"/>
            <a:ext cx="4037990" cy="1009498"/>
          </a:xfrm>
          <a:prstGeom prst="rect">
            <a:avLst/>
          </a:prstGeom>
          <a:noFill/>
          <a:ln/>
        </p:spPr>
        <p:txBody>
          <a:bodyPr wrap="square" lIns="0" tIns="0" rIns="0" bIns="0" rtlCol="0" anchor="t"/>
          <a:lstStyle/>
          <a:p>
            <a:pPr indent="0" marL="0">
              <a:lnSpc>
                <a:spcPct val="110000"/>
              </a:lnSpc>
              <a:buNone/>
            </a:pPr>
            <a:r>
              <a:rPr lang="en-US" sz="1790" dirty="0">
                <a:solidFill>
                  <a:srgbClr val="C77BD6"/>
                </a:solidFill>
                <a:latin typeface="Calibri" pitchFamily="34" charset="0"/>
                <a:ea typeface="Calibri" pitchFamily="34" charset="-122"/>
                <a:cs typeface="Calibri" pitchFamily="34" charset="-120"/>
              </a:rPr>
              <a:t>El humano decide el qué. La máquina hace el cómo, y no se cansa.</a:t>
            </a:r>
            <a:endParaRPr lang="en-US" sz="179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pic>
        <p:nvPicPr>
          <p:cNvPr id="2" name="Image 0" descr="/home/claude/bg-white.jpg">    </p:cNvPr>
          <p:cNvPicPr>
            <a:picLocks noChangeAspect="1"/>
          </p:cNvPicPr>
          <p:nvPr/>
        </p:nvPicPr>
        <p:blipFill>
          <a:blip r:embed="rId1"/>
          <a:stretch>
            <a:fillRect/>
          </a:stretch>
        </p:blipFill>
        <p:spPr>
          <a:xfrm>
            <a:off x="0" y="0"/>
            <a:ext cx="18288000" cy="10287000"/>
          </a:xfrm>
          <a:prstGeom prst="rect">
            <a:avLst/>
          </a:prstGeom>
        </p:spPr>
      </p:pic>
      <p:sp>
        <p:nvSpPr>
          <p:cNvPr id="3" name="Text 0"/>
          <p:cNvSpPr txBox="1"/>
          <p:nvPr/>
        </p:nvSpPr>
        <p:spPr>
          <a:xfrm>
            <a:off x="1572768" y="1024128"/>
            <a:ext cx="15142464" cy="404165"/>
          </a:xfrm>
          <a:prstGeom prst="rect">
            <a:avLst/>
          </a:prstGeom>
          <a:noFill/>
          <a:ln/>
        </p:spPr>
        <p:txBody>
          <a:bodyPr wrap="square" lIns="0" tIns="0" rIns="0" bIns="0" rtlCol="0" anchor="ctr"/>
          <a:lstStyle/>
          <a:p>
            <a:pPr indent="0" marL="0">
              <a:buNone/>
            </a:pPr>
            <a:r>
              <a:rPr lang="en-US" sz="1660" b="1" spc="345" kern="0" dirty="0">
                <a:solidFill>
                  <a:srgbClr val="692179"/>
                </a:solidFill>
                <a:latin typeface="Calibri" pitchFamily="34" charset="0"/>
                <a:ea typeface="Calibri" pitchFamily="34" charset="-122"/>
                <a:cs typeface="Calibri" pitchFamily="34" charset="-120"/>
              </a:rPr>
              <a:t>BLOQUE 1 · IAC</a:t>
            </a:r>
            <a:endParaRPr lang="en-US" sz="1660" dirty="0"/>
          </a:p>
        </p:txBody>
      </p:sp>
      <p:sp>
        <p:nvSpPr>
          <p:cNvPr id="4" name="Text 1"/>
          <p:cNvSpPr txBox="1"/>
          <p:nvPr/>
        </p:nvSpPr>
        <p:spPr>
          <a:xfrm>
            <a:off x="1572768" y="1440180"/>
            <a:ext cx="15142464" cy="1072591"/>
          </a:xfrm>
          <a:prstGeom prst="rect">
            <a:avLst/>
          </a:prstGeom>
          <a:noFill/>
          <a:ln/>
        </p:spPr>
        <p:txBody>
          <a:bodyPr wrap="square" lIns="0" tIns="0" rIns="0" bIns="0" rtlCol="0" anchor="ctr"/>
          <a:lstStyle/>
          <a:p>
            <a:pPr algn="l" indent="0" marL="0">
              <a:buNone/>
            </a:pPr>
            <a:r>
              <a:rPr lang="en-US" sz="4690" b="1" dirty="0">
                <a:solidFill>
                  <a:srgbClr val="241028"/>
                </a:solidFill>
                <a:latin typeface="Arial" pitchFamily="34" charset="0"/>
                <a:ea typeface="Arial" pitchFamily="34" charset="-122"/>
                <a:cs typeface="Arial" pitchFamily="34" charset="-120"/>
              </a:rPr>
              <a:t>Imperativo vs declarativo: por qué esto te suena</a:t>
            </a:r>
            <a:endParaRPr lang="en-US" sz="4690" dirty="0"/>
          </a:p>
        </p:txBody>
      </p:sp>
      <p:sp>
        <p:nvSpPr>
          <p:cNvPr id="5" name="Text 2"/>
          <p:cNvSpPr txBox="1"/>
          <p:nvPr/>
        </p:nvSpPr>
        <p:spPr>
          <a:xfrm>
            <a:off x="1572768" y="2954426"/>
            <a:ext cx="7381951" cy="441655"/>
          </a:xfrm>
          <a:prstGeom prst="rect">
            <a:avLst/>
          </a:prstGeom>
          <a:noFill/>
          <a:ln/>
        </p:spPr>
        <p:txBody>
          <a:bodyPr wrap="square" lIns="0" tIns="0" rIns="0" bIns="0" rtlCol="0" anchor="ctr"/>
          <a:lstStyle/>
          <a:p>
            <a:pPr indent="0" marL="0">
              <a:buNone/>
            </a:pPr>
            <a:r>
              <a:rPr lang="en-US" sz="1660" b="1" spc="207" kern="0" dirty="0">
                <a:solidFill>
                  <a:srgbClr val="E8553F"/>
                </a:solidFill>
                <a:latin typeface="Calibri" pitchFamily="34" charset="0"/>
                <a:ea typeface="Calibri" pitchFamily="34" charset="-122"/>
                <a:cs typeface="Calibri" pitchFamily="34" charset="-120"/>
              </a:rPr>
              <a:t>IMPERATIVO — le dices CÓMO</a:t>
            </a:r>
            <a:endParaRPr lang="en-US" sz="1660" dirty="0"/>
          </a:p>
        </p:txBody>
      </p:sp>
      <p:sp>
        <p:nvSpPr>
          <p:cNvPr id="6" name="Shape 3"/>
          <p:cNvSpPr/>
          <p:nvPr/>
        </p:nvSpPr>
        <p:spPr>
          <a:xfrm>
            <a:off x="1572768" y="3459175"/>
            <a:ext cx="7381951" cy="2965399"/>
          </a:xfrm>
          <a:prstGeom prst="roundRect">
            <a:avLst>
              <a:gd name="adj" fmla="val 3392"/>
            </a:avLst>
          </a:prstGeom>
          <a:solidFill>
            <a:srgbClr val="2A0E38"/>
          </a:solidFill>
          <a:ln w="12700">
            <a:solidFill>
              <a:srgbClr val="2A0E38"/>
            </a:solidFill>
            <a:prstDash val="solid"/>
          </a:ln>
        </p:spPr>
      </p:sp>
      <p:sp>
        <p:nvSpPr>
          <p:cNvPr id="7" name="Text 4"/>
          <p:cNvSpPr txBox="1"/>
          <p:nvPr/>
        </p:nvSpPr>
        <p:spPr>
          <a:xfrm>
            <a:off x="1850746" y="3661258"/>
            <a:ext cx="6826910" cy="2561234"/>
          </a:xfrm>
          <a:prstGeom prst="rect">
            <a:avLst/>
          </a:prstGeom>
          <a:noFill/>
          <a:ln/>
        </p:spPr>
        <p:txBody>
          <a:bodyPr wrap="square" lIns="0" tIns="0" rIns="0" bIns="0" rtlCol="0" anchor="t"/>
          <a:lstStyle/>
          <a:p>
            <a:pPr algn="l" indent="0" marL="0">
              <a:lnSpc>
                <a:spcPct val="112000"/>
              </a:lnSpc>
              <a:buNone/>
            </a:pPr>
            <a:r>
              <a:rPr lang="en-US" sz="1590" dirty="0">
                <a:solidFill>
                  <a:srgbClr val="C77BD6"/>
                </a:solidFill>
                <a:latin typeface="Courier New" pitchFamily="34" charset="0"/>
                <a:ea typeface="Courier New" pitchFamily="34" charset="-122"/>
                <a:cs typeface="Courier New" pitchFamily="34" charset="-120"/>
              </a:rPr>
              <a:t>$</a:t>
            </a:r>
            <a:pPr algn="l" indent="0" marL="0">
              <a:lnSpc>
                <a:spcPct val="112000"/>
              </a:lnSpc>
              <a:buNone/>
            </a:pPr>
            <a:r>
              <a:rPr lang="en-US" sz="1590" dirty="0">
                <a:solidFill>
                  <a:srgbClr val="EFE6F2"/>
                </a:solidFill>
                <a:latin typeface="Courier New" pitchFamily="34" charset="0"/>
                <a:ea typeface="Courier New" pitchFamily="34" charset="-122"/>
                <a:cs typeface="Courier New" pitchFamily="34" charset="-120"/>
              </a:rPr>
              <a:t>ws</a:t>
            </a:r>
            <a:pPr algn="l" indent="0" marL="0">
              <a:lnSpc>
                <a:spcPct val="112000"/>
              </a:lnSpc>
              <a:buNone/>
            </a:pPr>
            <a:r>
              <a:rPr lang="en-US" sz="1590" dirty="0">
                <a:solidFill>
                  <a:srgbClr val="C77BD6"/>
                </a:solidFill>
                <a:latin typeface="Courier New" pitchFamily="34" charset="0"/>
                <a:ea typeface="Courier New" pitchFamily="34" charset="-122"/>
                <a:cs typeface="Courier New" pitchFamily="34" charset="-120"/>
              </a:rPr>
              <a:t> </a:t>
            </a:r>
            <a:pPr algn="l" indent="0" marL="0">
              <a:lnSpc>
                <a:spcPct val="112000"/>
              </a:lnSpc>
              <a:buNone/>
            </a:pPr>
            <a:r>
              <a:rPr lang="en-US" sz="1590" dirty="0">
                <a:solidFill>
                  <a:srgbClr val="C77BD6"/>
                </a:solidFill>
                <a:latin typeface="Courier New" pitchFamily="34" charset="0"/>
                <a:ea typeface="Courier New" pitchFamily="34" charset="-122"/>
                <a:cs typeface="Courier New" pitchFamily="34" charset="-120"/>
              </a:rPr>
              <a:t>=</a:t>
            </a:r>
            <a:pPr algn="l" indent="0" marL="0">
              <a:lnSpc>
                <a:spcPct val="112000"/>
              </a:lnSpc>
              <a:buNone/>
            </a:pPr>
            <a:r>
              <a:rPr lang="en-US" sz="1590" dirty="0">
                <a:solidFill>
                  <a:srgbClr val="C77BD6"/>
                </a:solidFill>
                <a:latin typeface="Courier New" pitchFamily="34" charset="0"/>
                <a:ea typeface="Courier New" pitchFamily="34" charset="-122"/>
                <a:cs typeface="Courier New" pitchFamily="34" charset="-120"/>
              </a:rPr>
              <a:t> </a:t>
            </a:r>
            <a:pPr algn="l" indent="0" marL="0">
              <a:lnSpc>
                <a:spcPct val="112000"/>
              </a:lnSpc>
              <a:buNone/>
            </a:pPr>
            <a:r>
              <a:rPr lang="en-US" sz="1590" dirty="0">
                <a:solidFill>
                  <a:srgbClr val="EFE6F2"/>
                </a:solidFill>
                <a:latin typeface="Courier New" pitchFamily="34" charset="0"/>
                <a:ea typeface="Courier New" pitchFamily="34" charset="-122"/>
                <a:cs typeface="Courier New" pitchFamily="34" charset="-120"/>
              </a:rPr>
              <a:t>Get-Workspace</a:t>
            </a:r>
            <a:pPr algn="l" indent="0" marL="0">
              <a:lnSpc>
                <a:spcPct val="112000"/>
              </a:lnSpc>
              <a:buNone/>
            </a:pPr>
            <a:r>
              <a:rPr lang="en-US" sz="1590" dirty="0">
                <a:solidFill>
                  <a:srgbClr val="C77BD6"/>
                </a:solidFill>
                <a:latin typeface="Courier New" pitchFamily="34" charset="0"/>
                <a:ea typeface="Courier New" pitchFamily="34" charset="-122"/>
                <a:cs typeface="Courier New" pitchFamily="34" charset="-120"/>
              </a:rPr>
              <a:t> </a:t>
            </a:r>
            <a:pPr algn="l" indent="0" marL="0">
              <a:lnSpc>
                <a:spcPct val="112000"/>
              </a:lnSpc>
              <a:buNone/>
            </a:pPr>
            <a:r>
              <a:rPr lang="en-US" sz="1590" dirty="0">
                <a:solidFill>
                  <a:srgbClr val="C77BD6"/>
                </a:solidFill>
                <a:latin typeface="Courier New" pitchFamily="34" charset="0"/>
                <a:ea typeface="Courier New" pitchFamily="34" charset="-122"/>
                <a:cs typeface="Courier New" pitchFamily="34" charset="-120"/>
              </a:rPr>
              <a:t>-</a:t>
            </a:r>
            <a:pPr algn="l" indent="0" marL="0">
              <a:lnSpc>
                <a:spcPct val="112000"/>
              </a:lnSpc>
              <a:buNone/>
            </a:pPr>
            <a:r>
              <a:rPr lang="en-US" sz="1590" dirty="0">
                <a:solidFill>
                  <a:srgbClr val="EFE6F2"/>
                </a:solidFill>
                <a:latin typeface="Courier New" pitchFamily="34" charset="0"/>
                <a:ea typeface="Courier New" pitchFamily="34" charset="-122"/>
                <a:cs typeface="Courier New" pitchFamily="34" charset="-120"/>
              </a:rPr>
              <a:t>Name</a:t>
            </a:r>
            <a:pPr algn="l" indent="0" marL="0">
              <a:lnSpc>
                <a:spcPct val="112000"/>
              </a:lnSpc>
              <a:buNone/>
            </a:pPr>
            <a:r>
              <a:rPr lang="en-US" sz="1590" dirty="0">
                <a:solidFill>
                  <a:srgbClr val="C77BD6"/>
                </a:solidFill>
                <a:latin typeface="Courier New" pitchFamily="34" charset="0"/>
                <a:ea typeface="Courier New" pitchFamily="34" charset="-122"/>
                <a:cs typeface="Courier New" pitchFamily="34" charset="-120"/>
              </a:rPr>
              <a:t> </a:t>
            </a:r>
            <a:pPr algn="l" indent="0" marL="0">
              <a:lnSpc>
                <a:spcPct val="112000"/>
              </a:lnSpc>
              <a:buNone/>
            </a:pPr>
            <a:r>
              <a:rPr lang="en-US" sz="1590" dirty="0">
                <a:solidFill>
                  <a:srgbClr val="8FD9B6"/>
                </a:solidFill>
                <a:latin typeface="Courier New" pitchFamily="34" charset="0"/>
                <a:ea typeface="Courier New" pitchFamily="34" charset="-122"/>
                <a:cs typeface="Courier New" pitchFamily="34" charset="-120"/>
              </a:rPr>
              <a:t>"Bronze-DEV"</a:t>
            </a:r>
            <a:endParaRPr lang="en-US" sz="1590" dirty="0"/>
          </a:p>
          <a:p>
            <a:pPr algn="l" indent="0" marL="0">
              <a:lnSpc>
                <a:spcPct val="112000"/>
              </a:lnSpc>
              <a:buNone/>
            </a:pPr>
            <a:r>
              <a:rPr lang="en-US" sz="1590" dirty="0">
                <a:solidFill>
                  <a:srgbClr val="EFE6F2"/>
                </a:solidFill>
                <a:latin typeface="Courier New" pitchFamily="34" charset="0"/>
                <a:ea typeface="Courier New" pitchFamily="34" charset="-122"/>
                <a:cs typeface="Courier New" pitchFamily="34" charset="-120"/>
              </a:rPr>
              <a:t>if</a:t>
            </a:r>
            <a:pPr algn="l" indent="0" marL="0">
              <a:lnSpc>
                <a:spcPct val="112000"/>
              </a:lnSpc>
              <a:buNone/>
            </a:pPr>
            <a:r>
              <a:rPr lang="en-US" sz="1590" dirty="0">
                <a:solidFill>
                  <a:srgbClr val="C77BD6"/>
                </a:solidFill>
                <a:latin typeface="Courier New" pitchFamily="34" charset="0"/>
                <a:ea typeface="Courier New" pitchFamily="34" charset="-122"/>
                <a:cs typeface="Courier New" pitchFamily="34" charset="-120"/>
              </a:rPr>
              <a:t> </a:t>
            </a:r>
            <a:pPr algn="l" indent="0" marL="0">
              <a:lnSpc>
                <a:spcPct val="112000"/>
              </a:lnSpc>
              <a:buNone/>
            </a:pPr>
            <a:r>
              <a:rPr lang="en-US" sz="1590" dirty="0">
                <a:solidFill>
                  <a:srgbClr val="C77BD6"/>
                </a:solidFill>
                <a:latin typeface="Courier New" pitchFamily="34" charset="0"/>
                <a:ea typeface="Courier New" pitchFamily="34" charset="-122"/>
                <a:cs typeface="Courier New" pitchFamily="34" charset="-120"/>
              </a:rPr>
              <a:t>($</a:t>
            </a:r>
            <a:pPr algn="l" indent="0" marL="0">
              <a:lnSpc>
                <a:spcPct val="112000"/>
              </a:lnSpc>
              <a:buNone/>
            </a:pPr>
            <a:r>
              <a:rPr lang="en-US" sz="1590" dirty="0">
                <a:solidFill>
                  <a:srgbClr val="F5C06A"/>
                </a:solidFill>
                <a:latin typeface="Courier New" pitchFamily="34" charset="0"/>
                <a:ea typeface="Courier New" pitchFamily="34" charset="-122"/>
                <a:cs typeface="Courier New" pitchFamily="34" charset="-120"/>
              </a:rPr>
              <a:t>null</a:t>
            </a:r>
            <a:pPr algn="l" indent="0" marL="0">
              <a:lnSpc>
                <a:spcPct val="112000"/>
              </a:lnSpc>
              <a:buNone/>
            </a:pPr>
            <a:r>
              <a:rPr lang="en-US" sz="1590" dirty="0">
                <a:solidFill>
                  <a:srgbClr val="C77BD6"/>
                </a:solidFill>
                <a:latin typeface="Courier New" pitchFamily="34" charset="0"/>
                <a:ea typeface="Courier New" pitchFamily="34" charset="-122"/>
                <a:cs typeface="Courier New" pitchFamily="34" charset="-120"/>
              </a:rPr>
              <a:t> </a:t>
            </a:r>
            <a:pPr algn="l" indent="0" marL="0">
              <a:lnSpc>
                <a:spcPct val="112000"/>
              </a:lnSpc>
              <a:buNone/>
            </a:pPr>
            <a:r>
              <a:rPr lang="en-US" sz="1590" dirty="0">
                <a:solidFill>
                  <a:srgbClr val="C77BD6"/>
                </a:solidFill>
                <a:latin typeface="Courier New" pitchFamily="34" charset="0"/>
                <a:ea typeface="Courier New" pitchFamily="34" charset="-122"/>
                <a:cs typeface="Courier New" pitchFamily="34" charset="-120"/>
              </a:rPr>
              <a:t>-</a:t>
            </a:r>
            <a:pPr algn="l" indent="0" marL="0">
              <a:lnSpc>
                <a:spcPct val="112000"/>
              </a:lnSpc>
              <a:buNone/>
            </a:pPr>
            <a:r>
              <a:rPr lang="en-US" sz="1590" dirty="0">
                <a:solidFill>
                  <a:srgbClr val="EFE6F2"/>
                </a:solidFill>
                <a:latin typeface="Courier New" pitchFamily="34" charset="0"/>
                <a:ea typeface="Courier New" pitchFamily="34" charset="-122"/>
                <a:cs typeface="Courier New" pitchFamily="34" charset="-120"/>
              </a:rPr>
              <a:t>eq</a:t>
            </a:r>
            <a:pPr algn="l" indent="0" marL="0">
              <a:lnSpc>
                <a:spcPct val="112000"/>
              </a:lnSpc>
              <a:buNone/>
            </a:pPr>
            <a:r>
              <a:rPr lang="en-US" sz="1590" dirty="0">
                <a:solidFill>
                  <a:srgbClr val="C77BD6"/>
                </a:solidFill>
                <a:latin typeface="Courier New" pitchFamily="34" charset="0"/>
                <a:ea typeface="Courier New" pitchFamily="34" charset="-122"/>
                <a:cs typeface="Courier New" pitchFamily="34" charset="-120"/>
              </a:rPr>
              <a:t> </a:t>
            </a:r>
            <a:pPr algn="l" indent="0" marL="0">
              <a:lnSpc>
                <a:spcPct val="112000"/>
              </a:lnSpc>
              <a:buNone/>
            </a:pPr>
            <a:r>
              <a:rPr lang="en-US" sz="1590" dirty="0">
                <a:solidFill>
                  <a:srgbClr val="C77BD6"/>
                </a:solidFill>
                <a:latin typeface="Courier New" pitchFamily="34" charset="0"/>
                <a:ea typeface="Courier New" pitchFamily="34" charset="-122"/>
                <a:cs typeface="Courier New" pitchFamily="34" charset="-120"/>
              </a:rPr>
              <a:t>$</a:t>
            </a:r>
            <a:pPr algn="l" indent="0" marL="0">
              <a:lnSpc>
                <a:spcPct val="112000"/>
              </a:lnSpc>
              <a:buNone/>
            </a:pPr>
            <a:r>
              <a:rPr lang="en-US" sz="1590" dirty="0">
                <a:solidFill>
                  <a:srgbClr val="EFE6F2"/>
                </a:solidFill>
                <a:latin typeface="Courier New" pitchFamily="34" charset="0"/>
                <a:ea typeface="Courier New" pitchFamily="34" charset="-122"/>
                <a:cs typeface="Courier New" pitchFamily="34" charset="-120"/>
              </a:rPr>
              <a:t>ws</a:t>
            </a:r>
            <a:pPr algn="l" indent="0" marL="0">
              <a:lnSpc>
                <a:spcPct val="112000"/>
              </a:lnSpc>
              <a:buNone/>
            </a:pPr>
            <a:r>
              <a:rPr lang="en-US" sz="1590" dirty="0">
                <a:solidFill>
                  <a:srgbClr val="C77BD6"/>
                </a:solidFill>
                <a:latin typeface="Courier New" pitchFamily="34" charset="0"/>
                <a:ea typeface="Courier New" pitchFamily="34" charset="-122"/>
                <a:cs typeface="Courier New" pitchFamily="34" charset="-120"/>
              </a:rPr>
              <a:t>)</a:t>
            </a:r>
            <a:pPr algn="l" indent="0" marL="0">
              <a:lnSpc>
                <a:spcPct val="112000"/>
              </a:lnSpc>
              <a:buNone/>
            </a:pPr>
            <a:r>
              <a:rPr lang="en-US" sz="1590" dirty="0">
                <a:solidFill>
                  <a:srgbClr val="C77BD6"/>
                </a:solidFill>
                <a:latin typeface="Courier New" pitchFamily="34" charset="0"/>
                <a:ea typeface="Courier New" pitchFamily="34" charset="-122"/>
                <a:cs typeface="Courier New" pitchFamily="34" charset="-120"/>
              </a:rPr>
              <a:t> </a:t>
            </a:r>
            <a:pPr algn="l" indent="0" marL="0">
              <a:lnSpc>
                <a:spcPct val="112000"/>
              </a:lnSpc>
              <a:buNone/>
            </a:pPr>
            <a:r>
              <a:rPr lang="en-US" sz="1590" dirty="0">
                <a:solidFill>
                  <a:srgbClr val="C77BD6"/>
                </a:solidFill>
                <a:latin typeface="Courier New" pitchFamily="34" charset="0"/>
                <a:ea typeface="Courier New" pitchFamily="34" charset="-122"/>
                <a:cs typeface="Courier New" pitchFamily="34" charset="-120"/>
              </a:rPr>
              <a:t>{</a:t>
            </a:r>
            <a:endParaRPr lang="en-US" sz="1590" dirty="0"/>
          </a:p>
          <a:p>
            <a:pPr algn="l" indent="0" marL="0">
              <a:lnSpc>
                <a:spcPct val="112000"/>
              </a:lnSpc>
              <a:buNone/>
            </a:pPr>
            <a:r>
              <a:rPr lang="en-US" sz="1590" dirty="0">
                <a:solidFill>
                  <a:srgbClr val="C77BD6"/>
                </a:solidFill>
                <a:latin typeface="Courier New" pitchFamily="34" charset="0"/>
                <a:ea typeface="Courier New" pitchFamily="34" charset="-122"/>
                <a:cs typeface="Courier New" pitchFamily="34" charset="-120"/>
              </a:rPr>
              <a:t>    </a:t>
            </a:r>
            <a:pPr algn="l" indent="0" marL="0">
              <a:lnSpc>
                <a:spcPct val="112000"/>
              </a:lnSpc>
              <a:buNone/>
            </a:pPr>
            <a:r>
              <a:rPr lang="en-US" sz="1590" dirty="0">
                <a:solidFill>
                  <a:srgbClr val="C77BD6"/>
                </a:solidFill>
                <a:latin typeface="Courier New" pitchFamily="34" charset="0"/>
                <a:ea typeface="Courier New" pitchFamily="34" charset="-122"/>
                <a:cs typeface="Courier New" pitchFamily="34" charset="-120"/>
              </a:rPr>
              <a:t>$</a:t>
            </a:r>
            <a:pPr algn="l" indent="0" marL="0">
              <a:lnSpc>
                <a:spcPct val="112000"/>
              </a:lnSpc>
              <a:buNone/>
            </a:pPr>
            <a:r>
              <a:rPr lang="en-US" sz="1590" dirty="0">
                <a:solidFill>
                  <a:srgbClr val="EFE6F2"/>
                </a:solidFill>
                <a:latin typeface="Courier New" pitchFamily="34" charset="0"/>
                <a:ea typeface="Courier New" pitchFamily="34" charset="-122"/>
                <a:cs typeface="Courier New" pitchFamily="34" charset="-120"/>
              </a:rPr>
              <a:t>ws</a:t>
            </a:r>
            <a:pPr algn="l" indent="0" marL="0">
              <a:lnSpc>
                <a:spcPct val="112000"/>
              </a:lnSpc>
              <a:buNone/>
            </a:pPr>
            <a:r>
              <a:rPr lang="en-US" sz="1590" dirty="0">
                <a:solidFill>
                  <a:srgbClr val="C77BD6"/>
                </a:solidFill>
                <a:latin typeface="Courier New" pitchFamily="34" charset="0"/>
                <a:ea typeface="Courier New" pitchFamily="34" charset="-122"/>
                <a:cs typeface="Courier New" pitchFamily="34" charset="-120"/>
              </a:rPr>
              <a:t> </a:t>
            </a:r>
            <a:pPr algn="l" indent="0" marL="0">
              <a:lnSpc>
                <a:spcPct val="112000"/>
              </a:lnSpc>
              <a:buNone/>
            </a:pPr>
            <a:r>
              <a:rPr lang="en-US" sz="1590" dirty="0">
                <a:solidFill>
                  <a:srgbClr val="C77BD6"/>
                </a:solidFill>
                <a:latin typeface="Courier New" pitchFamily="34" charset="0"/>
                <a:ea typeface="Courier New" pitchFamily="34" charset="-122"/>
                <a:cs typeface="Courier New" pitchFamily="34" charset="-120"/>
              </a:rPr>
              <a:t>=</a:t>
            </a:r>
            <a:pPr algn="l" indent="0" marL="0">
              <a:lnSpc>
                <a:spcPct val="112000"/>
              </a:lnSpc>
              <a:buNone/>
            </a:pPr>
            <a:r>
              <a:rPr lang="en-US" sz="1590" dirty="0">
                <a:solidFill>
                  <a:srgbClr val="C77BD6"/>
                </a:solidFill>
                <a:latin typeface="Courier New" pitchFamily="34" charset="0"/>
                <a:ea typeface="Courier New" pitchFamily="34" charset="-122"/>
                <a:cs typeface="Courier New" pitchFamily="34" charset="-120"/>
              </a:rPr>
              <a:t> </a:t>
            </a:r>
            <a:pPr algn="l" indent="0" marL="0">
              <a:lnSpc>
                <a:spcPct val="112000"/>
              </a:lnSpc>
              <a:buNone/>
            </a:pPr>
            <a:r>
              <a:rPr lang="en-US" sz="1590" dirty="0">
                <a:solidFill>
                  <a:srgbClr val="EFE6F2"/>
                </a:solidFill>
                <a:latin typeface="Courier New" pitchFamily="34" charset="0"/>
                <a:ea typeface="Courier New" pitchFamily="34" charset="-122"/>
                <a:cs typeface="Courier New" pitchFamily="34" charset="-120"/>
              </a:rPr>
              <a:t>New-Workspace</a:t>
            </a:r>
            <a:pPr algn="l" indent="0" marL="0">
              <a:lnSpc>
                <a:spcPct val="112000"/>
              </a:lnSpc>
              <a:buNone/>
            </a:pPr>
            <a:r>
              <a:rPr lang="en-US" sz="1590" dirty="0">
                <a:solidFill>
                  <a:srgbClr val="C77BD6"/>
                </a:solidFill>
                <a:latin typeface="Courier New" pitchFamily="34" charset="0"/>
                <a:ea typeface="Courier New" pitchFamily="34" charset="-122"/>
                <a:cs typeface="Courier New" pitchFamily="34" charset="-120"/>
              </a:rPr>
              <a:t> </a:t>
            </a:r>
            <a:pPr algn="l" indent="0" marL="0">
              <a:lnSpc>
                <a:spcPct val="112000"/>
              </a:lnSpc>
              <a:buNone/>
            </a:pPr>
            <a:r>
              <a:rPr lang="en-US" sz="1590" dirty="0">
                <a:solidFill>
                  <a:srgbClr val="C77BD6"/>
                </a:solidFill>
                <a:latin typeface="Courier New" pitchFamily="34" charset="0"/>
                <a:ea typeface="Courier New" pitchFamily="34" charset="-122"/>
                <a:cs typeface="Courier New" pitchFamily="34" charset="-120"/>
              </a:rPr>
              <a:t>-</a:t>
            </a:r>
            <a:pPr algn="l" indent="0" marL="0">
              <a:lnSpc>
                <a:spcPct val="112000"/>
              </a:lnSpc>
              <a:buNone/>
            </a:pPr>
            <a:r>
              <a:rPr lang="en-US" sz="1590" dirty="0">
                <a:solidFill>
                  <a:srgbClr val="EFE6F2"/>
                </a:solidFill>
                <a:latin typeface="Courier New" pitchFamily="34" charset="0"/>
                <a:ea typeface="Courier New" pitchFamily="34" charset="-122"/>
                <a:cs typeface="Courier New" pitchFamily="34" charset="-120"/>
              </a:rPr>
              <a:t>Name</a:t>
            </a:r>
            <a:pPr algn="l" indent="0" marL="0">
              <a:lnSpc>
                <a:spcPct val="112000"/>
              </a:lnSpc>
              <a:buNone/>
            </a:pPr>
            <a:r>
              <a:rPr lang="en-US" sz="1590" dirty="0">
                <a:solidFill>
                  <a:srgbClr val="C77BD6"/>
                </a:solidFill>
                <a:latin typeface="Courier New" pitchFamily="34" charset="0"/>
                <a:ea typeface="Courier New" pitchFamily="34" charset="-122"/>
                <a:cs typeface="Courier New" pitchFamily="34" charset="-120"/>
              </a:rPr>
              <a:t> </a:t>
            </a:r>
            <a:pPr algn="l" indent="0" marL="0">
              <a:lnSpc>
                <a:spcPct val="112000"/>
              </a:lnSpc>
              <a:buNone/>
            </a:pPr>
            <a:r>
              <a:rPr lang="en-US" sz="1590" dirty="0">
                <a:solidFill>
                  <a:srgbClr val="8FD9B6"/>
                </a:solidFill>
                <a:latin typeface="Courier New" pitchFamily="34" charset="0"/>
                <a:ea typeface="Courier New" pitchFamily="34" charset="-122"/>
                <a:cs typeface="Courier New" pitchFamily="34" charset="-120"/>
              </a:rPr>
              <a:t>"Bronze-DEV"</a:t>
            </a:r>
            <a:endParaRPr lang="en-US" sz="1590" dirty="0"/>
          </a:p>
          <a:p>
            <a:pPr algn="l" indent="0" marL="0">
              <a:lnSpc>
                <a:spcPct val="112000"/>
              </a:lnSpc>
              <a:buNone/>
            </a:pPr>
            <a:r>
              <a:rPr lang="en-US" sz="1590" dirty="0">
                <a:solidFill>
                  <a:srgbClr val="C77BD6"/>
                </a:solidFill>
                <a:latin typeface="Courier New" pitchFamily="34" charset="0"/>
                <a:ea typeface="Courier New" pitchFamily="34" charset="-122"/>
                <a:cs typeface="Courier New" pitchFamily="34" charset="-120"/>
              </a:rPr>
              <a:t>    </a:t>
            </a:r>
            <a:pPr algn="l" indent="0" marL="0">
              <a:lnSpc>
                <a:spcPct val="112000"/>
              </a:lnSpc>
              <a:buNone/>
            </a:pPr>
            <a:r>
              <a:rPr lang="en-US" sz="1590" dirty="0">
                <a:solidFill>
                  <a:srgbClr val="EFE6F2"/>
                </a:solidFill>
                <a:latin typeface="Courier New" pitchFamily="34" charset="0"/>
                <a:ea typeface="Courier New" pitchFamily="34" charset="-122"/>
                <a:cs typeface="Courier New" pitchFamily="34" charset="-120"/>
              </a:rPr>
              <a:t>Set-Capacity</a:t>
            </a:r>
            <a:pPr algn="l" indent="0" marL="0">
              <a:lnSpc>
                <a:spcPct val="112000"/>
              </a:lnSpc>
              <a:buNone/>
            </a:pPr>
            <a:r>
              <a:rPr lang="en-US" sz="1590" dirty="0">
                <a:solidFill>
                  <a:srgbClr val="C77BD6"/>
                </a:solidFill>
                <a:latin typeface="Courier New" pitchFamily="34" charset="0"/>
                <a:ea typeface="Courier New" pitchFamily="34" charset="-122"/>
                <a:cs typeface="Courier New" pitchFamily="34" charset="-120"/>
              </a:rPr>
              <a:t> </a:t>
            </a:r>
            <a:pPr algn="l" indent="0" marL="0">
              <a:lnSpc>
                <a:spcPct val="112000"/>
              </a:lnSpc>
              <a:buNone/>
            </a:pPr>
            <a:r>
              <a:rPr lang="en-US" sz="1590" dirty="0">
                <a:solidFill>
                  <a:srgbClr val="C77BD6"/>
                </a:solidFill>
                <a:latin typeface="Courier New" pitchFamily="34" charset="0"/>
                <a:ea typeface="Courier New" pitchFamily="34" charset="-122"/>
                <a:cs typeface="Courier New" pitchFamily="34" charset="-120"/>
              </a:rPr>
              <a:t>-</a:t>
            </a:r>
            <a:pPr algn="l" indent="0" marL="0">
              <a:lnSpc>
                <a:spcPct val="112000"/>
              </a:lnSpc>
              <a:buNone/>
            </a:pPr>
            <a:r>
              <a:rPr lang="en-US" sz="1590" dirty="0">
                <a:solidFill>
                  <a:srgbClr val="EFE6F2"/>
                </a:solidFill>
                <a:latin typeface="Courier New" pitchFamily="34" charset="0"/>
                <a:ea typeface="Courier New" pitchFamily="34" charset="-122"/>
                <a:cs typeface="Courier New" pitchFamily="34" charset="-120"/>
              </a:rPr>
              <a:t>Id</a:t>
            </a:r>
            <a:pPr algn="l" indent="0" marL="0">
              <a:lnSpc>
                <a:spcPct val="112000"/>
              </a:lnSpc>
              <a:buNone/>
            </a:pPr>
            <a:r>
              <a:rPr lang="en-US" sz="1590" dirty="0">
                <a:solidFill>
                  <a:srgbClr val="C77BD6"/>
                </a:solidFill>
                <a:latin typeface="Courier New" pitchFamily="34" charset="0"/>
                <a:ea typeface="Courier New" pitchFamily="34" charset="-122"/>
                <a:cs typeface="Courier New" pitchFamily="34" charset="-120"/>
              </a:rPr>
              <a:t> </a:t>
            </a:r>
            <a:pPr algn="l" indent="0" marL="0">
              <a:lnSpc>
                <a:spcPct val="112000"/>
              </a:lnSpc>
              <a:buNone/>
            </a:pPr>
            <a:r>
              <a:rPr lang="en-US" sz="1590" dirty="0">
                <a:solidFill>
                  <a:srgbClr val="C77BD6"/>
                </a:solidFill>
                <a:latin typeface="Courier New" pitchFamily="34" charset="0"/>
                <a:ea typeface="Courier New" pitchFamily="34" charset="-122"/>
                <a:cs typeface="Courier New" pitchFamily="34" charset="-120"/>
              </a:rPr>
              <a:t>$</a:t>
            </a:r>
            <a:pPr algn="l" indent="0" marL="0">
              <a:lnSpc>
                <a:spcPct val="112000"/>
              </a:lnSpc>
              <a:buNone/>
            </a:pPr>
            <a:r>
              <a:rPr lang="en-US" sz="1590" dirty="0">
                <a:solidFill>
                  <a:srgbClr val="EFE6F2"/>
                </a:solidFill>
                <a:latin typeface="Courier New" pitchFamily="34" charset="0"/>
                <a:ea typeface="Courier New" pitchFamily="34" charset="-122"/>
                <a:cs typeface="Courier New" pitchFamily="34" charset="-120"/>
              </a:rPr>
              <a:t>cap</a:t>
            </a:r>
            <a:pPr algn="l" indent="0" marL="0">
              <a:lnSpc>
                <a:spcPct val="112000"/>
              </a:lnSpc>
              <a:buNone/>
            </a:pPr>
            <a:r>
              <a:rPr lang="en-US" sz="1590" dirty="0">
                <a:solidFill>
                  <a:srgbClr val="C77BD6"/>
                </a:solidFill>
                <a:latin typeface="Courier New" pitchFamily="34" charset="0"/>
                <a:ea typeface="Courier New" pitchFamily="34" charset="-122"/>
                <a:cs typeface="Courier New" pitchFamily="34" charset="-120"/>
              </a:rPr>
              <a:t> </a:t>
            </a:r>
            <a:pPr algn="l" indent="0" marL="0">
              <a:lnSpc>
                <a:spcPct val="112000"/>
              </a:lnSpc>
              <a:buNone/>
            </a:pPr>
            <a:r>
              <a:rPr lang="en-US" sz="1590" dirty="0">
                <a:solidFill>
                  <a:srgbClr val="C77BD6"/>
                </a:solidFill>
                <a:latin typeface="Courier New" pitchFamily="34" charset="0"/>
                <a:ea typeface="Courier New" pitchFamily="34" charset="-122"/>
                <a:cs typeface="Courier New" pitchFamily="34" charset="-120"/>
              </a:rPr>
              <a:t>-</a:t>
            </a:r>
            <a:pPr algn="l" indent="0" marL="0">
              <a:lnSpc>
                <a:spcPct val="112000"/>
              </a:lnSpc>
              <a:buNone/>
            </a:pPr>
            <a:r>
              <a:rPr lang="en-US" sz="1590" dirty="0">
                <a:solidFill>
                  <a:srgbClr val="EFE6F2"/>
                </a:solidFill>
                <a:latin typeface="Courier New" pitchFamily="34" charset="0"/>
                <a:ea typeface="Courier New" pitchFamily="34" charset="-122"/>
                <a:cs typeface="Courier New" pitchFamily="34" charset="-120"/>
              </a:rPr>
              <a:t>Workspace</a:t>
            </a:r>
            <a:pPr algn="l" indent="0" marL="0">
              <a:lnSpc>
                <a:spcPct val="112000"/>
              </a:lnSpc>
              <a:buNone/>
            </a:pPr>
            <a:r>
              <a:rPr lang="en-US" sz="1590" dirty="0">
                <a:solidFill>
                  <a:srgbClr val="C77BD6"/>
                </a:solidFill>
                <a:latin typeface="Courier New" pitchFamily="34" charset="0"/>
                <a:ea typeface="Courier New" pitchFamily="34" charset="-122"/>
                <a:cs typeface="Courier New" pitchFamily="34" charset="-120"/>
              </a:rPr>
              <a:t> </a:t>
            </a:r>
            <a:pPr algn="l" indent="0" marL="0">
              <a:lnSpc>
                <a:spcPct val="112000"/>
              </a:lnSpc>
              <a:buNone/>
            </a:pPr>
            <a:r>
              <a:rPr lang="en-US" sz="1590" dirty="0">
                <a:solidFill>
                  <a:srgbClr val="C77BD6"/>
                </a:solidFill>
                <a:latin typeface="Courier New" pitchFamily="34" charset="0"/>
                <a:ea typeface="Courier New" pitchFamily="34" charset="-122"/>
                <a:cs typeface="Courier New" pitchFamily="34" charset="-120"/>
              </a:rPr>
              <a:t>$</a:t>
            </a:r>
            <a:pPr algn="l" indent="0" marL="0">
              <a:lnSpc>
                <a:spcPct val="112000"/>
              </a:lnSpc>
              <a:buNone/>
            </a:pPr>
            <a:r>
              <a:rPr lang="en-US" sz="1590" dirty="0">
                <a:solidFill>
                  <a:srgbClr val="EFE6F2"/>
                </a:solidFill>
                <a:latin typeface="Courier New" pitchFamily="34" charset="0"/>
                <a:ea typeface="Courier New" pitchFamily="34" charset="-122"/>
                <a:cs typeface="Courier New" pitchFamily="34" charset="-120"/>
              </a:rPr>
              <a:t>ws</a:t>
            </a:r>
            <a:endParaRPr lang="en-US" sz="1590" dirty="0"/>
          </a:p>
          <a:p>
            <a:pPr algn="l" indent="0" marL="0">
              <a:lnSpc>
                <a:spcPct val="112000"/>
              </a:lnSpc>
              <a:buNone/>
            </a:pPr>
            <a:r>
              <a:rPr lang="en-US" sz="1590" dirty="0">
                <a:solidFill>
                  <a:srgbClr val="C77BD6"/>
                </a:solidFill>
                <a:latin typeface="Courier New" pitchFamily="34" charset="0"/>
                <a:ea typeface="Courier New" pitchFamily="34" charset="-122"/>
                <a:cs typeface="Courier New" pitchFamily="34" charset="-120"/>
              </a:rPr>
              <a:t>}</a:t>
            </a:r>
            <a:pPr algn="l" indent="0" marL="0">
              <a:lnSpc>
                <a:spcPct val="112000"/>
              </a:lnSpc>
              <a:buNone/>
            </a:pPr>
            <a:r>
              <a:rPr lang="en-US" sz="1590" dirty="0">
                <a:solidFill>
                  <a:srgbClr val="C77BD6"/>
                </a:solidFill>
                <a:latin typeface="Courier New" pitchFamily="34" charset="0"/>
                <a:ea typeface="Courier New" pitchFamily="34" charset="-122"/>
                <a:cs typeface="Courier New" pitchFamily="34" charset="-120"/>
              </a:rPr>
              <a:t> </a:t>
            </a:r>
            <a:pPr algn="l" indent="0" marL="0">
              <a:lnSpc>
                <a:spcPct val="112000"/>
              </a:lnSpc>
              <a:buNone/>
            </a:pPr>
            <a:r>
              <a:rPr lang="en-US" sz="1590" dirty="0">
                <a:solidFill>
                  <a:srgbClr val="EFE6F2"/>
                </a:solidFill>
                <a:latin typeface="Courier New" pitchFamily="34" charset="0"/>
                <a:ea typeface="Courier New" pitchFamily="34" charset="-122"/>
                <a:cs typeface="Courier New" pitchFamily="34" charset="-120"/>
              </a:rPr>
              <a:t>else</a:t>
            </a:r>
            <a:pPr algn="l" indent="0" marL="0">
              <a:lnSpc>
                <a:spcPct val="112000"/>
              </a:lnSpc>
              <a:buNone/>
            </a:pPr>
            <a:r>
              <a:rPr lang="en-US" sz="1590" dirty="0">
                <a:solidFill>
                  <a:srgbClr val="C77BD6"/>
                </a:solidFill>
                <a:latin typeface="Courier New" pitchFamily="34" charset="0"/>
                <a:ea typeface="Courier New" pitchFamily="34" charset="-122"/>
                <a:cs typeface="Courier New" pitchFamily="34" charset="-120"/>
              </a:rPr>
              <a:t> </a:t>
            </a:r>
            <a:pPr algn="l" indent="0" marL="0">
              <a:lnSpc>
                <a:spcPct val="112000"/>
              </a:lnSpc>
              <a:buNone/>
            </a:pPr>
            <a:r>
              <a:rPr lang="en-US" sz="1590" dirty="0">
                <a:solidFill>
                  <a:srgbClr val="C77BD6"/>
                </a:solidFill>
                <a:latin typeface="Courier New" pitchFamily="34" charset="0"/>
                <a:ea typeface="Courier New" pitchFamily="34" charset="-122"/>
                <a:cs typeface="Courier New" pitchFamily="34" charset="-120"/>
              </a:rPr>
              <a:t>{</a:t>
            </a:r>
            <a:endParaRPr lang="en-US" sz="1590" dirty="0"/>
          </a:p>
          <a:p>
            <a:pPr algn="l" indent="0" marL="0">
              <a:lnSpc>
                <a:spcPct val="112000"/>
              </a:lnSpc>
              <a:buNone/>
            </a:pPr>
            <a:r>
              <a:rPr lang="en-US" sz="1590" dirty="0">
                <a:solidFill>
                  <a:srgbClr val="C77BD6"/>
                </a:solidFill>
                <a:latin typeface="Courier New" pitchFamily="34" charset="0"/>
                <a:ea typeface="Courier New" pitchFamily="34" charset="-122"/>
                <a:cs typeface="Courier New" pitchFamily="34" charset="-120"/>
              </a:rPr>
              <a:t>    </a:t>
            </a:r>
            <a:pPr algn="l" indent="0" marL="0">
              <a:lnSpc>
                <a:spcPct val="112000"/>
              </a:lnSpc>
              <a:buNone/>
            </a:pPr>
            <a:r>
              <a:rPr lang="en-US" sz="1590" dirty="0">
                <a:solidFill>
                  <a:srgbClr val="EFE6F2"/>
                </a:solidFill>
                <a:latin typeface="Courier New" pitchFamily="34" charset="0"/>
                <a:ea typeface="Courier New" pitchFamily="34" charset="-122"/>
                <a:cs typeface="Courier New" pitchFamily="34" charset="-120"/>
              </a:rPr>
              <a:t>if</a:t>
            </a:r>
            <a:pPr algn="l" indent="0" marL="0">
              <a:lnSpc>
                <a:spcPct val="112000"/>
              </a:lnSpc>
              <a:buNone/>
            </a:pPr>
            <a:r>
              <a:rPr lang="en-US" sz="1590" dirty="0">
                <a:solidFill>
                  <a:srgbClr val="C77BD6"/>
                </a:solidFill>
                <a:latin typeface="Courier New" pitchFamily="34" charset="0"/>
                <a:ea typeface="Courier New" pitchFamily="34" charset="-122"/>
                <a:cs typeface="Courier New" pitchFamily="34" charset="-120"/>
              </a:rPr>
              <a:t> </a:t>
            </a:r>
            <a:pPr algn="l" indent="0" marL="0">
              <a:lnSpc>
                <a:spcPct val="112000"/>
              </a:lnSpc>
              <a:buNone/>
            </a:pPr>
            <a:r>
              <a:rPr lang="en-US" sz="1590" dirty="0">
                <a:solidFill>
                  <a:srgbClr val="C77BD6"/>
                </a:solidFill>
                <a:latin typeface="Courier New" pitchFamily="34" charset="0"/>
                <a:ea typeface="Courier New" pitchFamily="34" charset="-122"/>
                <a:cs typeface="Courier New" pitchFamily="34" charset="-120"/>
              </a:rPr>
              <a:t>($</a:t>
            </a:r>
            <a:pPr algn="l" indent="0" marL="0">
              <a:lnSpc>
                <a:spcPct val="112000"/>
              </a:lnSpc>
              <a:buNone/>
            </a:pPr>
            <a:r>
              <a:rPr lang="en-US" sz="1590" dirty="0">
                <a:solidFill>
                  <a:srgbClr val="EFE6F2"/>
                </a:solidFill>
                <a:latin typeface="Courier New" pitchFamily="34" charset="0"/>
                <a:ea typeface="Courier New" pitchFamily="34" charset="-122"/>
                <a:cs typeface="Courier New" pitchFamily="34" charset="-120"/>
              </a:rPr>
              <a:t>ws</a:t>
            </a:r>
            <a:pPr algn="l" indent="0" marL="0">
              <a:lnSpc>
                <a:spcPct val="112000"/>
              </a:lnSpc>
              <a:buNone/>
            </a:pPr>
            <a:r>
              <a:rPr lang="en-US" sz="1590" dirty="0">
                <a:solidFill>
                  <a:srgbClr val="C77BD6"/>
                </a:solidFill>
                <a:latin typeface="Courier New" pitchFamily="34" charset="0"/>
                <a:ea typeface="Courier New" pitchFamily="34" charset="-122"/>
                <a:cs typeface="Courier New" pitchFamily="34" charset="-120"/>
              </a:rPr>
              <a:t>.</a:t>
            </a:r>
            <a:pPr algn="l" indent="0" marL="0">
              <a:lnSpc>
                <a:spcPct val="112000"/>
              </a:lnSpc>
              <a:buNone/>
            </a:pPr>
            <a:r>
              <a:rPr lang="en-US" sz="1590" dirty="0">
                <a:solidFill>
                  <a:srgbClr val="EFE6F2"/>
                </a:solidFill>
                <a:latin typeface="Courier New" pitchFamily="34" charset="0"/>
                <a:ea typeface="Courier New" pitchFamily="34" charset="-122"/>
                <a:cs typeface="Courier New" pitchFamily="34" charset="-120"/>
              </a:rPr>
              <a:t>Capacity</a:t>
            </a:r>
            <a:pPr algn="l" indent="0" marL="0">
              <a:lnSpc>
                <a:spcPct val="112000"/>
              </a:lnSpc>
              <a:buNone/>
            </a:pPr>
            <a:r>
              <a:rPr lang="en-US" sz="1590" dirty="0">
                <a:solidFill>
                  <a:srgbClr val="C77BD6"/>
                </a:solidFill>
                <a:latin typeface="Courier New" pitchFamily="34" charset="0"/>
                <a:ea typeface="Courier New" pitchFamily="34" charset="-122"/>
                <a:cs typeface="Courier New" pitchFamily="34" charset="-120"/>
              </a:rPr>
              <a:t> </a:t>
            </a:r>
            <a:pPr algn="l" indent="0" marL="0">
              <a:lnSpc>
                <a:spcPct val="112000"/>
              </a:lnSpc>
              <a:buNone/>
            </a:pPr>
            <a:r>
              <a:rPr lang="en-US" sz="1590" dirty="0">
                <a:solidFill>
                  <a:srgbClr val="C77BD6"/>
                </a:solidFill>
                <a:latin typeface="Courier New" pitchFamily="34" charset="0"/>
                <a:ea typeface="Courier New" pitchFamily="34" charset="-122"/>
                <a:cs typeface="Courier New" pitchFamily="34" charset="-120"/>
              </a:rPr>
              <a:t>-</a:t>
            </a:r>
            <a:pPr algn="l" indent="0" marL="0">
              <a:lnSpc>
                <a:spcPct val="112000"/>
              </a:lnSpc>
              <a:buNone/>
            </a:pPr>
            <a:r>
              <a:rPr lang="en-US" sz="1590" dirty="0">
                <a:solidFill>
                  <a:srgbClr val="EFE6F2"/>
                </a:solidFill>
                <a:latin typeface="Courier New" pitchFamily="34" charset="0"/>
                <a:ea typeface="Courier New" pitchFamily="34" charset="-122"/>
                <a:cs typeface="Courier New" pitchFamily="34" charset="-120"/>
              </a:rPr>
              <a:t>ne</a:t>
            </a:r>
            <a:pPr algn="l" indent="0" marL="0">
              <a:lnSpc>
                <a:spcPct val="112000"/>
              </a:lnSpc>
              <a:buNone/>
            </a:pPr>
            <a:r>
              <a:rPr lang="en-US" sz="1590" dirty="0">
                <a:solidFill>
                  <a:srgbClr val="C77BD6"/>
                </a:solidFill>
                <a:latin typeface="Courier New" pitchFamily="34" charset="0"/>
                <a:ea typeface="Courier New" pitchFamily="34" charset="-122"/>
                <a:cs typeface="Courier New" pitchFamily="34" charset="-120"/>
              </a:rPr>
              <a:t> </a:t>
            </a:r>
            <a:pPr algn="l" indent="0" marL="0">
              <a:lnSpc>
                <a:spcPct val="112000"/>
              </a:lnSpc>
              <a:buNone/>
            </a:pPr>
            <a:r>
              <a:rPr lang="en-US" sz="1590" dirty="0">
                <a:solidFill>
                  <a:srgbClr val="C77BD6"/>
                </a:solidFill>
                <a:latin typeface="Courier New" pitchFamily="34" charset="0"/>
                <a:ea typeface="Courier New" pitchFamily="34" charset="-122"/>
                <a:cs typeface="Courier New" pitchFamily="34" charset="-120"/>
              </a:rPr>
              <a:t>$</a:t>
            </a:r>
            <a:pPr algn="l" indent="0" marL="0">
              <a:lnSpc>
                <a:spcPct val="112000"/>
              </a:lnSpc>
              <a:buNone/>
            </a:pPr>
            <a:r>
              <a:rPr lang="en-US" sz="1590" dirty="0">
                <a:solidFill>
                  <a:srgbClr val="EFE6F2"/>
                </a:solidFill>
                <a:latin typeface="Courier New" pitchFamily="34" charset="0"/>
                <a:ea typeface="Courier New" pitchFamily="34" charset="-122"/>
                <a:cs typeface="Courier New" pitchFamily="34" charset="-120"/>
              </a:rPr>
              <a:t>cap</a:t>
            </a:r>
            <a:pPr algn="l" indent="0" marL="0">
              <a:lnSpc>
                <a:spcPct val="112000"/>
              </a:lnSpc>
              <a:buNone/>
            </a:pPr>
            <a:r>
              <a:rPr lang="en-US" sz="1590" dirty="0">
                <a:solidFill>
                  <a:srgbClr val="C77BD6"/>
                </a:solidFill>
                <a:latin typeface="Courier New" pitchFamily="34" charset="0"/>
                <a:ea typeface="Courier New" pitchFamily="34" charset="-122"/>
                <a:cs typeface="Courier New" pitchFamily="34" charset="-120"/>
              </a:rPr>
              <a:t>)</a:t>
            </a:r>
            <a:pPr algn="l" indent="0" marL="0">
              <a:lnSpc>
                <a:spcPct val="112000"/>
              </a:lnSpc>
              <a:buNone/>
            </a:pPr>
            <a:r>
              <a:rPr lang="en-US" sz="1590" dirty="0">
                <a:solidFill>
                  <a:srgbClr val="C77BD6"/>
                </a:solidFill>
                <a:latin typeface="Courier New" pitchFamily="34" charset="0"/>
                <a:ea typeface="Courier New" pitchFamily="34" charset="-122"/>
                <a:cs typeface="Courier New" pitchFamily="34" charset="-120"/>
              </a:rPr>
              <a:t> </a:t>
            </a:r>
            <a:pPr algn="l" indent="0" marL="0">
              <a:lnSpc>
                <a:spcPct val="112000"/>
              </a:lnSpc>
              <a:buNone/>
            </a:pPr>
            <a:r>
              <a:rPr lang="en-US" sz="1590" dirty="0">
                <a:solidFill>
                  <a:srgbClr val="C77BD6"/>
                </a:solidFill>
                <a:latin typeface="Courier New" pitchFamily="34" charset="0"/>
                <a:ea typeface="Courier New" pitchFamily="34" charset="-122"/>
                <a:cs typeface="Courier New" pitchFamily="34" charset="-120"/>
              </a:rPr>
              <a:t>{</a:t>
            </a:r>
            <a:endParaRPr lang="en-US" sz="1590" dirty="0"/>
          </a:p>
          <a:p>
            <a:pPr algn="l" indent="0" marL="0">
              <a:lnSpc>
                <a:spcPct val="112000"/>
              </a:lnSpc>
              <a:buNone/>
            </a:pPr>
            <a:r>
              <a:rPr lang="en-US" sz="1590" dirty="0">
                <a:solidFill>
                  <a:srgbClr val="C77BD6"/>
                </a:solidFill>
                <a:latin typeface="Courier New" pitchFamily="34" charset="0"/>
                <a:ea typeface="Courier New" pitchFamily="34" charset="-122"/>
                <a:cs typeface="Courier New" pitchFamily="34" charset="-120"/>
              </a:rPr>
              <a:t>        </a:t>
            </a:r>
            <a:pPr algn="l" indent="0" marL="0">
              <a:lnSpc>
                <a:spcPct val="112000"/>
              </a:lnSpc>
              <a:buNone/>
            </a:pPr>
            <a:r>
              <a:rPr lang="en-US" sz="1590" dirty="0">
                <a:solidFill>
                  <a:srgbClr val="EFE6F2"/>
                </a:solidFill>
                <a:latin typeface="Courier New" pitchFamily="34" charset="0"/>
                <a:ea typeface="Courier New" pitchFamily="34" charset="-122"/>
                <a:cs typeface="Courier New" pitchFamily="34" charset="-120"/>
              </a:rPr>
              <a:t>Set-Capacity</a:t>
            </a:r>
            <a:pPr algn="l" indent="0" marL="0">
              <a:lnSpc>
                <a:spcPct val="112000"/>
              </a:lnSpc>
              <a:buNone/>
            </a:pPr>
            <a:r>
              <a:rPr lang="en-US" sz="1590" dirty="0">
                <a:solidFill>
                  <a:srgbClr val="C77BD6"/>
                </a:solidFill>
                <a:latin typeface="Courier New" pitchFamily="34" charset="0"/>
                <a:ea typeface="Courier New" pitchFamily="34" charset="-122"/>
                <a:cs typeface="Courier New" pitchFamily="34" charset="-120"/>
              </a:rPr>
              <a:t> </a:t>
            </a:r>
            <a:pPr algn="l" indent="0" marL="0">
              <a:lnSpc>
                <a:spcPct val="112000"/>
              </a:lnSpc>
              <a:buNone/>
            </a:pPr>
            <a:r>
              <a:rPr lang="en-US" sz="1590" dirty="0">
                <a:solidFill>
                  <a:srgbClr val="C77BD6"/>
                </a:solidFill>
                <a:latin typeface="Courier New" pitchFamily="34" charset="0"/>
                <a:ea typeface="Courier New" pitchFamily="34" charset="-122"/>
                <a:cs typeface="Courier New" pitchFamily="34" charset="-120"/>
              </a:rPr>
              <a:t>-</a:t>
            </a:r>
            <a:pPr algn="l" indent="0" marL="0">
              <a:lnSpc>
                <a:spcPct val="112000"/>
              </a:lnSpc>
              <a:buNone/>
            </a:pPr>
            <a:r>
              <a:rPr lang="en-US" sz="1590" dirty="0">
                <a:solidFill>
                  <a:srgbClr val="EFE6F2"/>
                </a:solidFill>
                <a:latin typeface="Courier New" pitchFamily="34" charset="0"/>
                <a:ea typeface="Courier New" pitchFamily="34" charset="-122"/>
                <a:cs typeface="Courier New" pitchFamily="34" charset="-120"/>
              </a:rPr>
              <a:t>Id</a:t>
            </a:r>
            <a:pPr algn="l" indent="0" marL="0">
              <a:lnSpc>
                <a:spcPct val="112000"/>
              </a:lnSpc>
              <a:buNone/>
            </a:pPr>
            <a:r>
              <a:rPr lang="en-US" sz="1590" dirty="0">
                <a:solidFill>
                  <a:srgbClr val="C77BD6"/>
                </a:solidFill>
                <a:latin typeface="Courier New" pitchFamily="34" charset="0"/>
                <a:ea typeface="Courier New" pitchFamily="34" charset="-122"/>
                <a:cs typeface="Courier New" pitchFamily="34" charset="-120"/>
              </a:rPr>
              <a:t> </a:t>
            </a:r>
            <a:pPr algn="l" indent="0" marL="0">
              <a:lnSpc>
                <a:spcPct val="112000"/>
              </a:lnSpc>
              <a:buNone/>
            </a:pPr>
            <a:r>
              <a:rPr lang="en-US" sz="1590" dirty="0">
                <a:solidFill>
                  <a:srgbClr val="C77BD6"/>
                </a:solidFill>
                <a:latin typeface="Courier New" pitchFamily="34" charset="0"/>
                <a:ea typeface="Courier New" pitchFamily="34" charset="-122"/>
                <a:cs typeface="Courier New" pitchFamily="34" charset="-120"/>
              </a:rPr>
              <a:t>$</a:t>
            </a:r>
            <a:pPr algn="l" indent="0" marL="0">
              <a:lnSpc>
                <a:spcPct val="112000"/>
              </a:lnSpc>
              <a:buNone/>
            </a:pPr>
            <a:r>
              <a:rPr lang="en-US" sz="1590" dirty="0">
                <a:solidFill>
                  <a:srgbClr val="EFE6F2"/>
                </a:solidFill>
                <a:latin typeface="Courier New" pitchFamily="34" charset="0"/>
                <a:ea typeface="Courier New" pitchFamily="34" charset="-122"/>
                <a:cs typeface="Courier New" pitchFamily="34" charset="-120"/>
              </a:rPr>
              <a:t>cap</a:t>
            </a:r>
            <a:pPr algn="l" indent="0" marL="0">
              <a:lnSpc>
                <a:spcPct val="112000"/>
              </a:lnSpc>
              <a:buNone/>
            </a:pPr>
            <a:r>
              <a:rPr lang="en-US" sz="1590" dirty="0">
                <a:solidFill>
                  <a:srgbClr val="C77BD6"/>
                </a:solidFill>
                <a:latin typeface="Courier New" pitchFamily="34" charset="0"/>
                <a:ea typeface="Courier New" pitchFamily="34" charset="-122"/>
                <a:cs typeface="Courier New" pitchFamily="34" charset="-120"/>
              </a:rPr>
              <a:t> </a:t>
            </a:r>
            <a:pPr algn="l" indent="0" marL="0">
              <a:lnSpc>
                <a:spcPct val="112000"/>
              </a:lnSpc>
              <a:buNone/>
            </a:pPr>
            <a:r>
              <a:rPr lang="en-US" sz="1590" dirty="0">
                <a:solidFill>
                  <a:srgbClr val="C77BD6"/>
                </a:solidFill>
                <a:latin typeface="Courier New" pitchFamily="34" charset="0"/>
                <a:ea typeface="Courier New" pitchFamily="34" charset="-122"/>
                <a:cs typeface="Courier New" pitchFamily="34" charset="-120"/>
              </a:rPr>
              <a:t>-</a:t>
            </a:r>
            <a:pPr algn="l" indent="0" marL="0">
              <a:lnSpc>
                <a:spcPct val="112000"/>
              </a:lnSpc>
              <a:buNone/>
            </a:pPr>
            <a:r>
              <a:rPr lang="en-US" sz="1590" dirty="0">
                <a:solidFill>
                  <a:srgbClr val="EFE6F2"/>
                </a:solidFill>
                <a:latin typeface="Courier New" pitchFamily="34" charset="0"/>
                <a:ea typeface="Courier New" pitchFamily="34" charset="-122"/>
                <a:cs typeface="Courier New" pitchFamily="34" charset="-120"/>
              </a:rPr>
              <a:t>Workspace</a:t>
            </a:r>
            <a:pPr algn="l" indent="0" marL="0">
              <a:lnSpc>
                <a:spcPct val="112000"/>
              </a:lnSpc>
              <a:buNone/>
            </a:pPr>
            <a:r>
              <a:rPr lang="en-US" sz="1590" dirty="0">
                <a:solidFill>
                  <a:srgbClr val="C77BD6"/>
                </a:solidFill>
                <a:latin typeface="Courier New" pitchFamily="34" charset="0"/>
                <a:ea typeface="Courier New" pitchFamily="34" charset="-122"/>
                <a:cs typeface="Courier New" pitchFamily="34" charset="-120"/>
              </a:rPr>
              <a:t> </a:t>
            </a:r>
            <a:pPr algn="l" indent="0" marL="0">
              <a:lnSpc>
                <a:spcPct val="112000"/>
              </a:lnSpc>
              <a:buNone/>
            </a:pPr>
            <a:r>
              <a:rPr lang="en-US" sz="1590" dirty="0">
                <a:solidFill>
                  <a:srgbClr val="C77BD6"/>
                </a:solidFill>
                <a:latin typeface="Courier New" pitchFamily="34" charset="0"/>
                <a:ea typeface="Courier New" pitchFamily="34" charset="-122"/>
                <a:cs typeface="Courier New" pitchFamily="34" charset="-120"/>
              </a:rPr>
              <a:t>$</a:t>
            </a:r>
            <a:pPr algn="l" indent="0" marL="0">
              <a:lnSpc>
                <a:spcPct val="112000"/>
              </a:lnSpc>
              <a:buNone/>
            </a:pPr>
            <a:r>
              <a:rPr lang="en-US" sz="1590" dirty="0">
                <a:solidFill>
                  <a:srgbClr val="EFE6F2"/>
                </a:solidFill>
                <a:latin typeface="Courier New" pitchFamily="34" charset="0"/>
                <a:ea typeface="Courier New" pitchFamily="34" charset="-122"/>
                <a:cs typeface="Courier New" pitchFamily="34" charset="-120"/>
              </a:rPr>
              <a:t>ws</a:t>
            </a:r>
            <a:endParaRPr lang="en-US" sz="1590" dirty="0"/>
          </a:p>
          <a:p>
            <a:pPr algn="l" indent="0" marL="0">
              <a:lnSpc>
                <a:spcPct val="112000"/>
              </a:lnSpc>
              <a:buNone/>
            </a:pPr>
            <a:r>
              <a:rPr lang="en-US" sz="1590" dirty="0">
                <a:solidFill>
                  <a:srgbClr val="C77BD6"/>
                </a:solidFill>
                <a:latin typeface="Courier New" pitchFamily="34" charset="0"/>
                <a:ea typeface="Courier New" pitchFamily="34" charset="-122"/>
                <a:cs typeface="Courier New" pitchFamily="34" charset="-120"/>
              </a:rPr>
              <a:t>    </a:t>
            </a:r>
            <a:pPr algn="l" indent="0" marL="0">
              <a:lnSpc>
                <a:spcPct val="112000"/>
              </a:lnSpc>
              <a:buNone/>
            </a:pPr>
            <a:r>
              <a:rPr lang="en-US" sz="1590" dirty="0">
                <a:solidFill>
                  <a:srgbClr val="C77BD6"/>
                </a:solidFill>
                <a:latin typeface="Courier New" pitchFamily="34" charset="0"/>
                <a:ea typeface="Courier New" pitchFamily="34" charset="-122"/>
                <a:cs typeface="Courier New" pitchFamily="34" charset="-120"/>
              </a:rPr>
              <a:t>}</a:t>
            </a:r>
            <a:endParaRPr lang="en-US" sz="1590" dirty="0"/>
          </a:p>
          <a:p>
            <a:pPr algn="l" indent="0" marL="0">
              <a:lnSpc>
                <a:spcPct val="112000"/>
              </a:lnSpc>
              <a:buNone/>
            </a:pPr>
            <a:r>
              <a:rPr lang="en-US" sz="1590" dirty="0">
                <a:solidFill>
                  <a:srgbClr val="C77BD6"/>
                </a:solidFill>
                <a:latin typeface="Courier New" pitchFamily="34" charset="0"/>
                <a:ea typeface="Courier New" pitchFamily="34" charset="-122"/>
                <a:cs typeface="Courier New" pitchFamily="34" charset="-120"/>
              </a:rPr>
              <a:t>}</a:t>
            </a:r>
            <a:endParaRPr lang="en-US" sz="1590" dirty="0"/>
          </a:p>
        </p:txBody>
      </p:sp>
      <p:sp>
        <p:nvSpPr>
          <p:cNvPr id="8" name="Text 5"/>
          <p:cNvSpPr txBox="1"/>
          <p:nvPr/>
        </p:nvSpPr>
        <p:spPr>
          <a:xfrm>
            <a:off x="1572768" y="6550762"/>
            <a:ext cx="7381951" cy="504749"/>
          </a:xfrm>
          <a:prstGeom prst="rect">
            <a:avLst/>
          </a:prstGeom>
          <a:noFill/>
          <a:ln/>
        </p:spPr>
        <p:txBody>
          <a:bodyPr wrap="square" lIns="0" tIns="0" rIns="0" bIns="0" rtlCol="0" anchor="ctr"/>
          <a:lstStyle/>
          <a:p>
            <a:pPr indent="0" marL="0">
              <a:buNone/>
            </a:pPr>
            <a:r>
              <a:rPr lang="en-US" sz="1790" i="1" dirty="0">
                <a:solidFill>
                  <a:srgbClr val="6E5C73"/>
                </a:solidFill>
                <a:latin typeface="Calibri" pitchFamily="34" charset="0"/>
                <a:ea typeface="Calibri" pitchFamily="34" charset="-122"/>
                <a:cs typeface="Calibri" pitchFamily="34" charset="-120"/>
              </a:rPr>
              <a:t>Tú escribes todos los if. Tú gestionas todos los casos.</a:t>
            </a:r>
            <a:endParaRPr lang="en-US" sz="1790" dirty="0"/>
          </a:p>
        </p:txBody>
      </p:sp>
      <p:sp>
        <p:nvSpPr>
          <p:cNvPr id="9" name="Text 6"/>
          <p:cNvSpPr txBox="1"/>
          <p:nvPr/>
        </p:nvSpPr>
        <p:spPr>
          <a:xfrm>
            <a:off x="9396374" y="2954426"/>
            <a:ext cx="7318858" cy="441655"/>
          </a:xfrm>
          <a:prstGeom prst="rect">
            <a:avLst/>
          </a:prstGeom>
          <a:noFill/>
          <a:ln/>
        </p:spPr>
        <p:txBody>
          <a:bodyPr wrap="square" lIns="0" tIns="0" rIns="0" bIns="0" rtlCol="0" anchor="ctr"/>
          <a:lstStyle/>
          <a:p>
            <a:pPr indent="0" marL="0">
              <a:buNone/>
            </a:pPr>
            <a:r>
              <a:rPr lang="en-US" sz="1660" b="1" spc="207" kern="0" dirty="0">
                <a:solidFill>
                  <a:srgbClr val="2BB5A0"/>
                </a:solidFill>
                <a:latin typeface="Calibri" pitchFamily="34" charset="0"/>
                <a:ea typeface="Calibri" pitchFamily="34" charset="-122"/>
                <a:cs typeface="Calibri" pitchFamily="34" charset="-120"/>
              </a:rPr>
              <a:t>DECLARATIVO — le dices QUÉ</a:t>
            </a:r>
            <a:endParaRPr lang="en-US" sz="1660" dirty="0"/>
          </a:p>
        </p:txBody>
      </p:sp>
      <p:sp>
        <p:nvSpPr>
          <p:cNvPr id="10" name="Shape 7"/>
          <p:cNvSpPr/>
          <p:nvPr/>
        </p:nvSpPr>
        <p:spPr>
          <a:xfrm>
            <a:off x="9396374" y="3459175"/>
            <a:ext cx="7318858" cy="2965399"/>
          </a:xfrm>
          <a:prstGeom prst="roundRect">
            <a:avLst>
              <a:gd name="adj" fmla="val 3392"/>
            </a:avLst>
          </a:prstGeom>
          <a:solidFill>
            <a:srgbClr val="2A0E38"/>
          </a:solidFill>
          <a:ln w="12700">
            <a:solidFill>
              <a:srgbClr val="2A0E38"/>
            </a:solidFill>
            <a:prstDash val="solid"/>
          </a:ln>
        </p:spPr>
      </p:sp>
      <p:sp>
        <p:nvSpPr>
          <p:cNvPr id="11" name="Text 8"/>
          <p:cNvSpPr txBox="1"/>
          <p:nvPr/>
        </p:nvSpPr>
        <p:spPr>
          <a:xfrm>
            <a:off x="9674352" y="3661258"/>
            <a:ext cx="6763817" cy="2561234"/>
          </a:xfrm>
          <a:prstGeom prst="rect">
            <a:avLst/>
          </a:prstGeom>
          <a:noFill/>
          <a:ln/>
        </p:spPr>
        <p:txBody>
          <a:bodyPr wrap="square" lIns="0" tIns="0" rIns="0" bIns="0" rtlCol="0" anchor="t"/>
          <a:lstStyle/>
          <a:p>
            <a:pPr algn="l" indent="0" marL="0">
              <a:lnSpc>
                <a:spcPct val="112000"/>
              </a:lnSpc>
              <a:buNone/>
            </a:pPr>
            <a:r>
              <a:rPr lang="en-US" sz="1590" b="1" dirty="0">
                <a:solidFill>
                  <a:srgbClr val="DFA0EC"/>
                </a:solidFill>
                <a:latin typeface="Courier New" pitchFamily="34" charset="0"/>
                <a:ea typeface="Courier New" pitchFamily="34" charset="-122"/>
                <a:cs typeface="Courier New" pitchFamily="34" charset="-120"/>
              </a:rPr>
              <a:t>resource</a:t>
            </a:r>
            <a:pPr algn="l" indent="0" marL="0">
              <a:lnSpc>
                <a:spcPct val="112000"/>
              </a:lnSpc>
              <a:buNone/>
            </a:pPr>
            <a:r>
              <a:rPr lang="en-US" sz="1590" dirty="0">
                <a:solidFill>
                  <a:srgbClr val="C77BD6"/>
                </a:solidFill>
                <a:latin typeface="Courier New" pitchFamily="34" charset="0"/>
                <a:ea typeface="Courier New" pitchFamily="34" charset="-122"/>
                <a:cs typeface="Courier New" pitchFamily="34" charset="-120"/>
              </a:rPr>
              <a:t> </a:t>
            </a:r>
            <a:pPr algn="l" indent="0" marL="0">
              <a:lnSpc>
                <a:spcPct val="112000"/>
              </a:lnSpc>
              <a:buNone/>
            </a:pPr>
            <a:r>
              <a:rPr lang="en-US" sz="1590" dirty="0">
                <a:solidFill>
                  <a:srgbClr val="8FD9B6"/>
                </a:solidFill>
                <a:latin typeface="Courier New" pitchFamily="34" charset="0"/>
                <a:ea typeface="Courier New" pitchFamily="34" charset="-122"/>
                <a:cs typeface="Courier New" pitchFamily="34" charset="-120"/>
              </a:rPr>
              <a:t>"fabric_workspace"</a:t>
            </a:r>
            <a:pPr algn="l" indent="0" marL="0">
              <a:lnSpc>
                <a:spcPct val="112000"/>
              </a:lnSpc>
              <a:buNone/>
            </a:pPr>
            <a:r>
              <a:rPr lang="en-US" sz="1590" dirty="0">
                <a:solidFill>
                  <a:srgbClr val="C77BD6"/>
                </a:solidFill>
                <a:latin typeface="Courier New" pitchFamily="34" charset="0"/>
                <a:ea typeface="Courier New" pitchFamily="34" charset="-122"/>
                <a:cs typeface="Courier New" pitchFamily="34" charset="-120"/>
              </a:rPr>
              <a:t> </a:t>
            </a:r>
            <a:pPr algn="l" indent="0" marL="0">
              <a:lnSpc>
                <a:spcPct val="112000"/>
              </a:lnSpc>
              <a:buNone/>
            </a:pPr>
            <a:r>
              <a:rPr lang="en-US" sz="1590" dirty="0">
                <a:solidFill>
                  <a:srgbClr val="8FD9B6"/>
                </a:solidFill>
                <a:latin typeface="Courier New" pitchFamily="34" charset="0"/>
                <a:ea typeface="Courier New" pitchFamily="34" charset="-122"/>
                <a:cs typeface="Courier New" pitchFamily="34" charset="-120"/>
              </a:rPr>
              <a:t>"bronze_dev"</a:t>
            </a:r>
            <a:pPr algn="l" indent="0" marL="0">
              <a:lnSpc>
                <a:spcPct val="112000"/>
              </a:lnSpc>
              <a:buNone/>
            </a:pPr>
            <a:r>
              <a:rPr lang="en-US" sz="1590" dirty="0">
                <a:solidFill>
                  <a:srgbClr val="C77BD6"/>
                </a:solidFill>
                <a:latin typeface="Courier New" pitchFamily="34" charset="0"/>
                <a:ea typeface="Courier New" pitchFamily="34" charset="-122"/>
                <a:cs typeface="Courier New" pitchFamily="34" charset="-120"/>
              </a:rPr>
              <a:t> </a:t>
            </a:r>
            <a:pPr algn="l" indent="0" marL="0">
              <a:lnSpc>
                <a:spcPct val="112000"/>
              </a:lnSpc>
              <a:buNone/>
            </a:pPr>
            <a:r>
              <a:rPr lang="en-US" sz="1590" dirty="0">
                <a:solidFill>
                  <a:srgbClr val="C77BD6"/>
                </a:solidFill>
                <a:latin typeface="Courier New" pitchFamily="34" charset="0"/>
                <a:ea typeface="Courier New" pitchFamily="34" charset="-122"/>
                <a:cs typeface="Courier New" pitchFamily="34" charset="-120"/>
              </a:rPr>
              <a:t>{</a:t>
            </a:r>
            <a:endParaRPr lang="en-US" sz="1590" dirty="0"/>
          </a:p>
          <a:p>
            <a:pPr algn="l" indent="0" marL="0">
              <a:lnSpc>
                <a:spcPct val="112000"/>
              </a:lnSpc>
              <a:buNone/>
            </a:pPr>
            <a:r>
              <a:rPr lang="en-US" sz="1590" dirty="0">
                <a:solidFill>
                  <a:srgbClr val="C77BD6"/>
                </a:solidFill>
                <a:latin typeface="Courier New" pitchFamily="34" charset="0"/>
                <a:ea typeface="Courier New" pitchFamily="34" charset="-122"/>
                <a:cs typeface="Courier New" pitchFamily="34" charset="-120"/>
              </a:rPr>
              <a:t>  </a:t>
            </a:r>
            <a:pPr algn="l" indent="0" marL="0">
              <a:lnSpc>
                <a:spcPct val="112000"/>
              </a:lnSpc>
              <a:buNone/>
            </a:pPr>
            <a:r>
              <a:rPr lang="en-US" sz="1590" dirty="0">
                <a:solidFill>
                  <a:srgbClr val="EFE6F2"/>
                </a:solidFill>
                <a:latin typeface="Courier New" pitchFamily="34" charset="0"/>
                <a:ea typeface="Courier New" pitchFamily="34" charset="-122"/>
                <a:cs typeface="Courier New" pitchFamily="34" charset="-120"/>
              </a:rPr>
              <a:t>display_name</a:t>
            </a:r>
            <a:pPr algn="l" indent="0" marL="0">
              <a:lnSpc>
                <a:spcPct val="112000"/>
              </a:lnSpc>
              <a:buNone/>
            </a:pPr>
            <a:r>
              <a:rPr lang="en-US" sz="1590" dirty="0">
                <a:solidFill>
                  <a:srgbClr val="C77BD6"/>
                </a:solidFill>
                <a:latin typeface="Courier New" pitchFamily="34" charset="0"/>
                <a:ea typeface="Courier New" pitchFamily="34" charset="-122"/>
                <a:cs typeface="Courier New" pitchFamily="34" charset="-120"/>
              </a:rPr>
              <a:t> </a:t>
            </a:r>
            <a:pPr algn="l" indent="0" marL="0">
              <a:lnSpc>
                <a:spcPct val="112000"/>
              </a:lnSpc>
              <a:buNone/>
            </a:pPr>
            <a:r>
              <a:rPr lang="en-US" sz="1590" dirty="0">
                <a:solidFill>
                  <a:srgbClr val="C77BD6"/>
                </a:solidFill>
                <a:latin typeface="Courier New" pitchFamily="34" charset="0"/>
                <a:ea typeface="Courier New" pitchFamily="34" charset="-122"/>
                <a:cs typeface="Courier New" pitchFamily="34" charset="-120"/>
              </a:rPr>
              <a:t>=</a:t>
            </a:r>
            <a:pPr algn="l" indent="0" marL="0">
              <a:lnSpc>
                <a:spcPct val="112000"/>
              </a:lnSpc>
              <a:buNone/>
            </a:pPr>
            <a:r>
              <a:rPr lang="en-US" sz="1590" dirty="0">
                <a:solidFill>
                  <a:srgbClr val="C77BD6"/>
                </a:solidFill>
                <a:latin typeface="Courier New" pitchFamily="34" charset="0"/>
                <a:ea typeface="Courier New" pitchFamily="34" charset="-122"/>
                <a:cs typeface="Courier New" pitchFamily="34" charset="-120"/>
              </a:rPr>
              <a:t> </a:t>
            </a:r>
            <a:pPr algn="l" indent="0" marL="0">
              <a:lnSpc>
                <a:spcPct val="112000"/>
              </a:lnSpc>
              <a:buNone/>
            </a:pPr>
            <a:r>
              <a:rPr lang="en-US" sz="1590" dirty="0">
                <a:solidFill>
                  <a:srgbClr val="8FD9B6"/>
                </a:solidFill>
                <a:latin typeface="Courier New" pitchFamily="34" charset="0"/>
                <a:ea typeface="Courier New" pitchFamily="34" charset="-122"/>
                <a:cs typeface="Courier New" pitchFamily="34" charset="-120"/>
              </a:rPr>
              <a:t>"Bronze-DEV"</a:t>
            </a:r>
            <a:endParaRPr lang="en-US" sz="1590" dirty="0"/>
          </a:p>
          <a:p>
            <a:pPr algn="l" indent="0" marL="0">
              <a:lnSpc>
                <a:spcPct val="112000"/>
              </a:lnSpc>
              <a:buNone/>
            </a:pPr>
            <a:r>
              <a:rPr lang="en-US" sz="1590" dirty="0">
                <a:solidFill>
                  <a:srgbClr val="C77BD6"/>
                </a:solidFill>
                <a:latin typeface="Courier New" pitchFamily="34" charset="0"/>
                <a:ea typeface="Courier New" pitchFamily="34" charset="-122"/>
                <a:cs typeface="Courier New" pitchFamily="34" charset="-120"/>
              </a:rPr>
              <a:t>  </a:t>
            </a:r>
            <a:pPr algn="l" indent="0" marL="0">
              <a:lnSpc>
                <a:spcPct val="112000"/>
              </a:lnSpc>
              <a:buNone/>
            </a:pPr>
            <a:r>
              <a:rPr lang="en-US" sz="1590" dirty="0">
                <a:solidFill>
                  <a:srgbClr val="EFE6F2"/>
                </a:solidFill>
                <a:latin typeface="Courier New" pitchFamily="34" charset="0"/>
                <a:ea typeface="Courier New" pitchFamily="34" charset="-122"/>
                <a:cs typeface="Courier New" pitchFamily="34" charset="-120"/>
              </a:rPr>
              <a:t>capacity_id</a:t>
            </a:r>
            <a:pPr algn="l" indent="0" marL="0">
              <a:lnSpc>
                <a:spcPct val="112000"/>
              </a:lnSpc>
              <a:buNone/>
            </a:pPr>
            <a:r>
              <a:rPr lang="en-US" sz="1590" dirty="0">
                <a:solidFill>
                  <a:srgbClr val="C77BD6"/>
                </a:solidFill>
                <a:latin typeface="Courier New" pitchFamily="34" charset="0"/>
                <a:ea typeface="Courier New" pitchFamily="34" charset="-122"/>
                <a:cs typeface="Courier New" pitchFamily="34" charset="-120"/>
              </a:rPr>
              <a:t>  </a:t>
            </a:r>
            <a:pPr algn="l" indent="0" marL="0">
              <a:lnSpc>
                <a:spcPct val="112000"/>
              </a:lnSpc>
              <a:buNone/>
            </a:pPr>
            <a:r>
              <a:rPr lang="en-US" sz="1590" dirty="0">
                <a:solidFill>
                  <a:srgbClr val="C77BD6"/>
                </a:solidFill>
                <a:latin typeface="Courier New" pitchFamily="34" charset="0"/>
                <a:ea typeface="Courier New" pitchFamily="34" charset="-122"/>
                <a:cs typeface="Courier New" pitchFamily="34" charset="-120"/>
              </a:rPr>
              <a:t>=</a:t>
            </a:r>
            <a:pPr algn="l" indent="0" marL="0">
              <a:lnSpc>
                <a:spcPct val="112000"/>
              </a:lnSpc>
              <a:buNone/>
            </a:pPr>
            <a:r>
              <a:rPr lang="en-US" sz="1590" dirty="0">
                <a:solidFill>
                  <a:srgbClr val="C77BD6"/>
                </a:solidFill>
                <a:latin typeface="Courier New" pitchFamily="34" charset="0"/>
                <a:ea typeface="Courier New" pitchFamily="34" charset="-122"/>
                <a:cs typeface="Courier New" pitchFamily="34" charset="-120"/>
              </a:rPr>
              <a:t> </a:t>
            </a:r>
            <a:pPr algn="l" indent="0" marL="0">
              <a:lnSpc>
                <a:spcPct val="112000"/>
              </a:lnSpc>
              <a:buNone/>
            </a:pPr>
            <a:r>
              <a:rPr lang="en-US" sz="1590" dirty="0">
                <a:solidFill>
                  <a:srgbClr val="EFE6F2"/>
                </a:solidFill>
                <a:latin typeface="Courier New" pitchFamily="34" charset="0"/>
                <a:ea typeface="Courier New" pitchFamily="34" charset="-122"/>
                <a:cs typeface="Courier New" pitchFamily="34" charset="-120"/>
              </a:rPr>
              <a:t>var</a:t>
            </a:r>
            <a:pPr algn="l" indent="0" marL="0">
              <a:lnSpc>
                <a:spcPct val="112000"/>
              </a:lnSpc>
              <a:buNone/>
            </a:pPr>
            <a:r>
              <a:rPr lang="en-US" sz="1590" dirty="0">
                <a:solidFill>
                  <a:srgbClr val="C77BD6"/>
                </a:solidFill>
                <a:latin typeface="Courier New" pitchFamily="34" charset="0"/>
                <a:ea typeface="Courier New" pitchFamily="34" charset="-122"/>
                <a:cs typeface="Courier New" pitchFamily="34" charset="-120"/>
              </a:rPr>
              <a:t>.</a:t>
            </a:r>
            <a:pPr algn="l" indent="0" marL="0">
              <a:lnSpc>
                <a:spcPct val="112000"/>
              </a:lnSpc>
              <a:buNone/>
            </a:pPr>
            <a:r>
              <a:rPr lang="en-US" sz="1590" dirty="0">
                <a:solidFill>
                  <a:srgbClr val="EFE6F2"/>
                </a:solidFill>
                <a:latin typeface="Courier New" pitchFamily="34" charset="0"/>
                <a:ea typeface="Courier New" pitchFamily="34" charset="-122"/>
                <a:cs typeface="Courier New" pitchFamily="34" charset="-120"/>
              </a:rPr>
              <a:t>capacity_id</a:t>
            </a:r>
            <a:endParaRPr lang="en-US" sz="1590" dirty="0"/>
          </a:p>
          <a:p>
            <a:pPr algn="l" indent="0" marL="0">
              <a:lnSpc>
                <a:spcPct val="112000"/>
              </a:lnSpc>
              <a:buNone/>
            </a:pPr>
            <a:r>
              <a:rPr lang="en-US" sz="1590" dirty="0">
                <a:solidFill>
                  <a:srgbClr val="C77BD6"/>
                </a:solidFill>
                <a:latin typeface="Courier New" pitchFamily="34" charset="0"/>
                <a:ea typeface="Courier New" pitchFamily="34" charset="-122"/>
                <a:cs typeface="Courier New" pitchFamily="34" charset="-120"/>
              </a:rPr>
              <a:t>}</a:t>
            </a:r>
            <a:endParaRPr lang="en-US" sz="1590" dirty="0"/>
          </a:p>
          <a:p>
            <a:pPr algn="l" indent="0" marL="0">
              <a:lnSpc>
                <a:spcPct val="112000"/>
              </a:lnSpc>
              <a:buNone/>
            </a:pPr>
            <a:r>
              <a:rPr lang="en-US" sz="1590" dirty="0">
                <a:solidFill>
                  <a:srgbClr val="EFE6F2"/>
                </a:solidFill>
                <a:latin typeface="Courier New" pitchFamily="34" charset="0"/>
                <a:ea typeface="Courier New" pitchFamily="34" charset="-122"/>
                <a:cs typeface="Courier New" pitchFamily="34" charset="-120"/>
              </a:rPr>
              <a:t> </a:t>
            </a:r>
            <a:endParaRPr lang="en-US" sz="1590" dirty="0"/>
          </a:p>
          <a:p>
            <a:pPr algn="l" indent="0" marL="0">
              <a:lnSpc>
                <a:spcPct val="112000"/>
              </a:lnSpc>
              <a:buNone/>
            </a:pPr>
            <a:r>
              <a:rPr lang="en-US" sz="1590" i="1" dirty="0">
                <a:solidFill>
                  <a:srgbClr val="A791AD"/>
                </a:solidFill>
                <a:latin typeface="Courier New" pitchFamily="34" charset="0"/>
                <a:ea typeface="Courier New" pitchFamily="34" charset="-122"/>
                <a:cs typeface="Courier New" pitchFamily="34" charset="-120"/>
              </a:rPr>
              <a:t># Quiero que exista así.</a:t>
            </a:r>
            <a:endParaRPr lang="en-US" sz="1590" dirty="0"/>
          </a:p>
          <a:p>
            <a:pPr algn="l" indent="0" marL="0">
              <a:lnSpc>
                <a:spcPct val="112000"/>
              </a:lnSpc>
              <a:buNone/>
            </a:pPr>
            <a:r>
              <a:rPr lang="en-US" sz="1590" i="1" dirty="0">
                <a:solidFill>
                  <a:srgbClr val="A791AD"/>
                </a:solidFill>
                <a:latin typeface="Courier New" pitchFamily="34" charset="0"/>
                <a:ea typeface="Courier New" pitchFamily="34" charset="-122"/>
                <a:cs typeface="Courier New" pitchFamily="34" charset="-120"/>
              </a:rPr>
              <a:t># Ya verá Terraform cómo llegar.</a:t>
            </a:r>
            <a:endParaRPr lang="en-US" sz="1590" dirty="0"/>
          </a:p>
        </p:txBody>
      </p:sp>
      <p:sp>
        <p:nvSpPr>
          <p:cNvPr id="12" name="Text 9"/>
          <p:cNvSpPr txBox="1"/>
          <p:nvPr/>
        </p:nvSpPr>
        <p:spPr>
          <a:xfrm>
            <a:off x="9396374" y="6550762"/>
            <a:ext cx="7318858" cy="504749"/>
          </a:xfrm>
          <a:prstGeom prst="rect">
            <a:avLst/>
          </a:prstGeom>
          <a:noFill/>
          <a:ln/>
        </p:spPr>
        <p:txBody>
          <a:bodyPr wrap="square" lIns="0" tIns="0" rIns="0" bIns="0" rtlCol="0" anchor="ctr"/>
          <a:lstStyle/>
          <a:p>
            <a:pPr indent="0" marL="0">
              <a:buNone/>
            </a:pPr>
            <a:r>
              <a:rPr lang="en-US" sz="1790" i="1" dirty="0">
                <a:solidFill>
                  <a:srgbClr val="6E5C73"/>
                </a:solidFill>
                <a:latin typeface="Calibri" pitchFamily="34" charset="0"/>
                <a:ea typeface="Calibri" pitchFamily="34" charset="-122"/>
                <a:cs typeface="Calibri" pitchFamily="34" charset="-120"/>
              </a:rPr>
              <a:t>Tú declaras el resultado. El motor calcula el camino.</a:t>
            </a:r>
            <a:endParaRPr lang="en-US" sz="1790" dirty="0"/>
          </a:p>
        </p:txBody>
      </p:sp>
      <p:sp>
        <p:nvSpPr>
          <p:cNvPr id="13" name="Shape 10"/>
          <p:cNvSpPr/>
          <p:nvPr/>
        </p:nvSpPr>
        <p:spPr>
          <a:xfrm>
            <a:off x="1572768" y="7434072"/>
            <a:ext cx="15142464" cy="1703527"/>
          </a:xfrm>
          <a:prstGeom prst="roundRect">
            <a:avLst>
              <a:gd name="adj" fmla="val 7407"/>
            </a:avLst>
          </a:prstGeom>
          <a:solidFill>
            <a:srgbClr val="2A0E33"/>
          </a:solidFill>
          <a:ln w="12700">
            <a:solidFill>
              <a:srgbClr val="2A0E33"/>
            </a:solidFill>
            <a:prstDash val="solid"/>
          </a:ln>
        </p:spPr>
      </p:sp>
      <p:sp>
        <p:nvSpPr>
          <p:cNvPr id="14" name="Text 11"/>
          <p:cNvSpPr txBox="1"/>
          <p:nvPr/>
        </p:nvSpPr>
        <p:spPr>
          <a:xfrm>
            <a:off x="2077517" y="7661758"/>
            <a:ext cx="14132966" cy="530352"/>
          </a:xfrm>
          <a:prstGeom prst="rect">
            <a:avLst/>
          </a:prstGeom>
          <a:noFill/>
          <a:ln/>
        </p:spPr>
        <p:txBody>
          <a:bodyPr wrap="square" lIns="0" tIns="0" rIns="0" bIns="0" rtlCol="0" anchor="ctr"/>
          <a:lstStyle/>
          <a:p>
            <a:pPr indent="0" marL="0">
              <a:buNone/>
            </a:pPr>
            <a:r>
              <a:rPr lang="en-US" sz="2620" b="1" dirty="0">
                <a:solidFill>
                  <a:srgbClr val="F59120"/>
                </a:solidFill>
                <a:latin typeface="Arial" pitchFamily="34" charset="0"/>
                <a:ea typeface="Arial" pitchFamily="34" charset="-122"/>
                <a:cs typeface="Arial" pitchFamily="34" charset="-120"/>
              </a:rPr>
              <a:t>Esto ya lo dominas: SQL también es declarativo.</a:t>
            </a:r>
            <a:endParaRPr lang="en-US" sz="2620" dirty="0"/>
          </a:p>
        </p:txBody>
      </p:sp>
      <p:sp>
        <p:nvSpPr>
          <p:cNvPr id="15" name="Text 12"/>
          <p:cNvSpPr txBox="1"/>
          <p:nvPr/>
        </p:nvSpPr>
        <p:spPr>
          <a:xfrm>
            <a:off x="2077517" y="8216798"/>
            <a:ext cx="14132966" cy="530352"/>
          </a:xfrm>
          <a:prstGeom prst="rect">
            <a:avLst/>
          </a:prstGeom>
          <a:noFill/>
          <a:ln/>
        </p:spPr>
        <p:txBody>
          <a:bodyPr wrap="square" lIns="0" tIns="0" rIns="0" bIns="0" rtlCol="0" anchor="ctr"/>
          <a:lstStyle/>
          <a:p>
            <a:pPr indent="0" marL="0">
              <a:buNone/>
            </a:pPr>
            <a:r>
              <a:rPr lang="en-US" sz="2070" dirty="0">
                <a:solidFill>
                  <a:srgbClr val="FFFFFF"/>
                </a:solidFill>
                <a:latin typeface="Calibri" pitchFamily="34" charset="0"/>
                <a:ea typeface="Calibri" pitchFamily="34" charset="-122"/>
                <a:cs typeface="Calibri" pitchFamily="34" charset="-120"/>
              </a:rPr>
              <a:t>Tú escribes el SELECT que quieres. No le explicas al motor si hace hash join o nested loop.</a:t>
            </a:r>
            <a:endParaRPr lang="en-US" sz="207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pic>
        <p:nvPicPr>
          <p:cNvPr id="2" name="Image 0" descr="/home/claude/bg-white.jpg">    </p:cNvPr>
          <p:cNvPicPr>
            <a:picLocks noChangeAspect="1"/>
          </p:cNvPicPr>
          <p:nvPr/>
        </p:nvPicPr>
        <p:blipFill>
          <a:blip r:embed="rId1"/>
          <a:stretch>
            <a:fillRect/>
          </a:stretch>
        </p:blipFill>
        <p:spPr>
          <a:xfrm>
            <a:off x="0" y="0"/>
            <a:ext cx="18288000" cy="10287000"/>
          </a:xfrm>
          <a:prstGeom prst="rect">
            <a:avLst/>
          </a:prstGeom>
        </p:spPr>
      </p:pic>
      <p:sp>
        <p:nvSpPr>
          <p:cNvPr id="3" name="Text 0"/>
          <p:cNvSpPr txBox="1"/>
          <p:nvPr/>
        </p:nvSpPr>
        <p:spPr>
          <a:xfrm>
            <a:off x="1572768" y="1024128"/>
            <a:ext cx="15142464" cy="404165"/>
          </a:xfrm>
          <a:prstGeom prst="rect">
            <a:avLst/>
          </a:prstGeom>
          <a:noFill/>
          <a:ln/>
        </p:spPr>
        <p:txBody>
          <a:bodyPr wrap="square" lIns="0" tIns="0" rIns="0" bIns="0" rtlCol="0" anchor="ctr"/>
          <a:lstStyle/>
          <a:p>
            <a:pPr indent="0" marL="0">
              <a:buNone/>
            </a:pPr>
            <a:r>
              <a:rPr lang="en-US" sz="1660" b="1" spc="345" kern="0" dirty="0">
                <a:solidFill>
                  <a:srgbClr val="692179"/>
                </a:solidFill>
                <a:latin typeface="Calibri" pitchFamily="34" charset="0"/>
                <a:ea typeface="Calibri" pitchFamily="34" charset="-122"/>
                <a:cs typeface="Calibri" pitchFamily="34" charset="-120"/>
              </a:rPr>
              <a:t>BLOQUE 1 · IAC</a:t>
            </a:r>
            <a:endParaRPr lang="en-US" sz="1660" dirty="0"/>
          </a:p>
        </p:txBody>
      </p:sp>
      <p:sp>
        <p:nvSpPr>
          <p:cNvPr id="4" name="Text 1"/>
          <p:cNvSpPr txBox="1"/>
          <p:nvPr/>
        </p:nvSpPr>
        <p:spPr>
          <a:xfrm>
            <a:off x="1572768" y="1440180"/>
            <a:ext cx="15142464" cy="1072591"/>
          </a:xfrm>
          <a:prstGeom prst="rect">
            <a:avLst/>
          </a:prstGeom>
          <a:noFill/>
          <a:ln/>
        </p:spPr>
        <p:txBody>
          <a:bodyPr wrap="square" lIns="0" tIns="0" rIns="0" bIns="0" rtlCol="0" anchor="ctr"/>
          <a:lstStyle/>
          <a:p>
            <a:pPr algn="l" indent="0" marL="0">
              <a:buNone/>
            </a:pPr>
            <a:r>
              <a:rPr lang="en-US" sz="4690" b="1" dirty="0">
                <a:solidFill>
                  <a:srgbClr val="241028"/>
                </a:solidFill>
                <a:latin typeface="Arial" pitchFamily="34" charset="0"/>
                <a:ea typeface="Arial" pitchFamily="34" charset="-122"/>
                <a:cs typeface="Arial" pitchFamily="34" charset="-120"/>
              </a:rPr>
              <a:t>Lo que ganas el día que das el salto</a:t>
            </a:r>
            <a:endParaRPr lang="en-US" sz="4690" dirty="0"/>
          </a:p>
        </p:txBody>
      </p:sp>
      <p:sp>
        <p:nvSpPr>
          <p:cNvPr id="5" name="Shape 2"/>
          <p:cNvSpPr/>
          <p:nvPr/>
        </p:nvSpPr>
        <p:spPr>
          <a:xfrm>
            <a:off x="1572768" y="3080614"/>
            <a:ext cx="15142464" cy="1035101"/>
          </a:xfrm>
          <a:prstGeom prst="roundRect">
            <a:avLst>
              <a:gd name="adj" fmla="val 12191"/>
            </a:avLst>
          </a:prstGeom>
          <a:solidFill>
            <a:srgbClr val="FFFFFF"/>
          </a:solidFill>
          <a:ln w="12700">
            <a:solidFill>
              <a:srgbClr val="FFFFFF"/>
            </a:solidFill>
            <a:prstDash val="solid"/>
          </a:ln>
        </p:spPr>
      </p:sp>
      <p:sp>
        <p:nvSpPr>
          <p:cNvPr id="6" name="Shape 3"/>
          <p:cNvSpPr/>
          <p:nvPr/>
        </p:nvSpPr>
        <p:spPr>
          <a:xfrm>
            <a:off x="1888236" y="3321101"/>
            <a:ext cx="555041" cy="555041"/>
          </a:xfrm>
          <a:prstGeom prst="ellipse">
            <a:avLst/>
          </a:prstGeom>
          <a:solidFill>
            <a:srgbClr val="2BB5A0"/>
          </a:solidFill>
          <a:ln w="12700">
            <a:solidFill>
              <a:srgbClr val="2BB5A0"/>
            </a:solidFill>
            <a:prstDash val="solid"/>
          </a:ln>
        </p:spPr>
      </p:sp>
      <p:sp>
        <p:nvSpPr>
          <p:cNvPr id="7" name="Text 4"/>
          <p:cNvSpPr txBox="1"/>
          <p:nvPr/>
        </p:nvSpPr>
        <p:spPr>
          <a:xfrm>
            <a:off x="1888236" y="3321101"/>
            <a:ext cx="555041" cy="555041"/>
          </a:xfrm>
          <a:prstGeom prst="rect">
            <a:avLst/>
          </a:prstGeom>
          <a:noFill/>
          <a:ln/>
        </p:spPr>
        <p:txBody>
          <a:bodyPr wrap="square" lIns="0" tIns="0" rIns="0" bIns="0" rtlCol="0" anchor="ctr"/>
          <a:lstStyle/>
          <a:p>
            <a:pPr algn="ctr" indent="0" marL="0">
              <a:buNone/>
            </a:pPr>
            <a:r>
              <a:rPr lang="en-US" sz="1930" b="1" dirty="0">
                <a:solidFill>
                  <a:srgbClr val="FFFFFF"/>
                </a:solidFill>
                <a:latin typeface="Arial" pitchFamily="34" charset="0"/>
                <a:ea typeface="Arial" pitchFamily="34" charset="-122"/>
                <a:cs typeface="Arial" pitchFamily="34" charset="-120"/>
              </a:rPr>
              <a:t>1</a:t>
            </a:r>
            <a:endParaRPr lang="en-US" sz="1930" dirty="0"/>
          </a:p>
        </p:txBody>
      </p:sp>
      <p:sp>
        <p:nvSpPr>
          <p:cNvPr id="8" name="Text 5"/>
          <p:cNvSpPr txBox="1"/>
          <p:nvPr/>
        </p:nvSpPr>
        <p:spPr>
          <a:xfrm>
            <a:off x="2682850" y="3206801"/>
            <a:ext cx="13691311" cy="454457"/>
          </a:xfrm>
          <a:prstGeom prst="rect">
            <a:avLst/>
          </a:prstGeom>
          <a:noFill/>
          <a:ln/>
        </p:spPr>
        <p:txBody>
          <a:bodyPr wrap="square" lIns="0" tIns="0" rIns="0" bIns="0" rtlCol="0" anchor="ctr"/>
          <a:lstStyle/>
          <a:p>
            <a:pPr indent="0" marL="0">
              <a:buNone/>
            </a:pPr>
            <a:r>
              <a:rPr lang="en-US" sz="2210" b="1" dirty="0">
                <a:solidFill>
                  <a:srgbClr val="241028"/>
                </a:solidFill>
                <a:latin typeface="Arial" pitchFamily="34" charset="0"/>
                <a:ea typeface="Arial" pitchFamily="34" charset="-122"/>
                <a:cs typeface="Arial" pitchFamily="34" charset="-120"/>
              </a:rPr>
              <a:t>Historial de verdad</a:t>
            </a:r>
            <a:endParaRPr lang="en-US" sz="2210" dirty="0"/>
          </a:p>
        </p:txBody>
      </p:sp>
      <p:sp>
        <p:nvSpPr>
          <p:cNvPr id="9" name="Text 6"/>
          <p:cNvSpPr txBox="1"/>
          <p:nvPr/>
        </p:nvSpPr>
        <p:spPr>
          <a:xfrm>
            <a:off x="2682850" y="3636569"/>
            <a:ext cx="13691311" cy="378562"/>
          </a:xfrm>
          <a:prstGeom prst="rect">
            <a:avLst/>
          </a:prstGeom>
          <a:noFill/>
          <a:ln/>
        </p:spPr>
        <p:txBody>
          <a:bodyPr wrap="square" lIns="0" tIns="0" rIns="0" bIns="0" rtlCol="0" anchor="t"/>
          <a:lstStyle/>
          <a:p>
            <a:pPr indent="0" marL="0">
              <a:buNone/>
            </a:pPr>
            <a:r>
              <a:rPr lang="en-US" sz="1790" dirty="0">
                <a:solidFill>
                  <a:srgbClr val="6E5C73"/>
                </a:solidFill>
                <a:latin typeface="Calibri" pitchFamily="34" charset="0"/>
                <a:ea typeface="Calibri" pitchFamily="34" charset="-122"/>
                <a:cs typeface="Calibri" pitchFamily="34" charset="-120"/>
              </a:rPr>
              <a:t>git log te dice quién cambió qué rol, cuándo y en qué commit.</a:t>
            </a:r>
            <a:endParaRPr lang="en-US" sz="1790" dirty="0"/>
          </a:p>
        </p:txBody>
      </p:sp>
      <p:sp>
        <p:nvSpPr>
          <p:cNvPr id="10" name="Shape 7"/>
          <p:cNvSpPr/>
          <p:nvPr/>
        </p:nvSpPr>
        <p:spPr>
          <a:xfrm>
            <a:off x="1572768" y="4292194"/>
            <a:ext cx="15142464" cy="1035101"/>
          </a:xfrm>
          <a:prstGeom prst="roundRect">
            <a:avLst>
              <a:gd name="adj" fmla="val 12191"/>
            </a:avLst>
          </a:prstGeom>
          <a:solidFill>
            <a:srgbClr val="FFFFFF"/>
          </a:solidFill>
          <a:ln w="12700">
            <a:solidFill>
              <a:srgbClr val="FFFFFF"/>
            </a:solidFill>
            <a:prstDash val="solid"/>
          </a:ln>
        </p:spPr>
      </p:sp>
      <p:sp>
        <p:nvSpPr>
          <p:cNvPr id="11" name="Shape 8"/>
          <p:cNvSpPr/>
          <p:nvPr/>
        </p:nvSpPr>
        <p:spPr>
          <a:xfrm>
            <a:off x="1888236" y="4531766"/>
            <a:ext cx="555041" cy="555041"/>
          </a:xfrm>
          <a:prstGeom prst="ellipse">
            <a:avLst/>
          </a:prstGeom>
          <a:solidFill>
            <a:srgbClr val="2BB5A0"/>
          </a:solidFill>
          <a:ln w="12700">
            <a:solidFill>
              <a:srgbClr val="2BB5A0"/>
            </a:solidFill>
            <a:prstDash val="solid"/>
          </a:ln>
        </p:spPr>
      </p:sp>
      <p:sp>
        <p:nvSpPr>
          <p:cNvPr id="12" name="Text 9"/>
          <p:cNvSpPr txBox="1"/>
          <p:nvPr/>
        </p:nvSpPr>
        <p:spPr>
          <a:xfrm>
            <a:off x="1888236" y="4531766"/>
            <a:ext cx="555041" cy="555041"/>
          </a:xfrm>
          <a:prstGeom prst="rect">
            <a:avLst/>
          </a:prstGeom>
          <a:noFill/>
          <a:ln/>
        </p:spPr>
        <p:txBody>
          <a:bodyPr wrap="square" lIns="0" tIns="0" rIns="0" bIns="0" rtlCol="0" anchor="ctr"/>
          <a:lstStyle/>
          <a:p>
            <a:pPr algn="ctr" indent="0" marL="0">
              <a:buNone/>
            </a:pPr>
            <a:r>
              <a:rPr lang="en-US" sz="1930" b="1" dirty="0">
                <a:solidFill>
                  <a:srgbClr val="FFFFFF"/>
                </a:solidFill>
                <a:latin typeface="Arial" pitchFamily="34" charset="0"/>
                <a:ea typeface="Arial" pitchFamily="34" charset="-122"/>
                <a:cs typeface="Arial" pitchFamily="34" charset="-120"/>
              </a:rPr>
              <a:t>2</a:t>
            </a:r>
            <a:endParaRPr lang="en-US" sz="1930" dirty="0"/>
          </a:p>
        </p:txBody>
      </p:sp>
      <p:sp>
        <p:nvSpPr>
          <p:cNvPr id="13" name="Text 10"/>
          <p:cNvSpPr txBox="1"/>
          <p:nvPr/>
        </p:nvSpPr>
        <p:spPr>
          <a:xfrm>
            <a:off x="2682850" y="4418381"/>
            <a:ext cx="13691311" cy="454457"/>
          </a:xfrm>
          <a:prstGeom prst="rect">
            <a:avLst/>
          </a:prstGeom>
          <a:noFill/>
          <a:ln/>
        </p:spPr>
        <p:txBody>
          <a:bodyPr wrap="square" lIns="0" tIns="0" rIns="0" bIns="0" rtlCol="0" anchor="ctr"/>
          <a:lstStyle/>
          <a:p>
            <a:pPr indent="0" marL="0">
              <a:buNone/>
            </a:pPr>
            <a:r>
              <a:rPr lang="en-US" sz="2210" b="1" dirty="0">
                <a:solidFill>
                  <a:srgbClr val="241028"/>
                </a:solidFill>
                <a:latin typeface="Arial" pitchFamily="34" charset="0"/>
                <a:ea typeface="Arial" pitchFamily="34" charset="-122"/>
                <a:cs typeface="Arial" pitchFamily="34" charset="-120"/>
              </a:rPr>
              <a:t>Code review de la plataforma</a:t>
            </a:r>
            <a:endParaRPr lang="en-US" sz="2210" dirty="0"/>
          </a:p>
        </p:txBody>
      </p:sp>
      <p:sp>
        <p:nvSpPr>
          <p:cNvPr id="14" name="Text 11"/>
          <p:cNvSpPr txBox="1"/>
          <p:nvPr/>
        </p:nvSpPr>
        <p:spPr>
          <a:xfrm>
            <a:off x="2682850" y="4847234"/>
            <a:ext cx="13691311" cy="378562"/>
          </a:xfrm>
          <a:prstGeom prst="rect">
            <a:avLst/>
          </a:prstGeom>
          <a:noFill/>
          <a:ln/>
        </p:spPr>
        <p:txBody>
          <a:bodyPr wrap="square" lIns="0" tIns="0" rIns="0" bIns="0" rtlCol="0" anchor="t"/>
          <a:lstStyle/>
          <a:p>
            <a:pPr indent="0" marL="0">
              <a:buNone/>
            </a:pPr>
            <a:r>
              <a:rPr lang="en-US" sz="1790" dirty="0">
                <a:solidFill>
                  <a:srgbClr val="6E5C73"/>
                </a:solidFill>
                <a:latin typeface="Calibri" pitchFamily="34" charset="0"/>
                <a:ea typeface="Calibri" pitchFamily="34" charset="-122"/>
                <a:cs typeface="Calibri" pitchFamily="34" charset="-120"/>
              </a:rPr>
              <a:t>Un pull request antes de tocar producción. Como con el código.</a:t>
            </a:r>
            <a:endParaRPr lang="en-US" sz="1790" dirty="0"/>
          </a:p>
        </p:txBody>
      </p:sp>
      <p:sp>
        <p:nvSpPr>
          <p:cNvPr id="15" name="Shape 12"/>
          <p:cNvSpPr/>
          <p:nvPr/>
        </p:nvSpPr>
        <p:spPr>
          <a:xfrm>
            <a:off x="1572768" y="5503774"/>
            <a:ext cx="15142464" cy="1035101"/>
          </a:xfrm>
          <a:prstGeom prst="roundRect">
            <a:avLst>
              <a:gd name="adj" fmla="val 12191"/>
            </a:avLst>
          </a:prstGeom>
          <a:solidFill>
            <a:srgbClr val="FFFFFF"/>
          </a:solidFill>
          <a:ln w="12700">
            <a:solidFill>
              <a:srgbClr val="FFFFFF"/>
            </a:solidFill>
            <a:prstDash val="solid"/>
          </a:ln>
        </p:spPr>
      </p:sp>
      <p:sp>
        <p:nvSpPr>
          <p:cNvPr id="16" name="Shape 13"/>
          <p:cNvSpPr/>
          <p:nvPr/>
        </p:nvSpPr>
        <p:spPr>
          <a:xfrm>
            <a:off x="1888236" y="5743346"/>
            <a:ext cx="555041" cy="555041"/>
          </a:xfrm>
          <a:prstGeom prst="ellipse">
            <a:avLst/>
          </a:prstGeom>
          <a:solidFill>
            <a:srgbClr val="2BB5A0"/>
          </a:solidFill>
          <a:ln w="12700">
            <a:solidFill>
              <a:srgbClr val="2BB5A0"/>
            </a:solidFill>
            <a:prstDash val="solid"/>
          </a:ln>
        </p:spPr>
      </p:sp>
      <p:sp>
        <p:nvSpPr>
          <p:cNvPr id="17" name="Text 14"/>
          <p:cNvSpPr txBox="1"/>
          <p:nvPr/>
        </p:nvSpPr>
        <p:spPr>
          <a:xfrm>
            <a:off x="1888236" y="5743346"/>
            <a:ext cx="555041" cy="555041"/>
          </a:xfrm>
          <a:prstGeom prst="rect">
            <a:avLst/>
          </a:prstGeom>
          <a:noFill/>
          <a:ln/>
        </p:spPr>
        <p:txBody>
          <a:bodyPr wrap="square" lIns="0" tIns="0" rIns="0" bIns="0" rtlCol="0" anchor="ctr"/>
          <a:lstStyle/>
          <a:p>
            <a:pPr algn="ctr" indent="0" marL="0">
              <a:buNone/>
            </a:pPr>
            <a:r>
              <a:rPr lang="en-US" sz="1930" b="1" dirty="0">
                <a:solidFill>
                  <a:srgbClr val="FFFFFF"/>
                </a:solidFill>
                <a:latin typeface="Arial" pitchFamily="34" charset="0"/>
                <a:ea typeface="Arial" pitchFamily="34" charset="-122"/>
                <a:cs typeface="Arial" pitchFamily="34" charset="-120"/>
              </a:rPr>
              <a:t>3</a:t>
            </a:r>
            <a:endParaRPr lang="en-US" sz="1930" dirty="0"/>
          </a:p>
        </p:txBody>
      </p:sp>
      <p:sp>
        <p:nvSpPr>
          <p:cNvPr id="18" name="Text 15"/>
          <p:cNvSpPr txBox="1"/>
          <p:nvPr/>
        </p:nvSpPr>
        <p:spPr>
          <a:xfrm>
            <a:off x="2682850" y="5629961"/>
            <a:ext cx="13691311" cy="454457"/>
          </a:xfrm>
          <a:prstGeom prst="rect">
            <a:avLst/>
          </a:prstGeom>
          <a:noFill/>
          <a:ln/>
        </p:spPr>
        <p:txBody>
          <a:bodyPr wrap="square" lIns="0" tIns="0" rIns="0" bIns="0" rtlCol="0" anchor="ctr"/>
          <a:lstStyle/>
          <a:p>
            <a:pPr indent="0" marL="0">
              <a:buNone/>
            </a:pPr>
            <a:r>
              <a:rPr lang="en-US" sz="2210" b="1" dirty="0">
                <a:solidFill>
                  <a:srgbClr val="241028"/>
                </a:solidFill>
                <a:latin typeface="Arial" pitchFamily="34" charset="0"/>
                <a:ea typeface="Arial" pitchFamily="34" charset="-122"/>
                <a:cs typeface="Arial" pitchFamily="34" charset="-120"/>
              </a:rPr>
              <a:t>Rollback</a:t>
            </a:r>
            <a:endParaRPr lang="en-US" sz="2210" dirty="0"/>
          </a:p>
        </p:txBody>
      </p:sp>
      <p:sp>
        <p:nvSpPr>
          <p:cNvPr id="19" name="Text 16"/>
          <p:cNvSpPr txBox="1"/>
          <p:nvPr/>
        </p:nvSpPr>
        <p:spPr>
          <a:xfrm>
            <a:off x="2682850" y="6058814"/>
            <a:ext cx="13691311" cy="378562"/>
          </a:xfrm>
          <a:prstGeom prst="rect">
            <a:avLst/>
          </a:prstGeom>
          <a:noFill/>
          <a:ln/>
        </p:spPr>
        <p:txBody>
          <a:bodyPr wrap="square" lIns="0" tIns="0" rIns="0" bIns="0" rtlCol="0" anchor="t"/>
          <a:lstStyle/>
          <a:p>
            <a:pPr indent="0" marL="0">
              <a:buNone/>
            </a:pPr>
            <a:r>
              <a:rPr lang="en-US" sz="1790" dirty="0">
                <a:solidFill>
                  <a:srgbClr val="6E5C73"/>
                </a:solidFill>
                <a:latin typeface="Calibri" pitchFamily="34" charset="0"/>
                <a:ea typeface="Calibri" pitchFamily="34" charset="-122"/>
                <a:cs typeface="Calibri" pitchFamily="34" charset="-120"/>
              </a:rPr>
              <a:t>¿Se rompió algo? git revert y apply. No "deshacer" a mano.</a:t>
            </a:r>
            <a:endParaRPr lang="en-US" sz="1790" dirty="0"/>
          </a:p>
        </p:txBody>
      </p:sp>
      <p:sp>
        <p:nvSpPr>
          <p:cNvPr id="20" name="Shape 17"/>
          <p:cNvSpPr/>
          <p:nvPr/>
        </p:nvSpPr>
        <p:spPr>
          <a:xfrm>
            <a:off x="1572768" y="6715354"/>
            <a:ext cx="15142464" cy="1035101"/>
          </a:xfrm>
          <a:prstGeom prst="roundRect">
            <a:avLst>
              <a:gd name="adj" fmla="val 12191"/>
            </a:avLst>
          </a:prstGeom>
          <a:solidFill>
            <a:srgbClr val="FFFFFF"/>
          </a:solidFill>
          <a:ln w="12700">
            <a:solidFill>
              <a:srgbClr val="FFFFFF"/>
            </a:solidFill>
            <a:prstDash val="solid"/>
          </a:ln>
        </p:spPr>
      </p:sp>
      <p:sp>
        <p:nvSpPr>
          <p:cNvPr id="21" name="Shape 18"/>
          <p:cNvSpPr/>
          <p:nvPr/>
        </p:nvSpPr>
        <p:spPr>
          <a:xfrm>
            <a:off x="1888236" y="6954926"/>
            <a:ext cx="555041" cy="555041"/>
          </a:xfrm>
          <a:prstGeom prst="ellipse">
            <a:avLst/>
          </a:prstGeom>
          <a:solidFill>
            <a:srgbClr val="2BB5A0"/>
          </a:solidFill>
          <a:ln w="12700">
            <a:solidFill>
              <a:srgbClr val="2BB5A0"/>
            </a:solidFill>
            <a:prstDash val="solid"/>
          </a:ln>
        </p:spPr>
      </p:sp>
      <p:sp>
        <p:nvSpPr>
          <p:cNvPr id="22" name="Text 19"/>
          <p:cNvSpPr txBox="1"/>
          <p:nvPr/>
        </p:nvSpPr>
        <p:spPr>
          <a:xfrm>
            <a:off x="1888236" y="6954926"/>
            <a:ext cx="555041" cy="555041"/>
          </a:xfrm>
          <a:prstGeom prst="rect">
            <a:avLst/>
          </a:prstGeom>
          <a:noFill/>
          <a:ln/>
        </p:spPr>
        <p:txBody>
          <a:bodyPr wrap="square" lIns="0" tIns="0" rIns="0" bIns="0" rtlCol="0" anchor="ctr"/>
          <a:lstStyle/>
          <a:p>
            <a:pPr algn="ctr" indent="0" marL="0">
              <a:buNone/>
            </a:pPr>
            <a:r>
              <a:rPr lang="en-US" sz="1930" b="1" dirty="0">
                <a:solidFill>
                  <a:srgbClr val="FFFFFF"/>
                </a:solidFill>
                <a:latin typeface="Arial" pitchFamily="34" charset="0"/>
                <a:ea typeface="Arial" pitchFamily="34" charset="-122"/>
                <a:cs typeface="Arial" pitchFamily="34" charset="-120"/>
              </a:rPr>
              <a:t>4</a:t>
            </a:r>
            <a:endParaRPr lang="en-US" sz="1930" dirty="0"/>
          </a:p>
        </p:txBody>
      </p:sp>
      <p:sp>
        <p:nvSpPr>
          <p:cNvPr id="23" name="Text 20"/>
          <p:cNvSpPr txBox="1"/>
          <p:nvPr/>
        </p:nvSpPr>
        <p:spPr>
          <a:xfrm>
            <a:off x="2682850" y="6841541"/>
            <a:ext cx="13691311" cy="454457"/>
          </a:xfrm>
          <a:prstGeom prst="rect">
            <a:avLst/>
          </a:prstGeom>
          <a:noFill/>
          <a:ln/>
        </p:spPr>
        <p:txBody>
          <a:bodyPr wrap="square" lIns="0" tIns="0" rIns="0" bIns="0" rtlCol="0" anchor="ctr"/>
          <a:lstStyle/>
          <a:p>
            <a:pPr indent="0" marL="0">
              <a:buNone/>
            </a:pPr>
            <a:r>
              <a:rPr lang="en-US" sz="2210" b="1" dirty="0">
                <a:solidFill>
                  <a:srgbClr val="241028"/>
                </a:solidFill>
                <a:latin typeface="Arial" pitchFamily="34" charset="0"/>
                <a:ea typeface="Arial" pitchFamily="34" charset="-122"/>
                <a:cs typeface="Arial" pitchFamily="34" charset="-120"/>
              </a:rPr>
              <a:t>Un código, cuatro entornos</a:t>
            </a:r>
            <a:endParaRPr lang="en-US" sz="2210" dirty="0"/>
          </a:p>
        </p:txBody>
      </p:sp>
      <p:sp>
        <p:nvSpPr>
          <p:cNvPr id="24" name="Text 21"/>
          <p:cNvSpPr txBox="1"/>
          <p:nvPr/>
        </p:nvSpPr>
        <p:spPr>
          <a:xfrm>
            <a:off x="2682850" y="7270394"/>
            <a:ext cx="13691311" cy="378562"/>
          </a:xfrm>
          <a:prstGeom prst="rect">
            <a:avLst/>
          </a:prstGeom>
          <a:noFill/>
          <a:ln/>
        </p:spPr>
        <p:txBody>
          <a:bodyPr wrap="square" lIns="0" tIns="0" rIns="0" bIns="0" rtlCol="0" anchor="t"/>
          <a:lstStyle/>
          <a:p>
            <a:pPr indent="0" marL="0">
              <a:buNone/>
            </a:pPr>
            <a:r>
              <a:rPr lang="en-US" sz="1790" dirty="0">
                <a:solidFill>
                  <a:srgbClr val="6E5C73"/>
                </a:solidFill>
                <a:latin typeface="Calibri" pitchFamily="34" charset="0"/>
                <a:ea typeface="Calibri" pitchFamily="34" charset="-122"/>
                <a:cs typeface="Calibri" pitchFamily="34" charset="-120"/>
              </a:rPr>
              <a:t>El mismo fichero con distintas variables. QA deja de ser el primo raro.</a:t>
            </a:r>
            <a:endParaRPr lang="en-US" sz="1790" dirty="0"/>
          </a:p>
        </p:txBody>
      </p:sp>
      <p:sp>
        <p:nvSpPr>
          <p:cNvPr id="25" name="Shape 22"/>
          <p:cNvSpPr/>
          <p:nvPr/>
        </p:nvSpPr>
        <p:spPr>
          <a:xfrm>
            <a:off x="1572768" y="7926934"/>
            <a:ext cx="15142464" cy="1035101"/>
          </a:xfrm>
          <a:prstGeom prst="roundRect">
            <a:avLst>
              <a:gd name="adj" fmla="val 12191"/>
            </a:avLst>
          </a:prstGeom>
          <a:solidFill>
            <a:srgbClr val="FFFFFF"/>
          </a:solidFill>
          <a:ln w="12700">
            <a:solidFill>
              <a:srgbClr val="FFFFFF"/>
            </a:solidFill>
            <a:prstDash val="solid"/>
          </a:ln>
        </p:spPr>
      </p:sp>
      <p:sp>
        <p:nvSpPr>
          <p:cNvPr id="26" name="Shape 23"/>
          <p:cNvSpPr/>
          <p:nvPr/>
        </p:nvSpPr>
        <p:spPr>
          <a:xfrm>
            <a:off x="1888236" y="8166506"/>
            <a:ext cx="555041" cy="555041"/>
          </a:xfrm>
          <a:prstGeom prst="ellipse">
            <a:avLst/>
          </a:prstGeom>
          <a:solidFill>
            <a:srgbClr val="2BB5A0"/>
          </a:solidFill>
          <a:ln w="12700">
            <a:solidFill>
              <a:srgbClr val="2BB5A0"/>
            </a:solidFill>
            <a:prstDash val="solid"/>
          </a:ln>
        </p:spPr>
      </p:sp>
      <p:sp>
        <p:nvSpPr>
          <p:cNvPr id="27" name="Text 24"/>
          <p:cNvSpPr txBox="1"/>
          <p:nvPr/>
        </p:nvSpPr>
        <p:spPr>
          <a:xfrm>
            <a:off x="1888236" y="8166506"/>
            <a:ext cx="555041" cy="555041"/>
          </a:xfrm>
          <a:prstGeom prst="rect">
            <a:avLst/>
          </a:prstGeom>
          <a:noFill/>
          <a:ln/>
        </p:spPr>
        <p:txBody>
          <a:bodyPr wrap="square" lIns="0" tIns="0" rIns="0" bIns="0" rtlCol="0" anchor="ctr"/>
          <a:lstStyle/>
          <a:p>
            <a:pPr algn="ctr" indent="0" marL="0">
              <a:buNone/>
            </a:pPr>
            <a:r>
              <a:rPr lang="en-US" sz="1930" b="1" dirty="0">
                <a:solidFill>
                  <a:srgbClr val="FFFFFF"/>
                </a:solidFill>
                <a:latin typeface="Arial" pitchFamily="34" charset="0"/>
                <a:ea typeface="Arial" pitchFamily="34" charset="-122"/>
                <a:cs typeface="Arial" pitchFamily="34" charset="-120"/>
              </a:rPr>
              <a:t>5</a:t>
            </a:r>
            <a:endParaRPr lang="en-US" sz="1930" dirty="0"/>
          </a:p>
        </p:txBody>
      </p:sp>
      <p:sp>
        <p:nvSpPr>
          <p:cNvPr id="28" name="Text 25"/>
          <p:cNvSpPr txBox="1"/>
          <p:nvPr/>
        </p:nvSpPr>
        <p:spPr>
          <a:xfrm>
            <a:off x="2682850" y="8053121"/>
            <a:ext cx="13691311" cy="454457"/>
          </a:xfrm>
          <a:prstGeom prst="rect">
            <a:avLst/>
          </a:prstGeom>
          <a:noFill/>
          <a:ln/>
        </p:spPr>
        <p:txBody>
          <a:bodyPr wrap="square" lIns="0" tIns="0" rIns="0" bIns="0" rtlCol="0" anchor="ctr"/>
          <a:lstStyle/>
          <a:p>
            <a:pPr indent="0" marL="0">
              <a:buNone/>
            </a:pPr>
            <a:r>
              <a:rPr lang="en-US" sz="2210" b="1" dirty="0">
                <a:solidFill>
                  <a:srgbClr val="241028"/>
                </a:solidFill>
                <a:latin typeface="Arial" pitchFamily="34" charset="0"/>
                <a:ea typeface="Arial" pitchFamily="34" charset="-122"/>
                <a:cs typeface="Arial" pitchFamily="34" charset="-120"/>
              </a:rPr>
              <a:t>Documentación que no miente</a:t>
            </a:r>
            <a:endParaRPr lang="en-US" sz="2210" dirty="0"/>
          </a:p>
        </p:txBody>
      </p:sp>
      <p:sp>
        <p:nvSpPr>
          <p:cNvPr id="29" name="Text 26"/>
          <p:cNvSpPr txBox="1"/>
          <p:nvPr/>
        </p:nvSpPr>
        <p:spPr>
          <a:xfrm>
            <a:off x="2682850" y="8481974"/>
            <a:ext cx="13691311" cy="378562"/>
          </a:xfrm>
          <a:prstGeom prst="rect">
            <a:avLst/>
          </a:prstGeom>
          <a:noFill/>
          <a:ln/>
        </p:spPr>
        <p:txBody>
          <a:bodyPr wrap="square" lIns="0" tIns="0" rIns="0" bIns="0" rtlCol="0" anchor="t"/>
          <a:lstStyle/>
          <a:p>
            <a:pPr indent="0" marL="0">
              <a:buNone/>
            </a:pPr>
            <a:r>
              <a:rPr lang="en-US" sz="1790" dirty="0">
                <a:solidFill>
                  <a:srgbClr val="6E5C73"/>
                </a:solidFill>
                <a:latin typeface="Calibri" pitchFamily="34" charset="0"/>
                <a:ea typeface="Calibri" pitchFamily="34" charset="-122"/>
                <a:cs typeface="Calibri" pitchFamily="34" charset="-120"/>
              </a:rPr>
              <a:t>El .tf ES la documentación. No puede desactualizarse: es lo que se ejecuta.</a:t>
            </a:r>
            <a:endParaRPr lang="en-US" sz="179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pic>
        <p:nvPicPr>
          <p:cNvPr id="2" name="Image 0" descr="/home/claude/bg-dark.jpg">    </p:cNvPr>
          <p:cNvPicPr>
            <a:picLocks noChangeAspect="1"/>
          </p:cNvPicPr>
          <p:nvPr/>
        </p:nvPicPr>
        <p:blipFill>
          <a:blip r:embed="rId1"/>
          <a:stretch>
            <a:fillRect/>
          </a:stretch>
        </p:blipFill>
        <p:spPr>
          <a:xfrm>
            <a:off x="0" y="0"/>
            <a:ext cx="18288000" cy="10287000"/>
          </a:xfrm>
          <a:prstGeom prst="rect">
            <a:avLst/>
          </a:prstGeom>
        </p:spPr>
      </p:pic>
      <p:sp>
        <p:nvSpPr>
          <p:cNvPr id="3" name="Text 0"/>
          <p:cNvSpPr txBox="1"/>
          <p:nvPr/>
        </p:nvSpPr>
        <p:spPr>
          <a:xfrm>
            <a:off x="1572768" y="2891333"/>
            <a:ext cx="14511528" cy="694030"/>
          </a:xfrm>
          <a:prstGeom prst="rect">
            <a:avLst/>
          </a:prstGeom>
          <a:noFill/>
          <a:ln/>
        </p:spPr>
        <p:txBody>
          <a:bodyPr wrap="square" lIns="0" tIns="0" rIns="0" bIns="0" rtlCol="0" anchor="ctr"/>
          <a:lstStyle/>
          <a:p>
            <a:pPr indent="0" marL="0">
              <a:buNone/>
            </a:pPr>
            <a:r>
              <a:rPr lang="en-US" sz="2620" dirty="0">
                <a:solidFill>
                  <a:srgbClr val="FFFFFF"/>
                </a:solidFill>
                <a:latin typeface="Calibri" pitchFamily="34" charset="0"/>
                <a:ea typeface="Calibri" pitchFamily="34" charset="-122"/>
                <a:cs typeface="Calibri" pitchFamily="34" charset="-120"/>
              </a:rPr>
              <a:t>El único cambio mental que hay que hacer:</a:t>
            </a:r>
            <a:endParaRPr lang="en-US" sz="2620" dirty="0"/>
          </a:p>
        </p:txBody>
      </p:sp>
      <p:sp>
        <p:nvSpPr>
          <p:cNvPr id="4" name="Text 1"/>
          <p:cNvSpPr txBox="1"/>
          <p:nvPr/>
        </p:nvSpPr>
        <p:spPr>
          <a:xfrm>
            <a:off x="1572768" y="3837737"/>
            <a:ext cx="14890090" cy="3407054"/>
          </a:xfrm>
          <a:prstGeom prst="rect">
            <a:avLst/>
          </a:prstGeom>
          <a:noFill/>
          <a:ln/>
        </p:spPr>
        <p:txBody>
          <a:bodyPr wrap="square" lIns="0" tIns="0" rIns="0" bIns="0" rtlCol="0" anchor="t"/>
          <a:lstStyle/>
          <a:p>
            <a:pPr indent="0" marL="0">
              <a:lnSpc>
                <a:spcPct val="105000"/>
              </a:lnSpc>
              <a:buNone/>
            </a:pPr>
            <a:r>
              <a:rPr lang="en-US" sz="6070" b="1" dirty="0">
                <a:solidFill>
                  <a:srgbClr val="FFFFFF"/>
                </a:solidFill>
                <a:latin typeface="Arial" pitchFamily="34" charset="0"/>
                <a:ea typeface="Arial" pitchFamily="34" charset="-122"/>
                <a:cs typeface="Arial" pitchFamily="34" charset="-120"/>
              </a:rPr>
              <a:t>El portal deja de ser</a:t>
            </a:r>
            <a:endParaRPr lang="en-US" sz="6070" dirty="0"/>
          </a:p>
          <a:p>
            <a:pPr indent="0" marL="0">
              <a:lnSpc>
                <a:spcPct val="105000"/>
              </a:lnSpc>
              <a:buNone/>
            </a:pPr>
            <a:r>
              <a:rPr lang="en-US" sz="6070" b="1" dirty="0">
                <a:solidFill>
                  <a:srgbClr val="FFFFFF"/>
                </a:solidFill>
                <a:latin typeface="Arial" pitchFamily="34" charset="0"/>
                <a:ea typeface="Arial" pitchFamily="34" charset="-122"/>
                <a:cs typeface="Arial" pitchFamily="34" charset="-120"/>
              </a:rPr>
              <a:t>la fuente de la verdad.</a:t>
            </a:r>
            <a:endParaRPr lang="en-US" sz="6070" dirty="0"/>
          </a:p>
          <a:p>
            <a:pPr indent="0" marL="0">
              <a:lnSpc>
                <a:spcPct val="105000"/>
              </a:lnSpc>
              <a:buNone/>
            </a:pPr>
            <a:r>
              <a:rPr lang="en-US" sz="6070" b="1" dirty="0">
                <a:solidFill>
                  <a:srgbClr val="FFFFFF"/>
                </a:solidFill>
                <a:latin typeface="Arial" pitchFamily="34" charset="0"/>
                <a:ea typeface="Arial" pitchFamily="34" charset="-122"/>
                <a:cs typeface="Arial" pitchFamily="34" charset="-120"/>
              </a:rPr>
              <a:t>El repo lo es.</a:t>
            </a:r>
            <a:endParaRPr lang="en-US" sz="6070" dirty="0"/>
          </a:p>
        </p:txBody>
      </p:sp>
      <p:sp>
        <p:nvSpPr>
          <p:cNvPr id="5" name="Shape 2"/>
          <p:cNvSpPr/>
          <p:nvPr/>
        </p:nvSpPr>
        <p:spPr>
          <a:xfrm>
            <a:off x="1572768" y="7623353"/>
            <a:ext cx="15142464" cy="1198778"/>
          </a:xfrm>
          <a:prstGeom prst="roundRect">
            <a:avLst>
              <a:gd name="adj" fmla="val 10526"/>
            </a:avLst>
          </a:prstGeom>
          <a:solidFill>
            <a:srgbClr val="F59120"/>
          </a:solidFill>
          <a:ln w="12700">
            <a:solidFill>
              <a:srgbClr val="F59120"/>
            </a:solidFill>
            <a:prstDash val="solid"/>
          </a:ln>
        </p:spPr>
      </p:sp>
      <p:sp>
        <p:nvSpPr>
          <p:cNvPr id="6" name="Text 3"/>
          <p:cNvSpPr txBox="1"/>
          <p:nvPr/>
        </p:nvSpPr>
        <p:spPr>
          <a:xfrm>
            <a:off x="2077517" y="7623353"/>
            <a:ext cx="14132966" cy="1198778"/>
          </a:xfrm>
          <a:prstGeom prst="rect">
            <a:avLst/>
          </a:prstGeom>
          <a:noFill/>
          <a:ln/>
        </p:spPr>
        <p:txBody>
          <a:bodyPr wrap="square" lIns="0" tIns="0" rIns="0" bIns="0" rtlCol="0" anchor="ctr"/>
          <a:lstStyle/>
          <a:p>
            <a:pPr indent="0" marL="0">
              <a:buNone/>
            </a:pPr>
            <a:r>
              <a:rPr lang="en-US" sz="2620" b="1" dirty="0">
                <a:solidFill>
                  <a:srgbClr val="2A0E33"/>
                </a:solidFill>
                <a:latin typeface="Arial" pitchFamily="34" charset="0"/>
                <a:ea typeface="Arial" pitchFamily="34" charset="-122"/>
                <a:cs typeface="Arial" pitchFamily="34" charset="-120"/>
              </a:rPr>
              <a:t>A partir de aquí, tocar el portal a mano no es "ir rápido". Es crear deuda.</a:t>
            </a:r>
            <a:endParaRPr lang="en-US" sz="262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pic>
        <p:nvPicPr>
          <p:cNvPr id="2" name="Image 0" descr="/home/claude/bg-dark.jpg">    </p:cNvPr>
          <p:cNvPicPr>
            <a:picLocks noChangeAspect="1"/>
          </p:cNvPicPr>
          <p:nvPr/>
        </p:nvPicPr>
        <p:blipFill>
          <a:blip r:embed="rId1"/>
          <a:stretch>
            <a:fillRect/>
          </a:stretch>
        </p:blipFill>
        <p:spPr>
          <a:xfrm>
            <a:off x="0" y="0"/>
            <a:ext cx="18288000" cy="10287000"/>
          </a:xfrm>
          <a:prstGeom prst="rect">
            <a:avLst/>
          </a:prstGeom>
        </p:spPr>
      </p:pic>
      <p:sp>
        <p:nvSpPr>
          <p:cNvPr id="3" name="Text 0"/>
          <p:cNvSpPr txBox="1"/>
          <p:nvPr/>
        </p:nvSpPr>
        <p:spPr>
          <a:xfrm>
            <a:off x="1572768" y="3459175"/>
            <a:ext cx="4037990" cy="2523744"/>
          </a:xfrm>
          <a:prstGeom prst="rect">
            <a:avLst/>
          </a:prstGeom>
          <a:noFill/>
          <a:ln/>
        </p:spPr>
        <p:txBody>
          <a:bodyPr wrap="square" lIns="0" tIns="0" rIns="0" bIns="0" rtlCol="0" anchor="ctr"/>
          <a:lstStyle/>
          <a:p>
            <a:pPr algn="l" indent="0" marL="0">
              <a:buNone/>
            </a:pPr>
            <a:r>
              <a:rPr lang="en-US" sz="14350" b="1" dirty="0">
                <a:solidFill>
                  <a:srgbClr val="F59120"/>
                </a:solidFill>
                <a:latin typeface="Arial" pitchFamily="34" charset="0"/>
                <a:ea typeface="Arial" pitchFamily="34" charset="-122"/>
                <a:cs typeface="Arial" pitchFamily="34" charset="-120"/>
              </a:rPr>
              <a:t>02</a:t>
            </a:r>
            <a:endParaRPr lang="en-US" sz="14350" dirty="0"/>
          </a:p>
        </p:txBody>
      </p:sp>
      <p:sp>
        <p:nvSpPr>
          <p:cNvPr id="4" name="Text 1"/>
          <p:cNvSpPr txBox="1"/>
          <p:nvPr/>
        </p:nvSpPr>
        <p:spPr>
          <a:xfrm>
            <a:off x="5169103" y="3837737"/>
            <a:ext cx="11230661" cy="1261872"/>
          </a:xfrm>
          <a:prstGeom prst="rect">
            <a:avLst/>
          </a:prstGeom>
          <a:noFill/>
          <a:ln/>
        </p:spPr>
        <p:txBody>
          <a:bodyPr wrap="square" lIns="0" tIns="0" rIns="0" bIns="0" rtlCol="0" anchor="ctr"/>
          <a:lstStyle/>
          <a:p>
            <a:pPr algn="l" indent="0" marL="0">
              <a:buNone/>
            </a:pPr>
            <a:r>
              <a:rPr lang="en-US" sz="5240" b="1" dirty="0">
                <a:solidFill>
                  <a:srgbClr val="FFFFFF"/>
                </a:solidFill>
                <a:latin typeface="Arial" pitchFamily="34" charset="0"/>
                <a:ea typeface="Arial" pitchFamily="34" charset="-122"/>
                <a:cs typeface="Arial" pitchFamily="34" charset="-120"/>
              </a:rPr>
              <a:t>¿Qué es Terraform?</a:t>
            </a:r>
            <a:endParaRPr lang="en-US" sz="5240" dirty="0"/>
          </a:p>
        </p:txBody>
      </p:sp>
      <p:sp>
        <p:nvSpPr>
          <p:cNvPr id="5" name="Text 2"/>
          <p:cNvSpPr txBox="1"/>
          <p:nvPr/>
        </p:nvSpPr>
        <p:spPr>
          <a:xfrm>
            <a:off x="5232197" y="5225796"/>
            <a:ext cx="11230661" cy="757123"/>
          </a:xfrm>
          <a:prstGeom prst="rect">
            <a:avLst/>
          </a:prstGeom>
          <a:noFill/>
          <a:ln/>
        </p:spPr>
        <p:txBody>
          <a:bodyPr wrap="square" lIns="0" tIns="0" rIns="0" bIns="0" rtlCol="0" anchor="t"/>
          <a:lstStyle/>
          <a:p>
            <a:pPr algn="l" indent="0" marL="0">
              <a:buNone/>
            </a:pPr>
            <a:r>
              <a:rPr lang="en-US" sz="2350" i="1" dirty="0">
                <a:solidFill>
                  <a:srgbClr val="FFFFFF"/>
                </a:solidFill>
                <a:latin typeface="Calibri" pitchFamily="34" charset="0"/>
                <a:ea typeface="Calibri" pitchFamily="34" charset="-122"/>
                <a:cs typeface="Calibri" pitchFamily="34" charset="-120"/>
              </a:rPr>
              <a:t>Una CLI, un lenguaje y unos enchufes. Nada más.</a:t>
            </a:r>
            <a:endParaRPr lang="en-US" sz="23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pic>
        <p:nvPicPr>
          <p:cNvPr id="2" name="Image 0" descr="/home/claude/bg-white.jpg">    </p:cNvPr>
          <p:cNvPicPr>
            <a:picLocks noChangeAspect="1"/>
          </p:cNvPicPr>
          <p:nvPr/>
        </p:nvPicPr>
        <p:blipFill>
          <a:blip r:embed="rId1"/>
          <a:stretch>
            <a:fillRect/>
          </a:stretch>
        </p:blipFill>
        <p:spPr>
          <a:xfrm>
            <a:off x="0" y="0"/>
            <a:ext cx="18288000" cy="10287000"/>
          </a:xfrm>
          <a:prstGeom prst="rect">
            <a:avLst/>
          </a:prstGeom>
        </p:spPr>
      </p:pic>
      <p:sp>
        <p:nvSpPr>
          <p:cNvPr id="3" name="Text 0"/>
          <p:cNvSpPr txBox="1"/>
          <p:nvPr/>
        </p:nvSpPr>
        <p:spPr>
          <a:xfrm>
            <a:off x="1572768" y="1024128"/>
            <a:ext cx="15142464" cy="404165"/>
          </a:xfrm>
          <a:prstGeom prst="rect">
            <a:avLst/>
          </a:prstGeom>
          <a:noFill/>
          <a:ln/>
        </p:spPr>
        <p:txBody>
          <a:bodyPr wrap="square" lIns="0" tIns="0" rIns="0" bIns="0" rtlCol="0" anchor="ctr"/>
          <a:lstStyle/>
          <a:p>
            <a:pPr indent="0" marL="0">
              <a:buNone/>
            </a:pPr>
            <a:r>
              <a:rPr lang="en-US" sz="1660" b="1" spc="345" kern="0" dirty="0">
                <a:solidFill>
                  <a:srgbClr val="692179"/>
                </a:solidFill>
                <a:latin typeface="Calibri" pitchFamily="34" charset="0"/>
                <a:ea typeface="Calibri" pitchFamily="34" charset="-122"/>
                <a:cs typeface="Calibri" pitchFamily="34" charset="-120"/>
              </a:rPr>
              <a:t>BLOQUE 2 · TERRAFORM</a:t>
            </a:r>
            <a:endParaRPr lang="en-US" sz="1660" dirty="0"/>
          </a:p>
        </p:txBody>
      </p:sp>
      <p:sp>
        <p:nvSpPr>
          <p:cNvPr id="4" name="Text 1"/>
          <p:cNvSpPr txBox="1"/>
          <p:nvPr/>
        </p:nvSpPr>
        <p:spPr>
          <a:xfrm>
            <a:off x="1572768" y="1440180"/>
            <a:ext cx="15142464" cy="1072591"/>
          </a:xfrm>
          <a:prstGeom prst="rect">
            <a:avLst/>
          </a:prstGeom>
          <a:noFill/>
          <a:ln/>
        </p:spPr>
        <p:txBody>
          <a:bodyPr wrap="square" lIns="0" tIns="0" rIns="0" bIns="0" rtlCol="0" anchor="ctr"/>
          <a:lstStyle/>
          <a:p>
            <a:pPr algn="l" indent="0" marL="0">
              <a:buNone/>
            </a:pPr>
            <a:r>
              <a:rPr lang="en-US" sz="4690" b="1" dirty="0">
                <a:solidFill>
                  <a:srgbClr val="241028"/>
                </a:solidFill>
                <a:latin typeface="Arial" pitchFamily="34" charset="0"/>
                <a:ea typeface="Arial" pitchFamily="34" charset="-122"/>
                <a:cs typeface="Arial" pitchFamily="34" charset="-120"/>
              </a:rPr>
              <a:t>Terraform son tres cosas. Solo tres.</a:t>
            </a:r>
            <a:endParaRPr lang="en-US" sz="4690" dirty="0"/>
          </a:p>
        </p:txBody>
      </p:sp>
      <p:sp>
        <p:nvSpPr>
          <p:cNvPr id="5" name="Shape 2"/>
          <p:cNvSpPr/>
          <p:nvPr/>
        </p:nvSpPr>
        <p:spPr>
          <a:xfrm>
            <a:off x="1572768" y="3143707"/>
            <a:ext cx="4845406" cy="4416552"/>
          </a:xfrm>
          <a:prstGeom prst="roundRect">
            <a:avLst>
              <a:gd name="adj" fmla="val 2857"/>
            </a:avLst>
          </a:prstGeom>
          <a:solidFill>
            <a:srgbClr val="F5ECF7"/>
          </a:solidFill>
          <a:ln w="12700">
            <a:solidFill>
              <a:srgbClr val="F5ECF7"/>
            </a:solidFill>
            <a:prstDash val="solid"/>
          </a:ln>
        </p:spPr>
      </p:sp>
      <p:sp>
        <p:nvSpPr>
          <p:cNvPr id="6" name="Shape 3"/>
          <p:cNvSpPr/>
          <p:nvPr/>
        </p:nvSpPr>
        <p:spPr>
          <a:xfrm>
            <a:off x="1572768" y="3143707"/>
            <a:ext cx="4845406" cy="946404"/>
          </a:xfrm>
          <a:prstGeom prst="roundRect">
            <a:avLst>
              <a:gd name="adj" fmla="val 13333"/>
            </a:avLst>
          </a:prstGeom>
          <a:solidFill>
            <a:srgbClr val="692179"/>
          </a:solidFill>
          <a:ln w="12700">
            <a:solidFill>
              <a:srgbClr val="692179"/>
            </a:solidFill>
            <a:prstDash val="solid"/>
          </a:ln>
        </p:spPr>
      </p:sp>
      <p:sp>
        <p:nvSpPr>
          <p:cNvPr id="7" name="Text 4"/>
          <p:cNvSpPr txBox="1"/>
          <p:nvPr/>
        </p:nvSpPr>
        <p:spPr>
          <a:xfrm>
            <a:off x="1951330" y="3143707"/>
            <a:ext cx="4088282" cy="946404"/>
          </a:xfrm>
          <a:prstGeom prst="rect">
            <a:avLst/>
          </a:prstGeom>
          <a:noFill/>
          <a:ln/>
        </p:spPr>
        <p:txBody>
          <a:bodyPr wrap="square" lIns="0" tIns="0" rIns="0" bIns="0" rtlCol="0" anchor="ctr"/>
          <a:lstStyle/>
          <a:p>
            <a:pPr indent="0" marL="0">
              <a:buNone/>
            </a:pPr>
            <a:r>
              <a:rPr lang="en-US" sz="2620" b="1" dirty="0">
                <a:solidFill>
                  <a:srgbClr val="FFFFFF"/>
                </a:solidFill>
                <a:latin typeface="Arial" pitchFamily="34" charset="0"/>
                <a:ea typeface="Arial" pitchFamily="34" charset="-122"/>
                <a:cs typeface="Arial" pitchFamily="34" charset="-120"/>
              </a:rPr>
              <a:t>Una CLI</a:t>
            </a:r>
            <a:endParaRPr lang="en-US" sz="2620" dirty="0"/>
          </a:p>
        </p:txBody>
      </p:sp>
      <p:sp>
        <p:nvSpPr>
          <p:cNvPr id="8" name="Text 5"/>
          <p:cNvSpPr txBox="1"/>
          <p:nvPr/>
        </p:nvSpPr>
        <p:spPr>
          <a:xfrm>
            <a:off x="1951330" y="4342486"/>
            <a:ext cx="4088282" cy="504749"/>
          </a:xfrm>
          <a:prstGeom prst="rect">
            <a:avLst/>
          </a:prstGeom>
          <a:noFill/>
          <a:ln/>
        </p:spPr>
        <p:txBody>
          <a:bodyPr wrap="square" lIns="0" tIns="0" rIns="0" bIns="0" rtlCol="0" anchor="ctr"/>
          <a:lstStyle/>
          <a:p>
            <a:pPr indent="0" marL="0">
              <a:buNone/>
            </a:pPr>
            <a:r>
              <a:rPr lang="en-US" sz="2070" b="1" dirty="0">
                <a:solidFill>
                  <a:srgbClr val="241028"/>
                </a:solidFill>
                <a:latin typeface="Courier New" pitchFamily="34" charset="0"/>
                <a:ea typeface="Courier New" pitchFamily="34" charset="-122"/>
                <a:cs typeface="Courier New" pitchFamily="34" charset="-120"/>
              </a:rPr>
              <a:t>terraform</a:t>
            </a:r>
            <a:endParaRPr lang="en-US" sz="2070" dirty="0"/>
          </a:p>
        </p:txBody>
      </p:sp>
      <p:sp>
        <p:nvSpPr>
          <p:cNvPr id="9" name="Text 6"/>
          <p:cNvSpPr txBox="1"/>
          <p:nvPr/>
        </p:nvSpPr>
        <p:spPr>
          <a:xfrm>
            <a:off x="1951330" y="4973422"/>
            <a:ext cx="4088282" cy="2334463"/>
          </a:xfrm>
          <a:prstGeom prst="rect">
            <a:avLst/>
          </a:prstGeom>
          <a:noFill/>
          <a:ln/>
        </p:spPr>
        <p:txBody>
          <a:bodyPr wrap="square" lIns="0" tIns="0" rIns="0" bIns="0" rtlCol="0" anchor="t"/>
          <a:lstStyle/>
          <a:p>
            <a:pPr indent="0" marL="0">
              <a:lnSpc>
                <a:spcPct val="115000"/>
              </a:lnSpc>
              <a:buNone/>
            </a:pPr>
            <a:r>
              <a:rPr lang="en-US" sz="1930" dirty="0">
                <a:solidFill>
                  <a:srgbClr val="6E5C73"/>
                </a:solidFill>
                <a:latin typeface="Calibri" pitchFamily="34" charset="0"/>
                <a:ea typeface="Calibri" pitchFamily="34" charset="-122"/>
                <a:cs typeface="Calibri" pitchFamily="34" charset="-120"/>
              </a:rPr>
              <a:t>Un ejecutable que te descargas. Cuatro comandos que usarás el 95% del tiempo: init, plan, apply, destroy.</a:t>
            </a:r>
            <a:endParaRPr lang="en-US" sz="1930" dirty="0"/>
          </a:p>
        </p:txBody>
      </p:sp>
      <p:sp>
        <p:nvSpPr>
          <p:cNvPr id="10" name="Shape 7"/>
          <p:cNvSpPr/>
          <p:nvPr/>
        </p:nvSpPr>
        <p:spPr>
          <a:xfrm>
            <a:off x="6720840" y="3143707"/>
            <a:ext cx="4845406" cy="4416552"/>
          </a:xfrm>
          <a:prstGeom prst="roundRect">
            <a:avLst>
              <a:gd name="adj" fmla="val 2857"/>
            </a:avLst>
          </a:prstGeom>
          <a:solidFill>
            <a:srgbClr val="F5ECF7"/>
          </a:solidFill>
          <a:ln w="12700">
            <a:solidFill>
              <a:srgbClr val="F5ECF7"/>
            </a:solidFill>
            <a:prstDash val="solid"/>
          </a:ln>
        </p:spPr>
      </p:sp>
      <p:sp>
        <p:nvSpPr>
          <p:cNvPr id="11" name="Shape 8"/>
          <p:cNvSpPr/>
          <p:nvPr/>
        </p:nvSpPr>
        <p:spPr>
          <a:xfrm>
            <a:off x="6720840" y="3143707"/>
            <a:ext cx="4845406" cy="946404"/>
          </a:xfrm>
          <a:prstGeom prst="roundRect">
            <a:avLst>
              <a:gd name="adj" fmla="val 13333"/>
            </a:avLst>
          </a:prstGeom>
          <a:solidFill>
            <a:srgbClr val="2BB5A0"/>
          </a:solidFill>
          <a:ln w="12700">
            <a:solidFill>
              <a:srgbClr val="2BB5A0"/>
            </a:solidFill>
            <a:prstDash val="solid"/>
          </a:ln>
        </p:spPr>
      </p:sp>
      <p:sp>
        <p:nvSpPr>
          <p:cNvPr id="12" name="Text 9"/>
          <p:cNvSpPr txBox="1"/>
          <p:nvPr/>
        </p:nvSpPr>
        <p:spPr>
          <a:xfrm>
            <a:off x="7099402" y="3143707"/>
            <a:ext cx="4088282" cy="946404"/>
          </a:xfrm>
          <a:prstGeom prst="rect">
            <a:avLst/>
          </a:prstGeom>
          <a:noFill/>
          <a:ln/>
        </p:spPr>
        <p:txBody>
          <a:bodyPr wrap="square" lIns="0" tIns="0" rIns="0" bIns="0" rtlCol="0" anchor="ctr"/>
          <a:lstStyle/>
          <a:p>
            <a:pPr indent="0" marL="0">
              <a:buNone/>
            </a:pPr>
            <a:r>
              <a:rPr lang="en-US" sz="2620" b="1" dirty="0">
                <a:solidFill>
                  <a:srgbClr val="FFFFFF"/>
                </a:solidFill>
                <a:latin typeface="Arial" pitchFamily="34" charset="0"/>
                <a:ea typeface="Arial" pitchFamily="34" charset="-122"/>
                <a:cs typeface="Arial" pitchFamily="34" charset="-120"/>
              </a:rPr>
              <a:t>Un lenguaje</a:t>
            </a:r>
            <a:endParaRPr lang="en-US" sz="2620" dirty="0"/>
          </a:p>
        </p:txBody>
      </p:sp>
      <p:sp>
        <p:nvSpPr>
          <p:cNvPr id="13" name="Text 10"/>
          <p:cNvSpPr txBox="1"/>
          <p:nvPr/>
        </p:nvSpPr>
        <p:spPr>
          <a:xfrm>
            <a:off x="7099402" y="4342486"/>
            <a:ext cx="4088282" cy="504749"/>
          </a:xfrm>
          <a:prstGeom prst="rect">
            <a:avLst/>
          </a:prstGeom>
          <a:noFill/>
          <a:ln/>
        </p:spPr>
        <p:txBody>
          <a:bodyPr wrap="square" lIns="0" tIns="0" rIns="0" bIns="0" rtlCol="0" anchor="ctr"/>
          <a:lstStyle/>
          <a:p>
            <a:pPr indent="0" marL="0">
              <a:buNone/>
            </a:pPr>
            <a:r>
              <a:rPr lang="en-US" sz="2070" b="1" dirty="0">
                <a:solidFill>
                  <a:srgbClr val="241028"/>
                </a:solidFill>
                <a:latin typeface="Courier New" pitchFamily="34" charset="0"/>
                <a:ea typeface="Courier New" pitchFamily="34" charset="-122"/>
                <a:cs typeface="Courier New" pitchFamily="34" charset="-120"/>
              </a:rPr>
              <a:t>HCL</a:t>
            </a:r>
            <a:endParaRPr lang="en-US" sz="2070" dirty="0"/>
          </a:p>
        </p:txBody>
      </p:sp>
      <p:sp>
        <p:nvSpPr>
          <p:cNvPr id="14" name="Text 11"/>
          <p:cNvSpPr txBox="1"/>
          <p:nvPr/>
        </p:nvSpPr>
        <p:spPr>
          <a:xfrm>
            <a:off x="7099402" y="4973422"/>
            <a:ext cx="4088282" cy="2334463"/>
          </a:xfrm>
          <a:prstGeom prst="rect">
            <a:avLst/>
          </a:prstGeom>
          <a:noFill/>
          <a:ln/>
        </p:spPr>
        <p:txBody>
          <a:bodyPr wrap="square" lIns="0" tIns="0" rIns="0" bIns="0" rtlCol="0" anchor="t"/>
          <a:lstStyle/>
          <a:p>
            <a:pPr indent="0" marL="0">
              <a:lnSpc>
                <a:spcPct val="115000"/>
              </a:lnSpc>
              <a:buNone/>
            </a:pPr>
            <a:r>
              <a:rPr lang="en-US" sz="1930" dirty="0">
                <a:solidFill>
                  <a:srgbClr val="6E5C73"/>
                </a:solidFill>
                <a:latin typeface="Calibri" pitchFamily="34" charset="0"/>
                <a:ea typeface="Calibri" pitchFamily="34" charset="-122"/>
                <a:cs typeface="Calibri" pitchFamily="34" charset="-120"/>
              </a:rPr>
              <a:t>Ficheros .tf donde describes qué quieres que exista. Bloques y pares clave = valor. Se aprende en una tarde.</a:t>
            </a:r>
            <a:endParaRPr lang="en-US" sz="1930" dirty="0"/>
          </a:p>
        </p:txBody>
      </p:sp>
      <p:sp>
        <p:nvSpPr>
          <p:cNvPr id="15" name="Shape 12"/>
          <p:cNvSpPr/>
          <p:nvPr/>
        </p:nvSpPr>
        <p:spPr>
          <a:xfrm>
            <a:off x="11869826" y="3143707"/>
            <a:ext cx="4845406" cy="4416552"/>
          </a:xfrm>
          <a:prstGeom prst="roundRect">
            <a:avLst>
              <a:gd name="adj" fmla="val 2857"/>
            </a:avLst>
          </a:prstGeom>
          <a:solidFill>
            <a:srgbClr val="F5ECF7"/>
          </a:solidFill>
          <a:ln w="12700">
            <a:solidFill>
              <a:srgbClr val="F5ECF7"/>
            </a:solidFill>
            <a:prstDash val="solid"/>
          </a:ln>
        </p:spPr>
      </p:sp>
      <p:sp>
        <p:nvSpPr>
          <p:cNvPr id="16" name="Shape 13"/>
          <p:cNvSpPr/>
          <p:nvPr/>
        </p:nvSpPr>
        <p:spPr>
          <a:xfrm>
            <a:off x="11869826" y="3143707"/>
            <a:ext cx="4845406" cy="946404"/>
          </a:xfrm>
          <a:prstGeom prst="roundRect">
            <a:avLst>
              <a:gd name="adj" fmla="val 13333"/>
            </a:avLst>
          </a:prstGeom>
          <a:solidFill>
            <a:srgbClr val="F59120"/>
          </a:solidFill>
          <a:ln w="12700">
            <a:solidFill>
              <a:srgbClr val="F59120"/>
            </a:solidFill>
            <a:prstDash val="solid"/>
          </a:ln>
        </p:spPr>
      </p:sp>
      <p:sp>
        <p:nvSpPr>
          <p:cNvPr id="17" name="Text 14"/>
          <p:cNvSpPr txBox="1"/>
          <p:nvPr/>
        </p:nvSpPr>
        <p:spPr>
          <a:xfrm>
            <a:off x="12248388" y="3143707"/>
            <a:ext cx="4088282" cy="946404"/>
          </a:xfrm>
          <a:prstGeom prst="rect">
            <a:avLst/>
          </a:prstGeom>
          <a:noFill/>
          <a:ln/>
        </p:spPr>
        <p:txBody>
          <a:bodyPr wrap="square" lIns="0" tIns="0" rIns="0" bIns="0" rtlCol="0" anchor="ctr"/>
          <a:lstStyle/>
          <a:p>
            <a:pPr indent="0" marL="0">
              <a:buNone/>
            </a:pPr>
            <a:r>
              <a:rPr lang="en-US" sz="2620" b="1" dirty="0">
                <a:solidFill>
                  <a:srgbClr val="2A0E33"/>
                </a:solidFill>
                <a:latin typeface="Arial" pitchFamily="34" charset="0"/>
                <a:ea typeface="Arial" pitchFamily="34" charset="-122"/>
                <a:cs typeface="Arial" pitchFamily="34" charset="-120"/>
              </a:rPr>
              <a:t>Unos providers</a:t>
            </a:r>
            <a:endParaRPr lang="en-US" sz="2620" dirty="0"/>
          </a:p>
        </p:txBody>
      </p:sp>
      <p:sp>
        <p:nvSpPr>
          <p:cNvPr id="18" name="Text 15"/>
          <p:cNvSpPr txBox="1"/>
          <p:nvPr/>
        </p:nvSpPr>
        <p:spPr>
          <a:xfrm>
            <a:off x="12248388" y="4342486"/>
            <a:ext cx="4088282" cy="504749"/>
          </a:xfrm>
          <a:prstGeom prst="rect">
            <a:avLst/>
          </a:prstGeom>
          <a:noFill/>
          <a:ln/>
        </p:spPr>
        <p:txBody>
          <a:bodyPr wrap="square" lIns="0" tIns="0" rIns="0" bIns="0" rtlCol="0" anchor="ctr"/>
          <a:lstStyle/>
          <a:p>
            <a:pPr indent="0" marL="0">
              <a:buNone/>
            </a:pPr>
            <a:r>
              <a:rPr lang="en-US" sz="2070" b="1" dirty="0">
                <a:solidFill>
                  <a:srgbClr val="241028"/>
                </a:solidFill>
                <a:latin typeface="Courier New" pitchFamily="34" charset="0"/>
                <a:ea typeface="Courier New" pitchFamily="34" charset="-122"/>
                <a:cs typeface="Courier New" pitchFamily="34" charset="-120"/>
              </a:rPr>
              <a:t>microsoft/fabric</a:t>
            </a:r>
            <a:endParaRPr lang="en-US" sz="2070" dirty="0"/>
          </a:p>
        </p:txBody>
      </p:sp>
      <p:sp>
        <p:nvSpPr>
          <p:cNvPr id="19" name="Text 16"/>
          <p:cNvSpPr txBox="1"/>
          <p:nvPr/>
        </p:nvSpPr>
        <p:spPr>
          <a:xfrm>
            <a:off x="12248388" y="4973422"/>
            <a:ext cx="4088282" cy="2334463"/>
          </a:xfrm>
          <a:prstGeom prst="rect">
            <a:avLst/>
          </a:prstGeom>
          <a:noFill/>
          <a:ln/>
        </p:spPr>
        <p:txBody>
          <a:bodyPr wrap="square" lIns="0" tIns="0" rIns="0" bIns="0" rtlCol="0" anchor="t"/>
          <a:lstStyle/>
          <a:p>
            <a:pPr indent="0" marL="0">
              <a:lnSpc>
                <a:spcPct val="115000"/>
              </a:lnSpc>
              <a:buNone/>
            </a:pPr>
            <a:r>
              <a:rPr lang="en-US" sz="1930" dirty="0">
                <a:solidFill>
                  <a:srgbClr val="6E5C73"/>
                </a:solidFill>
                <a:latin typeface="Calibri" pitchFamily="34" charset="0"/>
                <a:ea typeface="Calibri" pitchFamily="34" charset="-122"/>
                <a:cs typeface="Calibri" pitchFamily="34" charset="-120"/>
              </a:rPr>
              <a:t>Plugins que saben hablar con un servicio concreto. Terraform no sabe nada de Fabric; el provider sí.</a:t>
            </a:r>
            <a:endParaRPr lang="en-US" sz="1930" dirty="0"/>
          </a:p>
        </p:txBody>
      </p:sp>
      <p:sp>
        <p:nvSpPr>
          <p:cNvPr id="20" name="Text 17"/>
          <p:cNvSpPr txBox="1"/>
          <p:nvPr/>
        </p:nvSpPr>
        <p:spPr>
          <a:xfrm>
            <a:off x="1572768" y="7938821"/>
            <a:ext cx="15142464" cy="630936"/>
          </a:xfrm>
          <a:prstGeom prst="rect">
            <a:avLst/>
          </a:prstGeom>
          <a:noFill/>
          <a:ln/>
        </p:spPr>
        <p:txBody>
          <a:bodyPr wrap="square" lIns="0" tIns="0" rIns="0" bIns="0" rtlCol="0" anchor="ctr"/>
          <a:lstStyle/>
          <a:p>
            <a:pPr indent="0" marL="0">
              <a:buNone/>
            </a:pPr>
            <a:r>
              <a:rPr lang="en-US" sz="2070" i="1" dirty="0">
                <a:solidFill>
                  <a:srgbClr val="692179"/>
                </a:solidFill>
                <a:latin typeface="Calibri" pitchFamily="34" charset="0"/>
                <a:ea typeface="Calibri" pitchFamily="34" charset="-122"/>
                <a:cs typeface="Calibri" pitchFamily="34" charset="-120"/>
              </a:rPr>
              <a:t>Terraform es open source y gratis. HashiCorp vende la nube que lo orquesta, no la herramienta.</a:t>
            </a:r>
            <a:endParaRPr lang="en-US" sz="207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pic>
        <p:nvPicPr>
          <p:cNvPr id="2" name="Image 0" descr="/home/claude/bg-white.jpg">    </p:cNvPr>
          <p:cNvPicPr>
            <a:picLocks noChangeAspect="1"/>
          </p:cNvPicPr>
          <p:nvPr/>
        </p:nvPicPr>
        <p:blipFill>
          <a:blip r:embed="rId1"/>
          <a:stretch>
            <a:fillRect/>
          </a:stretch>
        </p:blipFill>
        <p:spPr>
          <a:xfrm>
            <a:off x="0" y="0"/>
            <a:ext cx="18288000" cy="10287000"/>
          </a:xfrm>
          <a:prstGeom prst="rect">
            <a:avLst/>
          </a:prstGeom>
        </p:spPr>
      </p:pic>
      <p:sp>
        <p:nvSpPr>
          <p:cNvPr id="3" name="Text 0"/>
          <p:cNvSpPr txBox="1"/>
          <p:nvPr/>
        </p:nvSpPr>
        <p:spPr>
          <a:xfrm>
            <a:off x="1572768" y="1024128"/>
            <a:ext cx="15142464" cy="404165"/>
          </a:xfrm>
          <a:prstGeom prst="rect">
            <a:avLst/>
          </a:prstGeom>
          <a:noFill/>
          <a:ln/>
        </p:spPr>
        <p:txBody>
          <a:bodyPr wrap="square" lIns="0" tIns="0" rIns="0" bIns="0" rtlCol="0" anchor="ctr"/>
          <a:lstStyle/>
          <a:p>
            <a:pPr indent="0" marL="0">
              <a:buNone/>
            </a:pPr>
            <a:r>
              <a:rPr lang="en-US" sz="1660" b="1" spc="345" kern="0" dirty="0">
                <a:solidFill>
                  <a:srgbClr val="692179"/>
                </a:solidFill>
                <a:latin typeface="Calibri" pitchFamily="34" charset="0"/>
                <a:ea typeface="Calibri" pitchFamily="34" charset="-122"/>
                <a:cs typeface="Calibri" pitchFamily="34" charset="-120"/>
              </a:rPr>
              <a:t>BLOQUE 2 · TERRAFORM</a:t>
            </a:r>
            <a:endParaRPr lang="en-US" sz="1660" dirty="0"/>
          </a:p>
        </p:txBody>
      </p:sp>
      <p:sp>
        <p:nvSpPr>
          <p:cNvPr id="4" name="Text 1"/>
          <p:cNvSpPr txBox="1"/>
          <p:nvPr/>
        </p:nvSpPr>
        <p:spPr>
          <a:xfrm>
            <a:off x="1572768" y="1440180"/>
            <a:ext cx="15142464" cy="1072591"/>
          </a:xfrm>
          <a:prstGeom prst="rect">
            <a:avLst/>
          </a:prstGeom>
          <a:noFill/>
          <a:ln/>
        </p:spPr>
        <p:txBody>
          <a:bodyPr wrap="square" lIns="0" tIns="0" rIns="0" bIns="0" rtlCol="0" anchor="ctr"/>
          <a:lstStyle/>
          <a:p>
            <a:pPr algn="l" indent="0" marL="0">
              <a:buNone/>
            </a:pPr>
            <a:r>
              <a:rPr lang="en-US" sz="4690" b="1" dirty="0">
                <a:solidFill>
                  <a:srgbClr val="241028"/>
                </a:solidFill>
                <a:latin typeface="Arial" pitchFamily="34" charset="0"/>
                <a:ea typeface="Arial" pitchFamily="34" charset="-122"/>
                <a:cs typeface="Arial" pitchFamily="34" charset="-120"/>
              </a:rPr>
              <a:t>El provider es el conector. Nada más misterioso.</a:t>
            </a:r>
            <a:endParaRPr lang="en-US" sz="4690" dirty="0"/>
          </a:p>
        </p:txBody>
      </p:sp>
      <p:sp>
        <p:nvSpPr>
          <p:cNvPr id="5" name="Shape 2"/>
          <p:cNvSpPr/>
          <p:nvPr/>
        </p:nvSpPr>
        <p:spPr>
          <a:xfrm>
            <a:off x="1572768" y="3143707"/>
            <a:ext cx="15142464" cy="1577340"/>
          </a:xfrm>
          <a:prstGeom prst="roundRect">
            <a:avLst>
              <a:gd name="adj" fmla="val 8000"/>
            </a:avLst>
          </a:prstGeom>
          <a:solidFill>
            <a:srgbClr val="FFFFFF"/>
          </a:solidFill>
          <a:ln w="12700">
            <a:solidFill>
              <a:srgbClr val="FFFFFF"/>
            </a:solidFill>
            <a:prstDash val="solid"/>
          </a:ln>
        </p:spPr>
      </p:sp>
      <p:sp>
        <p:nvSpPr>
          <p:cNvPr id="6" name="Text 3"/>
          <p:cNvSpPr txBox="1"/>
          <p:nvPr/>
        </p:nvSpPr>
        <p:spPr>
          <a:xfrm>
            <a:off x="2077517" y="3332988"/>
            <a:ext cx="14132966" cy="567842"/>
          </a:xfrm>
          <a:prstGeom prst="rect">
            <a:avLst/>
          </a:prstGeom>
          <a:noFill/>
          <a:ln/>
        </p:spPr>
        <p:txBody>
          <a:bodyPr wrap="square" lIns="0" tIns="0" rIns="0" bIns="0" rtlCol="0" anchor="ctr"/>
          <a:lstStyle/>
          <a:p>
            <a:pPr indent="0" marL="0">
              <a:buNone/>
            </a:pPr>
            <a:r>
              <a:rPr lang="en-US" sz="2620" b="1" dirty="0">
                <a:solidFill>
                  <a:srgbClr val="241028"/>
                </a:solidFill>
                <a:latin typeface="Arial" pitchFamily="34" charset="0"/>
                <a:ea typeface="Arial" pitchFamily="34" charset="-122"/>
                <a:cs typeface="Arial" pitchFamily="34" charset="-120"/>
              </a:rPr>
              <a:t>Power BI no sabe hablar con SAP. El conector de SAP sí.</a:t>
            </a:r>
            <a:endParaRPr lang="en-US" sz="2620" dirty="0"/>
          </a:p>
        </p:txBody>
      </p:sp>
      <p:sp>
        <p:nvSpPr>
          <p:cNvPr id="7" name="Text 4"/>
          <p:cNvSpPr txBox="1"/>
          <p:nvPr/>
        </p:nvSpPr>
        <p:spPr>
          <a:xfrm>
            <a:off x="2077517" y="3900830"/>
            <a:ext cx="14132966" cy="567842"/>
          </a:xfrm>
          <a:prstGeom prst="rect">
            <a:avLst/>
          </a:prstGeom>
          <a:noFill/>
          <a:ln/>
        </p:spPr>
        <p:txBody>
          <a:bodyPr wrap="square" lIns="0" tIns="0" rIns="0" bIns="0" rtlCol="0" anchor="ctr"/>
          <a:lstStyle/>
          <a:p>
            <a:pPr indent="0" marL="0">
              <a:buNone/>
            </a:pPr>
            <a:r>
              <a:rPr lang="en-US" sz="2620" b="1" dirty="0">
                <a:solidFill>
                  <a:srgbClr val="692179"/>
                </a:solidFill>
                <a:latin typeface="Arial" pitchFamily="34" charset="0"/>
                <a:ea typeface="Arial" pitchFamily="34" charset="-122"/>
                <a:cs typeface="Arial" pitchFamily="34" charset="-120"/>
              </a:rPr>
              <a:t>Terraform no sabe hablar con Fabric. El provider de Fabric sí.</a:t>
            </a:r>
            <a:endParaRPr lang="en-US" sz="2620" dirty="0"/>
          </a:p>
        </p:txBody>
      </p:sp>
      <p:sp>
        <p:nvSpPr>
          <p:cNvPr id="8" name="Shape 5"/>
          <p:cNvSpPr/>
          <p:nvPr/>
        </p:nvSpPr>
        <p:spPr>
          <a:xfrm>
            <a:off x="1572768" y="5288890"/>
            <a:ext cx="3280867" cy="1829714"/>
          </a:xfrm>
          <a:prstGeom prst="roundRect">
            <a:avLst>
              <a:gd name="adj" fmla="val 6897"/>
            </a:avLst>
          </a:prstGeom>
          <a:solidFill>
            <a:srgbClr val="FFFFFF"/>
          </a:solidFill>
          <a:ln w="21844">
            <a:solidFill>
              <a:srgbClr val="692179"/>
            </a:solidFill>
            <a:prstDash val="solid"/>
          </a:ln>
        </p:spPr>
      </p:sp>
      <p:sp>
        <p:nvSpPr>
          <p:cNvPr id="9" name="Text 6"/>
          <p:cNvSpPr txBox="1"/>
          <p:nvPr/>
        </p:nvSpPr>
        <p:spPr>
          <a:xfrm>
            <a:off x="1762049" y="5541264"/>
            <a:ext cx="2902306" cy="567842"/>
          </a:xfrm>
          <a:prstGeom prst="rect">
            <a:avLst/>
          </a:prstGeom>
          <a:noFill/>
          <a:ln/>
        </p:spPr>
        <p:txBody>
          <a:bodyPr wrap="square" lIns="0" tIns="0" rIns="0" bIns="0" rtlCol="0" anchor="ctr"/>
          <a:lstStyle/>
          <a:p>
            <a:pPr algn="ctr" indent="0" marL="0">
              <a:buNone/>
            </a:pPr>
            <a:r>
              <a:rPr lang="en-US" sz="2070" b="1" dirty="0">
                <a:solidFill>
                  <a:srgbClr val="241028"/>
                </a:solidFill>
                <a:latin typeface="Arial" pitchFamily="34" charset="0"/>
                <a:ea typeface="Arial" pitchFamily="34" charset="-122"/>
                <a:cs typeface="Arial" pitchFamily="34" charset="-120"/>
              </a:rPr>
              <a:t>Tu código</a:t>
            </a:r>
            <a:endParaRPr lang="en-US" sz="2070" dirty="0"/>
          </a:p>
        </p:txBody>
      </p:sp>
      <p:sp>
        <p:nvSpPr>
          <p:cNvPr id="10" name="Text 7"/>
          <p:cNvSpPr txBox="1"/>
          <p:nvPr/>
        </p:nvSpPr>
        <p:spPr>
          <a:xfrm>
            <a:off x="1724558" y="6109106"/>
            <a:ext cx="2978201" cy="757123"/>
          </a:xfrm>
          <a:prstGeom prst="rect">
            <a:avLst/>
          </a:prstGeom>
          <a:noFill/>
          <a:ln/>
        </p:spPr>
        <p:txBody>
          <a:bodyPr wrap="square" lIns="0" tIns="0" rIns="0" bIns="0" rtlCol="0" anchor="t"/>
          <a:lstStyle/>
          <a:p>
            <a:pPr algn="ctr" indent="0" marL="0">
              <a:buNone/>
            </a:pPr>
            <a:r>
              <a:rPr lang="en-US" sz="1660" dirty="0">
                <a:solidFill>
                  <a:srgbClr val="6E5C73"/>
                </a:solidFill>
                <a:latin typeface="Calibri" pitchFamily="34" charset="0"/>
                <a:ea typeface="Calibri" pitchFamily="34" charset="-122"/>
                <a:cs typeface="Calibri" pitchFamily="34" charset="-120"/>
              </a:rPr>
              <a:t>.tf</a:t>
            </a:r>
            <a:endParaRPr lang="en-US" sz="1660" dirty="0"/>
          </a:p>
        </p:txBody>
      </p:sp>
      <p:sp>
        <p:nvSpPr>
          <p:cNvPr id="11" name="Text 8"/>
          <p:cNvSpPr txBox="1"/>
          <p:nvPr/>
        </p:nvSpPr>
        <p:spPr>
          <a:xfrm>
            <a:off x="4853635" y="5288890"/>
            <a:ext cx="643738" cy="1829714"/>
          </a:xfrm>
          <a:prstGeom prst="rect">
            <a:avLst/>
          </a:prstGeom>
          <a:noFill/>
          <a:ln/>
        </p:spPr>
        <p:txBody>
          <a:bodyPr wrap="square" lIns="0" tIns="0" rIns="0" bIns="0" rtlCol="0" anchor="ctr"/>
          <a:lstStyle/>
          <a:p>
            <a:pPr algn="ctr" indent="0" marL="0">
              <a:buNone/>
            </a:pPr>
            <a:r>
              <a:rPr lang="en-US" sz="3310" b="1" dirty="0">
                <a:solidFill>
                  <a:srgbClr val="692179"/>
                </a:solidFill>
                <a:latin typeface="Arial" pitchFamily="34" charset="0"/>
                <a:ea typeface="Arial" pitchFamily="34" charset="-122"/>
                <a:cs typeface="Arial" pitchFamily="34" charset="-120"/>
              </a:rPr>
              <a:t>→</a:t>
            </a:r>
            <a:endParaRPr lang="en-US" sz="3310" dirty="0"/>
          </a:p>
        </p:txBody>
      </p:sp>
      <p:sp>
        <p:nvSpPr>
          <p:cNvPr id="12" name="Shape 9"/>
          <p:cNvSpPr/>
          <p:nvPr/>
        </p:nvSpPr>
        <p:spPr>
          <a:xfrm>
            <a:off x="5497373" y="5288890"/>
            <a:ext cx="3280867" cy="1829714"/>
          </a:xfrm>
          <a:prstGeom prst="roundRect">
            <a:avLst>
              <a:gd name="adj" fmla="val 6897"/>
            </a:avLst>
          </a:prstGeom>
          <a:solidFill>
            <a:srgbClr val="FFFFFF"/>
          </a:solidFill>
          <a:ln w="21844">
            <a:solidFill>
              <a:srgbClr val="692179"/>
            </a:solidFill>
            <a:prstDash val="solid"/>
          </a:ln>
        </p:spPr>
      </p:sp>
      <p:sp>
        <p:nvSpPr>
          <p:cNvPr id="13" name="Text 10"/>
          <p:cNvSpPr txBox="1"/>
          <p:nvPr/>
        </p:nvSpPr>
        <p:spPr>
          <a:xfrm>
            <a:off x="5686654" y="5541264"/>
            <a:ext cx="2902306" cy="567842"/>
          </a:xfrm>
          <a:prstGeom prst="rect">
            <a:avLst/>
          </a:prstGeom>
          <a:noFill/>
          <a:ln/>
        </p:spPr>
        <p:txBody>
          <a:bodyPr wrap="square" lIns="0" tIns="0" rIns="0" bIns="0" rtlCol="0" anchor="ctr"/>
          <a:lstStyle/>
          <a:p>
            <a:pPr algn="ctr" indent="0" marL="0">
              <a:buNone/>
            </a:pPr>
            <a:r>
              <a:rPr lang="en-US" sz="2070" b="1" dirty="0">
                <a:solidFill>
                  <a:srgbClr val="241028"/>
                </a:solidFill>
                <a:latin typeface="Arial" pitchFamily="34" charset="0"/>
                <a:ea typeface="Arial" pitchFamily="34" charset="-122"/>
                <a:cs typeface="Arial" pitchFamily="34" charset="-120"/>
              </a:rPr>
              <a:t>Terraform Core</a:t>
            </a:r>
            <a:endParaRPr lang="en-US" sz="2070" dirty="0"/>
          </a:p>
        </p:txBody>
      </p:sp>
      <p:sp>
        <p:nvSpPr>
          <p:cNvPr id="14" name="Text 11"/>
          <p:cNvSpPr txBox="1"/>
          <p:nvPr/>
        </p:nvSpPr>
        <p:spPr>
          <a:xfrm>
            <a:off x="5648249" y="6109106"/>
            <a:ext cx="2978201" cy="757123"/>
          </a:xfrm>
          <a:prstGeom prst="rect">
            <a:avLst/>
          </a:prstGeom>
          <a:noFill/>
          <a:ln/>
        </p:spPr>
        <p:txBody>
          <a:bodyPr wrap="square" lIns="0" tIns="0" rIns="0" bIns="0" rtlCol="0" anchor="t"/>
          <a:lstStyle/>
          <a:p>
            <a:pPr algn="ctr" indent="0" marL="0">
              <a:buNone/>
            </a:pPr>
            <a:r>
              <a:rPr lang="en-US" sz="1660" dirty="0">
                <a:solidFill>
                  <a:srgbClr val="6E5C73"/>
                </a:solidFill>
                <a:latin typeface="Calibri" pitchFamily="34" charset="0"/>
                <a:ea typeface="Calibri" pitchFamily="34" charset="-122"/>
                <a:cs typeface="Calibri" pitchFamily="34" charset="-120"/>
              </a:rPr>
              <a:t>calcula el plan</a:t>
            </a:r>
            <a:endParaRPr lang="en-US" sz="1660" dirty="0"/>
          </a:p>
        </p:txBody>
      </p:sp>
      <p:sp>
        <p:nvSpPr>
          <p:cNvPr id="15" name="Text 12"/>
          <p:cNvSpPr txBox="1"/>
          <p:nvPr/>
        </p:nvSpPr>
        <p:spPr>
          <a:xfrm>
            <a:off x="8778240" y="5288890"/>
            <a:ext cx="643738" cy="1829714"/>
          </a:xfrm>
          <a:prstGeom prst="rect">
            <a:avLst/>
          </a:prstGeom>
          <a:noFill/>
          <a:ln/>
        </p:spPr>
        <p:txBody>
          <a:bodyPr wrap="square" lIns="0" tIns="0" rIns="0" bIns="0" rtlCol="0" anchor="ctr"/>
          <a:lstStyle/>
          <a:p>
            <a:pPr algn="ctr" indent="0" marL="0">
              <a:buNone/>
            </a:pPr>
            <a:r>
              <a:rPr lang="en-US" sz="3310" b="1" dirty="0">
                <a:solidFill>
                  <a:srgbClr val="692179"/>
                </a:solidFill>
                <a:latin typeface="Arial" pitchFamily="34" charset="0"/>
                <a:ea typeface="Arial" pitchFamily="34" charset="-122"/>
                <a:cs typeface="Arial" pitchFamily="34" charset="-120"/>
              </a:rPr>
              <a:t>→</a:t>
            </a:r>
            <a:endParaRPr lang="en-US" sz="3310" dirty="0"/>
          </a:p>
        </p:txBody>
      </p:sp>
      <p:sp>
        <p:nvSpPr>
          <p:cNvPr id="16" name="Shape 13"/>
          <p:cNvSpPr/>
          <p:nvPr/>
        </p:nvSpPr>
        <p:spPr>
          <a:xfrm>
            <a:off x="9421978" y="5288890"/>
            <a:ext cx="3280867" cy="1829714"/>
          </a:xfrm>
          <a:prstGeom prst="roundRect">
            <a:avLst>
              <a:gd name="adj" fmla="val 6897"/>
            </a:avLst>
          </a:prstGeom>
          <a:solidFill>
            <a:srgbClr val="FFFFFF"/>
          </a:solidFill>
          <a:ln w="21844">
            <a:solidFill>
              <a:srgbClr val="2BB5A0"/>
            </a:solidFill>
            <a:prstDash val="solid"/>
          </a:ln>
        </p:spPr>
      </p:sp>
      <p:sp>
        <p:nvSpPr>
          <p:cNvPr id="17" name="Text 14"/>
          <p:cNvSpPr txBox="1"/>
          <p:nvPr/>
        </p:nvSpPr>
        <p:spPr>
          <a:xfrm>
            <a:off x="9611258" y="5541264"/>
            <a:ext cx="2902306" cy="567842"/>
          </a:xfrm>
          <a:prstGeom prst="rect">
            <a:avLst/>
          </a:prstGeom>
          <a:noFill/>
          <a:ln/>
        </p:spPr>
        <p:txBody>
          <a:bodyPr wrap="square" lIns="0" tIns="0" rIns="0" bIns="0" rtlCol="0" anchor="ctr"/>
          <a:lstStyle/>
          <a:p>
            <a:pPr algn="ctr" indent="0" marL="0">
              <a:buNone/>
            </a:pPr>
            <a:r>
              <a:rPr lang="en-US" sz="2070" b="1" dirty="0">
                <a:solidFill>
                  <a:srgbClr val="241028"/>
                </a:solidFill>
                <a:latin typeface="Arial" pitchFamily="34" charset="0"/>
                <a:ea typeface="Arial" pitchFamily="34" charset="-122"/>
                <a:cs typeface="Arial" pitchFamily="34" charset="-120"/>
              </a:rPr>
              <a:t>Provider</a:t>
            </a:r>
            <a:endParaRPr lang="en-US" sz="2070" dirty="0"/>
          </a:p>
        </p:txBody>
      </p:sp>
      <p:sp>
        <p:nvSpPr>
          <p:cNvPr id="18" name="Text 15"/>
          <p:cNvSpPr txBox="1"/>
          <p:nvPr/>
        </p:nvSpPr>
        <p:spPr>
          <a:xfrm>
            <a:off x="9572854" y="6109106"/>
            <a:ext cx="2978201" cy="757123"/>
          </a:xfrm>
          <a:prstGeom prst="rect">
            <a:avLst/>
          </a:prstGeom>
          <a:noFill/>
          <a:ln/>
        </p:spPr>
        <p:txBody>
          <a:bodyPr wrap="square" lIns="0" tIns="0" rIns="0" bIns="0" rtlCol="0" anchor="t"/>
          <a:lstStyle/>
          <a:p>
            <a:pPr algn="ctr" indent="0" marL="0">
              <a:buNone/>
            </a:pPr>
            <a:r>
              <a:rPr lang="en-US" sz="1660" dirty="0">
                <a:solidFill>
                  <a:srgbClr val="6E5C73"/>
                </a:solidFill>
                <a:latin typeface="Calibri" pitchFamily="34" charset="0"/>
                <a:ea typeface="Calibri" pitchFamily="34" charset="-122"/>
                <a:cs typeface="Calibri" pitchFamily="34" charset="-120"/>
              </a:rPr>
              <a:t>traduce a llamadas</a:t>
            </a:r>
            <a:endParaRPr lang="en-US" sz="1660" dirty="0"/>
          </a:p>
        </p:txBody>
      </p:sp>
      <p:sp>
        <p:nvSpPr>
          <p:cNvPr id="19" name="Text 16"/>
          <p:cNvSpPr txBox="1"/>
          <p:nvPr/>
        </p:nvSpPr>
        <p:spPr>
          <a:xfrm>
            <a:off x="12702845" y="5288890"/>
            <a:ext cx="643738" cy="1829714"/>
          </a:xfrm>
          <a:prstGeom prst="rect">
            <a:avLst/>
          </a:prstGeom>
          <a:noFill/>
          <a:ln/>
        </p:spPr>
        <p:txBody>
          <a:bodyPr wrap="square" lIns="0" tIns="0" rIns="0" bIns="0" rtlCol="0" anchor="ctr"/>
          <a:lstStyle/>
          <a:p>
            <a:pPr algn="ctr" indent="0" marL="0">
              <a:buNone/>
            </a:pPr>
            <a:r>
              <a:rPr lang="en-US" sz="3310" b="1" dirty="0">
                <a:solidFill>
                  <a:srgbClr val="692179"/>
                </a:solidFill>
                <a:latin typeface="Arial" pitchFamily="34" charset="0"/>
                <a:ea typeface="Arial" pitchFamily="34" charset="-122"/>
                <a:cs typeface="Arial" pitchFamily="34" charset="-120"/>
              </a:rPr>
              <a:t>→</a:t>
            </a:r>
            <a:endParaRPr lang="en-US" sz="3310" dirty="0"/>
          </a:p>
        </p:txBody>
      </p:sp>
      <p:sp>
        <p:nvSpPr>
          <p:cNvPr id="20" name="Shape 17"/>
          <p:cNvSpPr/>
          <p:nvPr/>
        </p:nvSpPr>
        <p:spPr>
          <a:xfrm>
            <a:off x="13345668" y="5288890"/>
            <a:ext cx="3280867" cy="1829714"/>
          </a:xfrm>
          <a:prstGeom prst="roundRect">
            <a:avLst>
              <a:gd name="adj" fmla="val 6897"/>
            </a:avLst>
          </a:prstGeom>
          <a:solidFill>
            <a:srgbClr val="FFFFFF"/>
          </a:solidFill>
          <a:ln w="21844">
            <a:solidFill>
              <a:srgbClr val="F59120"/>
            </a:solidFill>
            <a:prstDash val="solid"/>
          </a:ln>
        </p:spPr>
      </p:sp>
      <p:sp>
        <p:nvSpPr>
          <p:cNvPr id="21" name="Text 18"/>
          <p:cNvSpPr txBox="1"/>
          <p:nvPr/>
        </p:nvSpPr>
        <p:spPr>
          <a:xfrm>
            <a:off x="13534949" y="5541264"/>
            <a:ext cx="2902306" cy="567842"/>
          </a:xfrm>
          <a:prstGeom prst="rect">
            <a:avLst/>
          </a:prstGeom>
          <a:noFill/>
          <a:ln/>
        </p:spPr>
        <p:txBody>
          <a:bodyPr wrap="square" lIns="0" tIns="0" rIns="0" bIns="0" rtlCol="0" anchor="ctr"/>
          <a:lstStyle/>
          <a:p>
            <a:pPr algn="ctr" indent="0" marL="0">
              <a:buNone/>
            </a:pPr>
            <a:r>
              <a:rPr lang="en-US" sz="2070" b="1" dirty="0">
                <a:solidFill>
                  <a:srgbClr val="241028"/>
                </a:solidFill>
                <a:latin typeface="Arial" pitchFamily="34" charset="0"/>
                <a:ea typeface="Arial" pitchFamily="34" charset="-122"/>
                <a:cs typeface="Arial" pitchFamily="34" charset="-120"/>
              </a:rPr>
              <a:t>API REST de Fabric</a:t>
            </a:r>
            <a:endParaRPr lang="en-US" sz="2070" dirty="0"/>
          </a:p>
        </p:txBody>
      </p:sp>
      <p:sp>
        <p:nvSpPr>
          <p:cNvPr id="22" name="Text 19"/>
          <p:cNvSpPr txBox="1"/>
          <p:nvPr/>
        </p:nvSpPr>
        <p:spPr>
          <a:xfrm>
            <a:off x="13497458" y="6109106"/>
            <a:ext cx="2978201" cy="757123"/>
          </a:xfrm>
          <a:prstGeom prst="rect">
            <a:avLst/>
          </a:prstGeom>
          <a:noFill/>
          <a:ln/>
        </p:spPr>
        <p:txBody>
          <a:bodyPr wrap="square" lIns="0" tIns="0" rIns="0" bIns="0" rtlCol="0" anchor="t"/>
          <a:lstStyle/>
          <a:p>
            <a:pPr algn="ctr" indent="0" marL="0">
              <a:buNone/>
            </a:pPr>
            <a:r>
              <a:rPr lang="en-US" sz="1660" dirty="0">
                <a:solidFill>
                  <a:srgbClr val="6E5C73"/>
                </a:solidFill>
                <a:latin typeface="Calibri" pitchFamily="34" charset="0"/>
                <a:ea typeface="Calibri" pitchFamily="34" charset="-122"/>
                <a:cs typeface="Calibri" pitchFamily="34" charset="-120"/>
              </a:rPr>
              <a:t>lo ejecuta de verdad</a:t>
            </a:r>
            <a:endParaRPr lang="en-US" sz="1660" dirty="0"/>
          </a:p>
        </p:txBody>
      </p:sp>
      <p:sp>
        <p:nvSpPr>
          <p:cNvPr id="23" name="Text 20"/>
          <p:cNvSpPr txBox="1"/>
          <p:nvPr/>
        </p:nvSpPr>
        <p:spPr>
          <a:xfrm>
            <a:off x="1572768" y="7560259"/>
            <a:ext cx="15142464" cy="630936"/>
          </a:xfrm>
          <a:prstGeom prst="rect">
            <a:avLst/>
          </a:prstGeom>
          <a:noFill/>
          <a:ln/>
        </p:spPr>
        <p:txBody>
          <a:bodyPr wrap="square" lIns="0" tIns="0" rIns="0" bIns="0" rtlCol="0" anchor="ctr"/>
          <a:lstStyle/>
          <a:p>
            <a:pPr indent="0" marL="0">
              <a:buNone/>
            </a:pPr>
            <a:r>
              <a:rPr lang="en-US" sz="2070" i="1" dirty="0">
                <a:solidFill>
                  <a:srgbClr val="6E5C73"/>
                </a:solidFill>
                <a:latin typeface="Calibri" pitchFamily="34" charset="0"/>
                <a:ea typeface="Calibri" pitchFamily="34" charset="-122"/>
                <a:cs typeface="Calibri" pitchFamily="34" charset="-120"/>
              </a:rPr>
              <a:t>Cuando Fabric saca una funcionalidad nueva, se actualiza el provider. Tú solo subes la versión.</a:t>
            </a:r>
            <a:endParaRPr lang="en-US" sz="207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pic>
        <p:nvPicPr>
          <p:cNvPr id="2" name="Image 0" descr="/home/claude/bg-white.jpg">    </p:cNvPr>
          <p:cNvPicPr>
            <a:picLocks noChangeAspect="1"/>
          </p:cNvPicPr>
          <p:nvPr/>
        </p:nvPicPr>
        <p:blipFill>
          <a:blip r:embed="rId1"/>
          <a:stretch>
            <a:fillRect/>
          </a:stretch>
        </p:blipFill>
        <p:spPr>
          <a:xfrm>
            <a:off x="0" y="0"/>
            <a:ext cx="18288000" cy="10287000"/>
          </a:xfrm>
          <a:prstGeom prst="rect">
            <a:avLst/>
          </a:prstGeom>
        </p:spPr>
      </p:pic>
      <p:sp>
        <p:nvSpPr>
          <p:cNvPr id="3" name="Text 0"/>
          <p:cNvSpPr txBox="1"/>
          <p:nvPr/>
        </p:nvSpPr>
        <p:spPr>
          <a:xfrm>
            <a:off x="1572768" y="1024128"/>
            <a:ext cx="15142464" cy="404165"/>
          </a:xfrm>
          <a:prstGeom prst="rect">
            <a:avLst/>
          </a:prstGeom>
          <a:noFill/>
          <a:ln/>
        </p:spPr>
        <p:txBody>
          <a:bodyPr wrap="square" lIns="0" tIns="0" rIns="0" bIns="0" rtlCol="0" anchor="ctr"/>
          <a:lstStyle/>
          <a:p>
            <a:pPr indent="0" marL="0">
              <a:buNone/>
            </a:pPr>
            <a:r>
              <a:rPr lang="en-US" sz="1660" b="1" spc="345" kern="0" dirty="0">
                <a:solidFill>
                  <a:srgbClr val="692179"/>
                </a:solidFill>
                <a:latin typeface="Calibri" pitchFamily="34" charset="0"/>
                <a:ea typeface="Calibri" pitchFamily="34" charset="-122"/>
                <a:cs typeface="Calibri" pitchFamily="34" charset="-120"/>
              </a:rPr>
              <a:t>BLOQUE 2 · TERRAFORM</a:t>
            </a:r>
            <a:endParaRPr lang="en-US" sz="1660" dirty="0"/>
          </a:p>
        </p:txBody>
      </p:sp>
      <p:sp>
        <p:nvSpPr>
          <p:cNvPr id="4" name="Text 1"/>
          <p:cNvSpPr txBox="1"/>
          <p:nvPr/>
        </p:nvSpPr>
        <p:spPr>
          <a:xfrm>
            <a:off x="1572768" y="1440180"/>
            <a:ext cx="15142464" cy="1072591"/>
          </a:xfrm>
          <a:prstGeom prst="rect">
            <a:avLst/>
          </a:prstGeom>
          <a:noFill/>
          <a:ln/>
        </p:spPr>
        <p:txBody>
          <a:bodyPr wrap="square" lIns="0" tIns="0" rIns="0" bIns="0" rtlCol="0" anchor="ctr"/>
          <a:lstStyle/>
          <a:p>
            <a:pPr algn="l" indent="0" marL="0">
              <a:buNone/>
            </a:pPr>
            <a:r>
              <a:rPr lang="en-US" sz="4690" b="1" dirty="0">
                <a:solidFill>
                  <a:srgbClr val="241028"/>
                </a:solidFill>
                <a:latin typeface="Arial" pitchFamily="34" charset="0"/>
                <a:ea typeface="Arial" pitchFamily="34" charset="-122"/>
                <a:cs typeface="Arial" pitchFamily="34" charset="-120"/>
              </a:rPr>
              <a:t>Los tres providers que vas a usar en Fabric</a:t>
            </a:r>
            <a:endParaRPr lang="en-US" sz="4690" dirty="0"/>
          </a:p>
        </p:txBody>
      </p:sp>
      <p:sp>
        <p:nvSpPr>
          <p:cNvPr id="5" name="Shape 2"/>
          <p:cNvSpPr/>
          <p:nvPr/>
        </p:nvSpPr>
        <p:spPr>
          <a:xfrm>
            <a:off x="1572768" y="3143707"/>
            <a:ext cx="15142464" cy="1413662"/>
          </a:xfrm>
          <a:prstGeom prst="roundRect">
            <a:avLst>
              <a:gd name="adj" fmla="val 8926"/>
            </a:avLst>
          </a:prstGeom>
          <a:solidFill>
            <a:srgbClr val="F5ECF7"/>
          </a:solidFill>
          <a:ln w="12700">
            <a:solidFill>
              <a:srgbClr val="F5ECF7"/>
            </a:solidFill>
            <a:prstDash val="solid"/>
          </a:ln>
        </p:spPr>
      </p:sp>
      <p:sp>
        <p:nvSpPr>
          <p:cNvPr id="6" name="Shape 3"/>
          <p:cNvSpPr/>
          <p:nvPr/>
        </p:nvSpPr>
        <p:spPr>
          <a:xfrm>
            <a:off x="1888236" y="3471977"/>
            <a:ext cx="757123" cy="757123"/>
          </a:xfrm>
          <a:prstGeom prst="roundRect">
            <a:avLst>
              <a:gd name="adj" fmla="val 13285"/>
            </a:avLst>
          </a:prstGeom>
          <a:solidFill>
            <a:srgbClr val="692179"/>
          </a:solidFill>
          <a:ln w="12700">
            <a:solidFill>
              <a:srgbClr val="692179"/>
            </a:solidFill>
            <a:prstDash val="solid"/>
          </a:ln>
        </p:spPr>
      </p:sp>
      <p:sp>
        <p:nvSpPr>
          <p:cNvPr id="7" name="Text 4"/>
          <p:cNvSpPr txBox="1"/>
          <p:nvPr/>
        </p:nvSpPr>
        <p:spPr>
          <a:xfrm>
            <a:off x="2897734" y="3371393"/>
            <a:ext cx="13375843" cy="530352"/>
          </a:xfrm>
          <a:prstGeom prst="rect">
            <a:avLst/>
          </a:prstGeom>
          <a:noFill/>
          <a:ln/>
        </p:spPr>
        <p:txBody>
          <a:bodyPr wrap="square" lIns="0" tIns="0" rIns="0" bIns="0" rtlCol="0" anchor="ctr"/>
          <a:lstStyle/>
          <a:p>
            <a:pPr indent="0" marL="0">
              <a:buNone/>
            </a:pPr>
            <a:r>
              <a:rPr lang="en-US" sz="2210" b="1" dirty="0">
                <a:solidFill>
                  <a:srgbClr val="241028"/>
                </a:solidFill>
                <a:latin typeface="Courier New" pitchFamily="34" charset="0"/>
                <a:ea typeface="Courier New" pitchFamily="34" charset="-122"/>
                <a:cs typeface="Courier New" pitchFamily="34" charset="-120"/>
              </a:rPr>
              <a:t>microsoft/fabric</a:t>
            </a:r>
            <a:endParaRPr lang="en-US" sz="2210" dirty="0"/>
          </a:p>
        </p:txBody>
      </p:sp>
      <p:sp>
        <p:nvSpPr>
          <p:cNvPr id="8" name="Text 5"/>
          <p:cNvSpPr txBox="1"/>
          <p:nvPr/>
        </p:nvSpPr>
        <p:spPr>
          <a:xfrm>
            <a:off x="2897734" y="3900830"/>
            <a:ext cx="13375843" cy="530352"/>
          </a:xfrm>
          <a:prstGeom prst="rect">
            <a:avLst/>
          </a:prstGeom>
          <a:noFill/>
          <a:ln/>
        </p:spPr>
        <p:txBody>
          <a:bodyPr wrap="square" lIns="0" tIns="0" rIns="0" bIns="0" rtlCol="0" anchor="ctr"/>
          <a:lstStyle/>
          <a:p>
            <a:pPr indent="0" marL="0">
              <a:buNone/>
            </a:pPr>
            <a:r>
              <a:rPr lang="en-US" sz="1930" dirty="0">
                <a:solidFill>
                  <a:srgbClr val="6E5C73"/>
                </a:solidFill>
                <a:latin typeface="Calibri" pitchFamily="34" charset="0"/>
                <a:ea typeface="Calibri" pitchFamily="34" charset="-122"/>
                <a:cs typeface="Calibri" pitchFamily="34" charset="-120"/>
              </a:rPr>
              <a:t>Workspaces, roles, lakehouses, warehouses, notebooks, pipelines, dominios, integración con git.</a:t>
            </a:r>
            <a:endParaRPr lang="en-US" sz="1930" dirty="0"/>
          </a:p>
        </p:txBody>
      </p:sp>
      <p:sp>
        <p:nvSpPr>
          <p:cNvPr id="9" name="Shape 6"/>
          <p:cNvSpPr/>
          <p:nvPr/>
        </p:nvSpPr>
        <p:spPr>
          <a:xfrm>
            <a:off x="1572768" y="4759452"/>
            <a:ext cx="15142464" cy="1413662"/>
          </a:xfrm>
          <a:prstGeom prst="roundRect">
            <a:avLst>
              <a:gd name="adj" fmla="val 8926"/>
            </a:avLst>
          </a:prstGeom>
          <a:solidFill>
            <a:srgbClr val="F5ECF7"/>
          </a:solidFill>
          <a:ln w="12700">
            <a:solidFill>
              <a:srgbClr val="F5ECF7"/>
            </a:solidFill>
            <a:prstDash val="solid"/>
          </a:ln>
        </p:spPr>
      </p:sp>
      <p:sp>
        <p:nvSpPr>
          <p:cNvPr id="10" name="Shape 7"/>
          <p:cNvSpPr/>
          <p:nvPr/>
        </p:nvSpPr>
        <p:spPr>
          <a:xfrm>
            <a:off x="1888236" y="5087722"/>
            <a:ext cx="757123" cy="757123"/>
          </a:xfrm>
          <a:prstGeom prst="roundRect">
            <a:avLst>
              <a:gd name="adj" fmla="val 13285"/>
            </a:avLst>
          </a:prstGeom>
          <a:solidFill>
            <a:srgbClr val="2BB5A0"/>
          </a:solidFill>
          <a:ln w="12700">
            <a:solidFill>
              <a:srgbClr val="2BB5A0"/>
            </a:solidFill>
            <a:prstDash val="solid"/>
          </a:ln>
        </p:spPr>
      </p:sp>
      <p:sp>
        <p:nvSpPr>
          <p:cNvPr id="11" name="Text 8"/>
          <p:cNvSpPr txBox="1"/>
          <p:nvPr/>
        </p:nvSpPr>
        <p:spPr>
          <a:xfrm>
            <a:off x="2897734" y="4986223"/>
            <a:ext cx="13375843" cy="530352"/>
          </a:xfrm>
          <a:prstGeom prst="rect">
            <a:avLst/>
          </a:prstGeom>
          <a:noFill/>
          <a:ln/>
        </p:spPr>
        <p:txBody>
          <a:bodyPr wrap="square" lIns="0" tIns="0" rIns="0" bIns="0" rtlCol="0" anchor="ctr"/>
          <a:lstStyle/>
          <a:p>
            <a:pPr indent="0" marL="0">
              <a:buNone/>
            </a:pPr>
            <a:r>
              <a:rPr lang="en-US" sz="2210" b="1" dirty="0">
                <a:solidFill>
                  <a:srgbClr val="241028"/>
                </a:solidFill>
                <a:latin typeface="Courier New" pitchFamily="34" charset="0"/>
                <a:ea typeface="Courier New" pitchFamily="34" charset="-122"/>
                <a:cs typeface="Courier New" pitchFamily="34" charset="-120"/>
              </a:rPr>
              <a:t>hashicorp/azuread</a:t>
            </a:r>
            <a:endParaRPr lang="en-US" sz="2210" dirty="0"/>
          </a:p>
        </p:txBody>
      </p:sp>
      <p:sp>
        <p:nvSpPr>
          <p:cNvPr id="12" name="Text 9"/>
          <p:cNvSpPr txBox="1"/>
          <p:nvPr/>
        </p:nvSpPr>
        <p:spPr>
          <a:xfrm>
            <a:off x="2897734" y="5516575"/>
            <a:ext cx="13375843" cy="530352"/>
          </a:xfrm>
          <a:prstGeom prst="rect">
            <a:avLst/>
          </a:prstGeom>
          <a:noFill/>
          <a:ln/>
        </p:spPr>
        <p:txBody>
          <a:bodyPr wrap="square" lIns="0" tIns="0" rIns="0" bIns="0" rtlCol="0" anchor="ctr"/>
          <a:lstStyle/>
          <a:p>
            <a:pPr indent="0" marL="0">
              <a:buNone/>
            </a:pPr>
            <a:r>
              <a:rPr lang="en-US" sz="1930" dirty="0">
                <a:solidFill>
                  <a:srgbClr val="6E5C73"/>
                </a:solidFill>
                <a:latin typeface="Calibri" pitchFamily="34" charset="0"/>
                <a:ea typeface="Calibri" pitchFamily="34" charset="-122"/>
                <a:cs typeface="Calibri" pitchFamily="34" charset="-120"/>
              </a:rPr>
              <a:t>Los security groups de Entra ID y el service principal con el que Terraform se autentica.</a:t>
            </a:r>
            <a:endParaRPr lang="en-US" sz="1930" dirty="0"/>
          </a:p>
        </p:txBody>
      </p:sp>
      <p:sp>
        <p:nvSpPr>
          <p:cNvPr id="13" name="Shape 10"/>
          <p:cNvSpPr/>
          <p:nvPr/>
        </p:nvSpPr>
        <p:spPr>
          <a:xfrm>
            <a:off x="1572768" y="6374282"/>
            <a:ext cx="15142464" cy="1413662"/>
          </a:xfrm>
          <a:prstGeom prst="roundRect">
            <a:avLst>
              <a:gd name="adj" fmla="val 8926"/>
            </a:avLst>
          </a:prstGeom>
          <a:solidFill>
            <a:srgbClr val="F5ECF7"/>
          </a:solidFill>
          <a:ln w="12700">
            <a:solidFill>
              <a:srgbClr val="F5ECF7"/>
            </a:solidFill>
            <a:prstDash val="solid"/>
          </a:ln>
        </p:spPr>
      </p:sp>
      <p:sp>
        <p:nvSpPr>
          <p:cNvPr id="14" name="Shape 11"/>
          <p:cNvSpPr/>
          <p:nvPr/>
        </p:nvSpPr>
        <p:spPr>
          <a:xfrm>
            <a:off x="1888236" y="6702552"/>
            <a:ext cx="757123" cy="757123"/>
          </a:xfrm>
          <a:prstGeom prst="roundRect">
            <a:avLst>
              <a:gd name="adj" fmla="val 13285"/>
            </a:avLst>
          </a:prstGeom>
          <a:solidFill>
            <a:srgbClr val="F59120"/>
          </a:solidFill>
          <a:ln w="12700">
            <a:solidFill>
              <a:srgbClr val="F59120"/>
            </a:solidFill>
            <a:prstDash val="solid"/>
          </a:ln>
        </p:spPr>
      </p:sp>
      <p:sp>
        <p:nvSpPr>
          <p:cNvPr id="15" name="Text 12"/>
          <p:cNvSpPr txBox="1"/>
          <p:nvPr/>
        </p:nvSpPr>
        <p:spPr>
          <a:xfrm>
            <a:off x="2897734" y="6601968"/>
            <a:ext cx="13375843" cy="530352"/>
          </a:xfrm>
          <a:prstGeom prst="rect">
            <a:avLst/>
          </a:prstGeom>
          <a:noFill/>
          <a:ln/>
        </p:spPr>
        <p:txBody>
          <a:bodyPr wrap="square" lIns="0" tIns="0" rIns="0" bIns="0" rtlCol="0" anchor="ctr"/>
          <a:lstStyle/>
          <a:p>
            <a:pPr indent="0" marL="0">
              <a:buNone/>
            </a:pPr>
            <a:r>
              <a:rPr lang="en-US" sz="2210" b="1" dirty="0">
                <a:solidFill>
                  <a:srgbClr val="241028"/>
                </a:solidFill>
                <a:latin typeface="Courier New" pitchFamily="34" charset="0"/>
                <a:ea typeface="Courier New" pitchFamily="34" charset="-122"/>
                <a:cs typeface="Courier New" pitchFamily="34" charset="-120"/>
              </a:rPr>
              <a:t>hashicorp/azurerm</a:t>
            </a:r>
            <a:endParaRPr lang="en-US" sz="2210" dirty="0"/>
          </a:p>
        </p:txBody>
      </p:sp>
      <p:sp>
        <p:nvSpPr>
          <p:cNvPr id="16" name="Text 13"/>
          <p:cNvSpPr txBox="1"/>
          <p:nvPr/>
        </p:nvSpPr>
        <p:spPr>
          <a:xfrm>
            <a:off x="2897734" y="7131406"/>
            <a:ext cx="13375843" cy="530352"/>
          </a:xfrm>
          <a:prstGeom prst="rect">
            <a:avLst/>
          </a:prstGeom>
          <a:noFill/>
          <a:ln/>
        </p:spPr>
        <p:txBody>
          <a:bodyPr wrap="square" lIns="0" tIns="0" rIns="0" bIns="0" rtlCol="0" anchor="ctr"/>
          <a:lstStyle/>
          <a:p>
            <a:pPr indent="0" marL="0">
              <a:buNone/>
            </a:pPr>
            <a:r>
              <a:rPr lang="en-US" sz="1930" dirty="0">
                <a:solidFill>
                  <a:srgbClr val="6E5C73"/>
                </a:solidFill>
                <a:latin typeface="Calibri" pitchFamily="34" charset="0"/>
                <a:ea typeface="Calibri" pitchFamily="34" charset="-122"/>
                <a:cs typeface="Calibri" pitchFamily="34" charset="-120"/>
              </a:rPr>
              <a:t>La capacity de Fabric (F-SKU) y la storage account donde vive el estado.</a:t>
            </a:r>
            <a:endParaRPr lang="en-US" sz="1930" dirty="0"/>
          </a:p>
        </p:txBody>
      </p:sp>
      <p:sp>
        <p:nvSpPr>
          <p:cNvPr id="17" name="Shape 14"/>
          <p:cNvSpPr/>
          <p:nvPr/>
        </p:nvSpPr>
        <p:spPr>
          <a:xfrm>
            <a:off x="1572768" y="8128102"/>
            <a:ext cx="15142464" cy="1198778"/>
          </a:xfrm>
          <a:prstGeom prst="roundRect">
            <a:avLst>
              <a:gd name="adj" fmla="val 10526"/>
            </a:avLst>
          </a:prstGeom>
          <a:solidFill>
            <a:srgbClr val="2A0E33"/>
          </a:solidFill>
          <a:ln w="12700">
            <a:solidFill>
              <a:srgbClr val="2A0E33"/>
            </a:solidFill>
            <a:prstDash val="solid"/>
          </a:ln>
        </p:spPr>
      </p:sp>
      <p:sp>
        <p:nvSpPr>
          <p:cNvPr id="18" name="Text 15"/>
          <p:cNvSpPr txBox="1"/>
          <p:nvPr/>
        </p:nvSpPr>
        <p:spPr>
          <a:xfrm>
            <a:off x="2077517" y="8128102"/>
            <a:ext cx="14132966" cy="1198778"/>
          </a:xfrm>
          <a:prstGeom prst="rect">
            <a:avLst/>
          </a:prstGeom>
          <a:noFill/>
          <a:ln/>
        </p:spPr>
        <p:txBody>
          <a:bodyPr wrap="square" lIns="0" tIns="0" rIns="0" bIns="0" rtlCol="0" anchor="ctr"/>
          <a:lstStyle/>
          <a:p>
            <a:pPr indent="0" marL="0">
              <a:buNone/>
            </a:pPr>
            <a:r>
              <a:rPr lang="en-US" sz="2140" dirty="0">
                <a:solidFill>
                  <a:srgbClr val="FFFFFF"/>
                </a:solidFill>
                <a:latin typeface="Calibri" pitchFamily="34" charset="0"/>
                <a:ea typeface="Calibri" pitchFamily="34" charset="-122"/>
                <a:cs typeface="Calibri" pitchFamily="34" charset="-120"/>
              </a:rPr>
              <a:t>Se combinan en el mismo proyecto. Creas el grupo en Entra ID y se lo asignas al workspace en las mismas 20 líneas.</a:t>
            </a:r>
            <a:endParaRPr lang="en-US" sz="214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pic>
        <p:nvPicPr>
          <p:cNvPr id="2" name="Image 0" descr="/home/claude/bg-dark.jpg">    </p:cNvPr>
          <p:cNvPicPr>
            <a:picLocks noChangeAspect="1"/>
          </p:cNvPicPr>
          <p:nvPr/>
        </p:nvPicPr>
        <p:blipFill>
          <a:blip r:embed="rId1"/>
          <a:stretch>
            <a:fillRect/>
          </a:stretch>
        </p:blipFill>
        <p:spPr>
          <a:xfrm>
            <a:off x="0" y="0"/>
            <a:ext cx="18288000" cy="10287000"/>
          </a:xfrm>
          <a:prstGeom prst="rect">
            <a:avLst/>
          </a:prstGeom>
        </p:spPr>
      </p:pic>
      <p:sp>
        <p:nvSpPr>
          <p:cNvPr id="3" name="Text 0"/>
          <p:cNvSpPr txBox="1"/>
          <p:nvPr/>
        </p:nvSpPr>
        <p:spPr>
          <a:xfrm>
            <a:off x="1572768" y="1024128"/>
            <a:ext cx="15142464" cy="404165"/>
          </a:xfrm>
          <a:prstGeom prst="rect">
            <a:avLst/>
          </a:prstGeom>
          <a:noFill/>
          <a:ln/>
        </p:spPr>
        <p:txBody>
          <a:bodyPr wrap="square" lIns="0" tIns="0" rIns="0" bIns="0" rtlCol="0" anchor="ctr"/>
          <a:lstStyle/>
          <a:p>
            <a:pPr indent="0" marL="0">
              <a:buNone/>
            </a:pPr>
            <a:r>
              <a:rPr lang="en-US" sz="1660" b="1" spc="345" kern="0" dirty="0">
                <a:solidFill>
                  <a:srgbClr val="F59120"/>
                </a:solidFill>
                <a:latin typeface="Calibri" pitchFamily="34" charset="0"/>
                <a:ea typeface="Calibri" pitchFamily="34" charset="-122"/>
                <a:cs typeface="Calibri" pitchFamily="34" charset="-120"/>
              </a:rPr>
              <a:t>BLOQUE 2 · TERRAFORM</a:t>
            </a:r>
            <a:endParaRPr lang="en-US" sz="1660" dirty="0"/>
          </a:p>
        </p:txBody>
      </p:sp>
      <p:sp>
        <p:nvSpPr>
          <p:cNvPr id="4" name="Text 1"/>
          <p:cNvSpPr txBox="1"/>
          <p:nvPr/>
        </p:nvSpPr>
        <p:spPr>
          <a:xfrm>
            <a:off x="1572768" y="1440180"/>
            <a:ext cx="15142464" cy="1072591"/>
          </a:xfrm>
          <a:prstGeom prst="rect">
            <a:avLst/>
          </a:prstGeom>
          <a:noFill/>
          <a:ln/>
        </p:spPr>
        <p:txBody>
          <a:bodyPr wrap="square" lIns="0" tIns="0" rIns="0" bIns="0" rtlCol="0" anchor="ctr"/>
          <a:lstStyle/>
          <a:p>
            <a:pPr algn="l" indent="0" marL="0">
              <a:buNone/>
            </a:pPr>
            <a:r>
              <a:rPr lang="en-US" sz="4690" b="1" dirty="0">
                <a:solidFill>
                  <a:srgbClr val="FFFFFF"/>
                </a:solidFill>
                <a:latin typeface="Arial" pitchFamily="34" charset="0"/>
                <a:ea typeface="Arial" pitchFamily="34" charset="-122"/>
                <a:cs typeface="Arial" pitchFamily="34" charset="-120"/>
              </a:rPr>
              <a:t>Anatomía de un recurso</a:t>
            </a:r>
            <a:endParaRPr lang="en-US" sz="4690" dirty="0"/>
          </a:p>
        </p:txBody>
      </p:sp>
      <p:sp>
        <p:nvSpPr>
          <p:cNvPr id="5" name="Shape 2"/>
          <p:cNvSpPr/>
          <p:nvPr/>
        </p:nvSpPr>
        <p:spPr>
          <a:xfrm>
            <a:off x="1572768" y="3080614"/>
            <a:ext cx="9464040" cy="2649931"/>
          </a:xfrm>
          <a:prstGeom prst="roundRect">
            <a:avLst>
              <a:gd name="adj" fmla="val 3796"/>
            </a:avLst>
          </a:prstGeom>
          <a:solidFill>
            <a:srgbClr val="210A2E"/>
          </a:solidFill>
          <a:ln w="12700">
            <a:solidFill>
              <a:srgbClr val="210A2E"/>
            </a:solidFill>
            <a:prstDash val="solid"/>
          </a:ln>
        </p:spPr>
      </p:sp>
      <p:sp>
        <p:nvSpPr>
          <p:cNvPr id="6" name="Text 3"/>
          <p:cNvSpPr txBox="1"/>
          <p:nvPr/>
        </p:nvSpPr>
        <p:spPr>
          <a:xfrm>
            <a:off x="1850746" y="3282696"/>
            <a:ext cx="8908999" cy="2245766"/>
          </a:xfrm>
          <a:prstGeom prst="rect">
            <a:avLst/>
          </a:prstGeom>
          <a:noFill/>
          <a:ln/>
        </p:spPr>
        <p:txBody>
          <a:bodyPr wrap="square" lIns="0" tIns="0" rIns="0" bIns="0" rtlCol="0" anchor="t"/>
          <a:lstStyle/>
          <a:p>
            <a:pPr algn="l" indent="0" marL="0">
              <a:lnSpc>
                <a:spcPct val="130000"/>
              </a:lnSpc>
              <a:buNone/>
            </a:pPr>
            <a:r>
              <a:rPr lang="en-US" sz="2070" b="1" dirty="0">
                <a:solidFill>
                  <a:srgbClr val="DFA0EC"/>
                </a:solidFill>
                <a:latin typeface="Courier New" pitchFamily="34" charset="0"/>
                <a:ea typeface="Courier New" pitchFamily="34" charset="-122"/>
                <a:cs typeface="Courier New" pitchFamily="34" charset="-120"/>
              </a:rPr>
              <a:t>resource</a:t>
            </a:r>
            <a:pPr algn="l" indent="0" marL="0">
              <a:lnSpc>
                <a:spcPct val="130000"/>
              </a:lnSpc>
              <a:buNone/>
            </a:pPr>
            <a:r>
              <a:rPr lang="en-US" sz="2070" dirty="0">
                <a:solidFill>
                  <a:srgbClr val="C77BD6"/>
                </a:solidFill>
                <a:latin typeface="Courier New" pitchFamily="34" charset="0"/>
                <a:ea typeface="Courier New" pitchFamily="34" charset="-122"/>
                <a:cs typeface="Courier New" pitchFamily="34" charset="-120"/>
              </a:rPr>
              <a:t> </a:t>
            </a:r>
            <a:pPr algn="l" indent="0" marL="0">
              <a:lnSpc>
                <a:spcPct val="130000"/>
              </a:lnSpc>
              <a:buNone/>
            </a:pPr>
            <a:r>
              <a:rPr lang="en-US" sz="2070" dirty="0">
                <a:solidFill>
                  <a:srgbClr val="8FD9B6"/>
                </a:solidFill>
                <a:latin typeface="Courier New" pitchFamily="34" charset="0"/>
                <a:ea typeface="Courier New" pitchFamily="34" charset="-122"/>
                <a:cs typeface="Courier New" pitchFamily="34" charset="-120"/>
              </a:rPr>
              <a:t>"fabric_workspace"</a:t>
            </a:r>
            <a:pPr algn="l" indent="0" marL="0">
              <a:lnSpc>
                <a:spcPct val="130000"/>
              </a:lnSpc>
              <a:buNone/>
            </a:pPr>
            <a:r>
              <a:rPr lang="en-US" sz="2070" dirty="0">
                <a:solidFill>
                  <a:srgbClr val="C77BD6"/>
                </a:solidFill>
                <a:latin typeface="Courier New" pitchFamily="34" charset="0"/>
                <a:ea typeface="Courier New" pitchFamily="34" charset="-122"/>
                <a:cs typeface="Courier New" pitchFamily="34" charset="-120"/>
              </a:rPr>
              <a:t> </a:t>
            </a:r>
            <a:pPr algn="l" indent="0" marL="0">
              <a:lnSpc>
                <a:spcPct val="130000"/>
              </a:lnSpc>
              <a:buNone/>
            </a:pPr>
            <a:r>
              <a:rPr lang="en-US" sz="2070" dirty="0">
                <a:solidFill>
                  <a:srgbClr val="8FD9B6"/>
                </a:solidFill>
                <a:latin typeface="Courier New" pitchFamily="34" charset="0"/>
                <a:ea typeface="Courier New" pitchFamily="34" charset="-122"/>
                <a:cs typeface="Courier New" pitchFamily="34" charset="-120"/>
              </a:rPr>
              <a:t>"bronze_dev"</a:t>
            </a:r>
            <a:pPr algn="l" indent="0" marL="0">
              <a:lnSpc>
                <a:spcPct val="130000"/>
              </a:lnSpc>
              <a:buNone/>
            </a:pPr>
            <a:r>
              <a:rPr lang="en-US" sz="2070" dirty="0">
                <a:solidFill>
                  <a:srgbClr val="C77BD6"/>
                </a:solidFill>
                <a:latin typeface="Courier New" pitchFamily="34" charset="0"/>
                <a:ea typeface="Courier New" pitchFamily="34" charset="-122"/>
                <a:cs typeface="Courier New" pitchFamily="34" charset="-120"/>
              </a:rPr>
              <a:t> </a:t>
            </a:r>
            <a:pPr algn="l" indent="0" marL="0">
              <a:lnSpc>
                <a:spcPct val="130000"/>
              </a:lnSpc>
              <a:buNone/>
            </a:pPr>
            <a:r>
              <a:rPr lang="en-US" sz="2070" dirty="0">
                <a:solidFill>
                  <a:srgbClr val="C77BD6"/>
                </a:solidFill>
                <a:latin typeface="Courier New" pitchFamily="34" charset="0"/>
                <a:ea typeface="Courier New" pitchFamily="34" charset="-122"/>
                <a:cs typeface="Courier New" pitchFamily="34" charset="-120"/>
              </a:rPr>
              <a:t>{</a:t>
            </a:r>
            <a:endParaRPr lang="en-US" sz="2070" dirty="0"/>
          </a:p>
          <a:p>
            <a:pPr algn="l" indent="0" marL="0">
              <a:lnSpc>
                <a:spcPct val="130000"/>
              </a:lnSpc>
              <a:buNone/>
            </a:pPr>
            <a:r>
              <a:rPr lang="en-US" sz="2070" dirty="0">
                <a:solidFill>
                  <a:srgbClr val="C77BD6"/>
                </a:solidFill>
                <a:latin typeface="Courier New" pitchFamily="34" charset="0"/>
                <a:ea typeface="Courier New" pitchFamily="34" charset="-122"/>
                <a:cs typeface="Courier New" pitchFamily="34" charset="-120"/>
              </a:rPr>
              <a:t>  </a:t>
            </a:r>
            <a:pPr algn="l" indent="0" marL="0">
              <a:lnSpc>
                <a:spcPct val="130000"/>
              </a:lnSpc>
              <a:buNone/>
            </a:pPr>
            <a:r>
              <a:rPr lang="en-US" sz="2070" dirty="0">
                <a:solidFill>
                  <a:srgbClr val="EFE6F2"/>
                </a:solidFill>
                <a:latin typeface="Courier New" pitchFamily="34" charset="0"/>
                <a:ea typeface="Courier New" pitchFamily="34" charset="-122"/>
                <a:cs typeface="Courier New" pitchFamily="34" charset="-120"/>
              </a:rPr>
              <a:t>display_name</a:t>
            </a:r>
            <a:pPr algn="l" indent="0" marL="0">
              <a:lnSpc>
                <a:spcPct val="130000"/>
              </a:lnSpc>
              <a:buNone/>
            </a:pPr>
            <a:r>
              <a:rPr lang="en-US" sz="2070" dirty="0">
                <a:solidFill>
                  <a:srgbClr val="C77BD6"/>
                </a:solidFill>
                <a:latin typeface="Courier New" pitchFamily="34" charset="0"/>
                <a:ea typeface="Courier New" pitchFamily="34" charset="-122"/>
                <a:cs typeface="Courier New" pitchFamily="34" charset="-120"/>
              </a:rPr>
              <a:t> </a:t>
            </a:r>
            <a:pPr algn="l" indent="0" marL="0">
              <a:lnSpc>
                <a:spcPct val="130000"/>
              </a:lnSpc>
              <a:buNone/>
            </a:pPr>
            <a:r>
              <a:rPr lang="en-US" sz="2070" dirty="0">
                <a:solidFill>
                  <a:srgbClr val="C77BD6"/>
                </a:solidFill>
                <a:latin typeface="Courier New" pitchFamily="34" charset="0"/>
                <a:ea typeface="Courier New" pitchFamily="34" charset="-122"/>
                <a:cs typeface="Courier New" pitchFamily="34" charset="-120"/>
              </a:rPr>
              <a:t>=</a:t>
            </a:r>
            <a:pPr algn="l" indent="0" marL="0">
              <a:lnSpc>
                <a:spcPct val="130000"/>
              </a:lnSpc>
              <a:buNone/>
            </a:pPr>
            <a:r>
              <a:rPr lang="en-US" sz="2070" dirty="0">
                <a:solidFill>
                  <a:srgbClr val="C77BD6"/>
                </a:solidFill>
                <a:latin typeface="Courier New" pitchFamily="34" charset="0"/>
                <a:ea typeface="Courier New" pitchFamily="34" charset="-122"/>
                <a:cs typeface="Courier New" pitchFamily="34" charset="-120"/>
              </a:rPr>
              <a:t> </a:t>
            </a:r>
            <a:pPr algn="l" indent="0" marL="0">
              <a:lnSpc>
                <a:spcPct val="130000"/>
              </a:lnSpc>
              <a:buNone/>
            </a:pPr>
            <a:r>
              <a:rPr lang="en-US" sz="2070" dirty="0">
                <a:solidFill>
                  <a:srgbClr val="8FD9B6"/>
                </a:solidFill>
                <a:latin typeface="Courier New" pitchFamily="34" charset="0"/>
                <a:ea typeface="Courier New" pitchFamily="34" charset="-122"/>
                <a:cs typeface="Courier New" pitchFamily="34" charset="-120"/>
              </a:rPr>
              <a:t>"Bronze-DEV"</a:t>
            </a:r>
            <a:endParaRPr lang="en-US" sz="2070" dirty="0"/>
          </a:p>
          <a:p>
            <a:pPr algn="l" indent="0" marL="0">
              <a:lnSpc>
                <a:spcPct val="130000"/>
              </a:lnSpc>
              <a:buNone/>
            </a:pPr>
            <a:r>
              <a:rPr lang="en-US" sz="2070" dirty="0">
                <a:solidFill>
                  <a:srgbClr val="C77BD6"/>
                </a:solidFill>
                <a:latin typeface="Courier New" pitchFamily="34" charset="0"/>
                <a:ea typeface="Courier New" pitchFamily="34" charset="-122"/>
                <a:cs typeface="Courier New" pitchFamily="34" charset="-120"/>
              </a:rPr>
              <a:t>  </a:t>
            </a:r>
            <a:pPr algn="l" indent="0" marL="0">
              <a:lnSpc>
                <a:spcPct val="130000"/>
              </a:lnSpc>
              <a:buNone/>
            </a:pPr>
            <a:r>
              <a:rPr lang="en-US" sz="2070" b="1" dirty="0">
                <a:solidFill>
                  <a:srgbClr val="DFA0EC"/>
                </a:solidFill>
                <a:latin typeface="Courier New" pitchFamily="34" charset="0"/>
                <a:ea typeface="Courier New" pitchFamily="34" charset="-122"/>
                <a:cs typeface="Courier New" pitchFamily="34" charset="-120"/>
              </a:rPr>
              <a:t>description</a:t>
            </a:r>
            <a:pPr algn="l" indent="0" marL="0">
              <a:lnSpc>
                <a:spcPct val="130000"/>
              </a:lnSpc>
              <a:buNone/>
            </a:pPr>
            <a:r>
              <a:rPr lang="en-US" sz="2070" dirty="0">
                <a:solidFill>
                  <a:srgbClr val="C77BD6"/>
                </a:solidFill>
                <a:latin typeface="Courier New" pitchFamily="34" charset="0"/>
                <a:ea typeface="Courier New" pitchFamily="34" charset="-122"/>
                <a:cs typeface="Courier New" pitchFamily="34" charset="-120"/>
              </a:rPr>
              <a:t>  </a:t>
            </a:r>
            <a:pPr algn="l" indent="0" marL="0">
              <a:lnSpc>
                <a:spcPct val="130000"/>
              </a:lnSpc>
              <a:buNone/>
            </a:pPr>
            <a:r>
              <a:rPr lang="en-US" sz="2070" dirty="0">
                <a:solidFill>
                  <a:srgbClr val="C77BD6"/>
                </a:solidFill>
                <a:latin typeface="Courier New" pitchFamily="34" charset="0"/>
                <a:ea typeface="Courier New" pitchFamily="34" charset="-122"/>
                <a:cs typeface="Courier New" pitchFamily="34" charset="-120"/>
              </a:rPr>
              <a:t>=</a:t>
            </a:r>
            <a:pPr algn="l" indent="0" marL="0">
              <a:lnSpc>
                <a:spcPct val="130000"/>
              </a:lnSpc>
              <a:buNone/>
            </a:pPr>
            <a:r>
              <a:rPr lang="en-US" sz="2070" dirty="0">
                <a:solidFill>
                  <a:srgbClr val="C77BD6"/>
                </a:solidFill>
                <a:latin typeface="Courier New" pitchFamily="34" charset="0"/>
                <a:ea typeface="Courier New" pitchFamily="34" charset="-122"/>
                <a:cs typeface="Courier New" pitchFamily="34" charset="-120"/>
              </a:rPr>
              <a:t> </a:t>
            </a:r>
            <a:pPr algn="l" indent="0" marL="0">
              <a:lnSpc>
                <a:spcPct val="130000"/>
              </a:lnSpc>
              <a:buNone/>
            </a:pPr>
            <a:r>
              <a:rPr lang="en-US" sz="2070" dirty="0">
                <a:solidFill>
                  <a:srgbClr val="8FD9B6"/>
                </a:solidFill>
                <a:latin typeface="Courier New" pitchFamily="34" charset="0"/>
                <a:ea typeface="Courier New" pitchFamily="34" charset="-122"/>
                <a:cs typeface="Courier New" pitchFamily="34" charset="-120"/>
              </a:rPr>
              <a:t>"Capa bronze, entorno DEV"</a:t>
            </a:r>
            <a:endParaRPr lang="en-US" sz="2070" dirty="0"/>
          </a:p>
          <a:p>
            <a:pPr algn="l" indent="0" marL="0">
              <a:lnSpc>
                <a:spcPct val="130000"/>
              </a:lnSpc>
              <a:buNone/>
            </a:pPr>
            <a:r>
              <a:rPr lang="en-US" sz="2070" dirty="0">
                <a:solidFill>
                  <a:srgbClr val="C77BD6"/>
                </a:solidFill>
                <a:latin typeface="Courier New" pitchFamily="34" charset="0"/>
                <a:ea typeface="Courier New" pitchFamily="34" charset="-122"/>
                <a:cs typeface="Courier New" pitchFamily="34" charset="-120"/>
              </a:rPr>
              <a:t>  </a:t>
            </a:r>
            <a:pPr algn="l" indent="0" marL="0">
              <a:lnSpc>
                <a:spcPct val="130000"/>
              </a:lnSpc>
              <a:buNone/>
            </a:pPr>
            <a:r>
              <a:rPr lang="en-US" sz="2070" dirty="0">
                <a:solidFill>
                  <a:srgbClr val="EFE6F2"/>
                </a:solidFill>
                <a:latin typeface="Courier New" pitchFamily="34" charset="0"/>
                <a:ea typeface="Courier New" pitchFamily="34" charset="-122"/>
                <a:cs typeface="Courier New" pitchFamily="34" charset="-120"/>
              </a:rPr>
              <a:t>capacity_id</a:t>
            </a:r>
            <a:pPr algn="l" indent="0" marL="0">
              <a:lnSpc>
                <a:spcPct val="130000"/>
              </a:lnSpc>
              <a:buNone/>
            </a:pPr>
            <a:r>
              <a:rPr lang="en-US" sz="2070" dirty="0">
                <a:solidFill>
                  <a:srgbClr val="C77BD6"/>
                </a:solidFill>
                <a:latin typeface="Courier New" pitchFamily="34" charset="0"/>
                <a:ea typeface="Courier New" pitchFamily="34" charset="-122"/>
                <a:cs typeface="Courier New" pitchFamily="34" charset="-120"/>
              </a:rPr>
              <a:t>  </a:t>
            </a:r>
            <a:pPr algn="l" indent="0" marL="0">
              <a:lnSpc>
                <a:spcPct val="130000"/>
              </a:lnSpc>
              <a:buNone/>
            </a:pPr>
            <a:r>
              <a:rPr lang="en-US" sz="2070" dirty="0">
                <a:solidFill>
                  <a:srgbClr val="C77BD6"/>
                </a:solidFill>
                <a:latin typeface="Courier New" pitchFamily="34" charset="0"/>
                <a:ea typeface="Courier New" pitchFamily="34" charset="-122"/>
                <a:cs typeface="Courier New" pitchFamily="34" charset="-120"/>
              </a:rPr>
              <a:t>=</a:t>
            </a:r>
            <a:pPr algn="l" indent="0" marL="0">
              <a:lnSpc>
                <a:spcPct val="130000"/>
              </a:lnSpc>
              <a:buNone/>
            </a:pPr>
            <a:r>
              <a:rPr lang="en-US" sz="2070" dirty="0">
                <a:solidFill>
                  <a:srgbClr val="C77BD6"/>
                </a:solidFill>
                <a:latin typeface="Courier New" pitchFamily="34" charset="0"/>
                <a:ea typeface="Courier New" pitchFamily="34" charset="-122"/>
                <a:cs typeface="Courier New" pitchFamily="34" charset="-120"/>
              </a:rPr>
              <a:t> </a:t>
            </a:r>
            <a:pPr algn="l" indent="0" marL="0">
              <a:lnSpc>
                <a:spcPct val="130000"/>
              </a:lnSpc>
              <a:buNone/>
            </a:pPr>
            <a:r>
              <a:rPr lang="en-US" sz="2070" dirty="0">
                <a:solidFill>
                  <a:srgbClr val="EFE6F2"/>
                </a:solidFill>
                <a:latin typeface="Courier New" pitchFamily="34" charset="0"/>
                <a:ea typeface="Courier New" pitchFamily="34" charset="-122"/>
                <a:cs typeface="Courier New" pitchFamily="34" charset="-120"/>
              </a:rPr>
              <a:t>var</a:t>
            </a:r>
            <a:pPr algn="l" indent="0" marL="0">
              <a:lnSpc>
                <a:spcPct val="130000"/>
              </a:lnSpc>
              <a:buNone/>
            </a:pPr>
            <a:r>
              <a:rPr lang="en-US" sz="2070" dirty="0">
                <a:solidFill>
                  <a:srgbClr val="C77BD6"/>
                </a:solidFill>
                <a:latin typeface="Courier New" pitchFamily="34" charset="0"/>
                <a:ea typeface="Courier New" pitchFamily="34" charset="-122"/>
                <a:cs typeface="Courier New" pitchFamily="34" charset="-120"/>
              </a:rPr>
              <a:t>.</a:t>
            </a:r>
            <a:pPr algn="l" indent="0" marL="0">
              <a:lnSpc>
                <a:spcPct val="130000"/>
              </a:lnSpc>
              <a:buNone/>
            </a:pPr>
            <a:r>
              <a:rPr lang="en-US" sz="2070" dirty="0">
                <a:solidFill>
                  <a:srgbClr val="EFE6F2"/>
                </a:solidFill>
                <a:latin typeface="Courier New" pitchFamily="34" charset="0"/>
                <a:ea typeface="Courier New" pitchFamily="34" charset="-122"/>
                <a:cs typeface="Courier New" pitchFamily="34" charset="-120"/>
              </a:rPr>
              <a:t>capacity_id</a:t>
            </a:r>
            <a:endParaRPr lang="en-US" sz="2070" dirty="0"/>
          </a:p>
          <a:p>
            <a:pPr algn="l" indent="0" marL="0">
              <a:lnSpc>
                <a:spcPct val="130000"/>
              </a:lnSpc>
              <a:buNone/>
            </a:pPr>
            <a:r>
              <a:rPr lang="en-US" sz="2070" dirty="0">
                <a:solidFill>
                  <a:srgbClr val="C77BD6"/>
                </a:solidFill>
                <a:latin typeface="Courier New" pitchFamily="34" charset="0"/>
                <a:ea typeface="Courier New" pitchFamily="34" charset="-122"/>
                <a:cs typeface="Courier New" pitchFamily="34" charset="-120"/>
              </a:rPr>
              <a:t>}</a:t>
            </a:r>
            <a:endParaRPr lang="en-US" sz="2070" dirty="0"/>
          </a:p>
        </p:txBody>
      </p:sp>
      <p:sp>
        <p:nvSpPr>
          <p:cNvPr id="7" name="Text 4"/>
          <p:cNvSpPr txBox="1"/>
          <p:nvPr/>
        </p:nvSpPr>
        <p:spPr>
          <a:xfrm>
            <a:off x="1572768" y="6109106"/>
            <a:ext cx="4164178" cy="694030"/>
          </a:xfrm>
          <a:prstGeom prst="rect">
            <a:avLst/>
          </a:prstGeom>
          <a:noFill/>
          <a:ln/>
        </p:spPr>
        <p:txBody>
          <a:bodyPr wrap="square" lIns="0" tIns="0" rIns="0" bIns="0" rtlCol="0" anchor="ctr"/>
          <a:lstStyle/>
          <a:p>
            <a:pPr indent="0" marL="0">
              <a:buNone/>
            </a:pPr>
            <a:r>
              <a:rPr lang="en-US" sz="1860" b="1" dirty="0">
                <a:solidFill>
                  <a:srgbClr val="DFA0EC"/>
                </a:solidFill>
                <a:latin typeface="Courier New" pitchFamily="34" charset="0"/>
                <a:ea typeface="Courier New" pitchFamily="34" charset="-122"/>
                <a:cs typeface="Courier New" pitchFamily="34" charset="-120"/>
              </a:rPr>
              <a:t>resource</a:t>
            </a:r>
            <a:endParaRPr lang="en-US" sz="1860" dirty="0"/>
          </a:p>
        </p:txBody>
      </p:sp>
      <p:sp>
        <p:nvSpPr>
          <p:cNvPr id="8" name="Text 5"/>
          <p:cNvSpPr txBox="1"/>
          <p:nvPr/>
        </p:nvSpPr>
        <p:spPr>
          <a:xfrm>
            <a:off x="5863133" y="6109106"/>
            <a:ext cx="10725912" cy="694030"/>
          </a:xfrm>
          <a:prstGeom prst="rect">
            <a:avLst/>
          </a:prstGeom>
          <a:noFill/>
          <a:ln/>
        </p:spPr>
        <p:txBody>
          <a:bodyPr wrap="square" lIns="0" tIns="0" rIns="0" bIns="0" rtlCol="0" anchor="ctr"/>
          <a:lstStyle/>
          <a:p>
            <a:pPr indent="0" marL="0">
              <a:buNone/>
            </a:pPr>
            <a:r>
              <a:rPr lang="en-US" sz="1930" dirty="0">
                <a:solidFill>
                  <a:srgbClr val="FFFFFF"/>
                </a:solidFill>
                <a:latin typeface="Calibri" pitchFamily="34" charset="0"/>
                <a:ea typeface="Calibri" pitchFamily="34" charset="-122"/>
                <a:cs typeface="Calibri" pitchFamily="34" charset="-120"/>
              </a:rPr>
              <a:t>El tipo de bloque. "Quiero que esto exista."</a:t>
            </a:r>
            <a:endParaRPr lang="en-US" sz="1930" dirty="0"/>
          </a:p>
        </p:txBody>
      </p:sp>
      <p:sp>
        <p:nvSpPr>
          <p:cNvPr id="9" name="Text 6"/>
          <p:cNvSpPr txBox="1"/>
          <p:nvPr/>
        </p:nvSpPr>
        <p:spPr>
          <a:xfrm>
            <a:off x="1572768" y="6992417"/>
            <a:ext cx="4164178" cy="694030"/>
          </a:xfrm>
          <a:prstGeom prst="rect">
            <a:avLst/>
          </a:prstGeom>
          <a:noFill/>
          <a:ln/>
        </p:spPr>
        <p:txBody>
          <a:bodyPr wrap="square" lIns="0" tIns="0" rIns="0" bIns="0" rtlCol="0" anchor="ctr"/>
          <a:lstStyle/>
          <a:p>
            <a:pPr indent="0" marL="0">
              <a:buNone/>
            </a:pPr>
            <a:r>
              <a:rPr lang="en-US" sz="1860" b="1" dirty="0">
                <a:solidFill>
                  <a:srgbClr val="8FD9B6"/>
                </a:solidFill>
                <a:latin typeface="Courier New" pitchFamily="34" charset="0"/>
                <a:ea typeface="Courier New" pitchFamily="34" charset="-122"/>
                <a:cs typeface="Courier New" pitchFamily="34" charset="-120"/>
              </a:rPr>
              <a:t>"fabric_workspace"</a:t>
            </a:r>
            <a:endParaRPr lang="en-US" sz="1860" dirty="0"/>
          </a:p>
        </p:txBody>
      </p:sp>
      <p:sp>
        <p:nvSpPr>
          <p:cNvPr id="10" name="Text 7"/>
          <p:cNvSpPr txBox="1"/>
          <p:nvPr/>
        </p:nvSpPr>
        <p:spPr>
          <a:xfrm>
            <a:off x="5863133" y="6992417"/>
            <a:ext cx="10725912" cy="694030"/>
          </a:xfrm>
          <a:prstGeom prst="rect">
            <a:avLst/>
          </a:prstGeom>
          <a:noFill/>
          <a:ln/>
        </p:spPr>
        <p:txBody>
          <a:bodyPr wrap="square" lIns="0" tIns="0" rIns="0" bIns="0" rtlCol="0" anchor="ctr"/>
          <a:lstStyle/>
          <a:p>
            <a:pPr indent="0" marL="0">
              <a:buNone/>
            </a:pPr>
            <a:r>
              <a:rPr lang="en-US" sz="1930" dirty="0">
                <a:solidFill>
                  <a:srgbClr val="FFFFFF"/>
                </a:solidFill>
                <a:latin typeface="Calibri" pitchFamily="34" charset="0"/>
                <a:ea typeface="Calibri" pitchFamily="34" charset="-122"/>
                <a:cs typeface="Calibri" pitchFamily="34" charset="-120"/>
              </a:rPr>
              <a:t>Qué tipo de cosa. Lo define el provider.</a:t>
            </a:r>
            <a:endParaRPr lang="en-US" sz="1930" dirty="0"/>
          </a:p>
        </p:txBody>
      </p:sp>
      <p:sp>
        <p:nvSpPr>
          <p:cNvPr id="11" name="Text 8"/>
          <p:cNvSpPr txBox="1"/>
          <p:nvPr/>
        </p:nvSpPr>
        <p:spPr>
          <a:xfrm>
            <a:off x="1572768" y="7875727"/>
            <a:ext cx="4164178" cy="694030"/>
          </a:xfrm>
          <a:prstGeom prst="rect">
            <a:avLst/>
          </a:prstGeom>
          <a:noFill/>
          <a:ln/>
        </p:spPr>
        <p:txBody>
          <a:bodyPr wrap="square" lIns="0" tIns="0" rIns="0" bIns="0" rtlCol="0" anchor="ctr"/>
          <a:lstStyle/>
          <a:p>
            <a:pPr indent="0" marL="0">
              <a:buNone/>
            </a:pPr>
            <a:r>
              <a:rPr lang="en-US" sz="1860" b="1" dirty="0">
                <a:solidFill>
                  <a:srgbClr val="8FD9B6"/>
                </a:solidFill>
                <a:latin typeface="Courier New" pitchFamily="34" charset="0"/>
                <a:ea typeface="Courier New" pitchFamily="34" charset="-122"/>
                <a:cs typeface="Courier New" pitchFamily="34" charset="-120"/>
              </a:rPr>
              <a:t>"bronze_dev"</a:t>
            </a:r>
            <a:endParaRPr lang="en-US" sz="1860" dirty="0"/>
          </a:p>
        </p:txBody>
      </p:sp>
      <p:sp>
        <p:nvSpPr>
          <p:cNvPr id="12" name="Text 9"/>
          <p:cNvSpPr txBox="1"/>
          <p:nvPr/>
        </p:nvSpPr>
        <p:spPr>
          <a:xfrm>
            <a:off x="5863133" y="7875727"/>
            <a:ext cx="10725912" cy="694030"/>
          </a:xfrm>
          <a:prstGeom prst="rect">
            <a:avLst/>
          </a:prstGeom>
          <a:noFill/>
          <a:ln/>
        </p:spPr>
        <p:txBody>
          <a:bodyPr wrap="square" lIns="0" tIns="0" rIns="0" bIns="0" rtlCol="0" anchor="ctr"/>
          <a:lstStyle/>
          <a:p>
            <a:pPr indent="0" marL="0">
              <a:buNone/>
            </a:pPr>
            <a:r>
              <a:rPr lang="en-US" sz="1930" dirty="0">
                <a:solidFill>
                  <a:srgbClr val="FFFFFF"/>
                </a:solidFill>
                <a:latin typeface="Calibri" pitchFamily="34" charset="0"/>
                <a:ea typeface="Calibri" pitchFamily="34" charset="-122"/>
                <a:cs typeface="Calibri" pitchFamily="34" charset="-120"/>
              </a:rPr>
              <a:t>El nombre con el que TÚ lo llamas dentro del código.</a:t>
            </a:r>
            <a:endParaRPr lang="en-US" sz="1930" dirty="0"/>
          </a:p>
        </p:txBody>
      </p:sp>
      <p:sp>
        <p:nvSpPr>
          <p:cNvPr id="13" name="Text 10"/>
          <p:cNvSpPr txBox="1"/>
          <p:nvPr/>
        </p:nvSpPr>
        <p:spPr>
          <a:xfrm>
            <a:off x="1572768" y="8759038"/>
            <a:ext cx="4164178" cy="694030"/>
          </a:xfrm>
          <a:prstGeom prst="rect">
            <a:avLst/>
          </a:prstGeom>
          <a:noFill/>
          <a:ln/>
        </p:spPr>
        <p:txBody>
          <a:bodyPr wrap="square" lIns="0" tIns="0" rIns="0" bIns="0" rtlCol="0" anchor="ctr"/>
          <a:lstStyle/>
          <a:p>
            <a:pPr indent="0" marL="0">
              <a:buNone/>
            </a:pPr>
            <a:r>
              <a:rPr lang="en-US" sz="1860" b="1" dirty="0">
                <a:solidFill>
                  <a:srgbClr val="EFE6F2"/>
                </a:solidFill>
                <a:latin typeface="Courier New" pitchFamily="34" charset="0"/>
                <a:ea typeface="Courier New" pitchFamily="34" charset="-122"/>
                <a:cs typeface="Courier New" pitchFamily="34" charset="-120"/>
              </a:rPr>
              <a:t>display_name = ...</a:t>
            </a:r>
            <a:endParaRPr lang="en-US" sz="1860" dirty="0"/>
          </a:p>
        </p:txBody>
      </p:sp>
      <p:sp>
        <p:nvSpPr>
          <p:cNvPr id="14" name="Text 11"/>
          <p:cNvSpPr txBox="1"/>
          <p:nvPr/>
        </p:nvSpPr>
        <p:spPr>
          <a:xfrm>
            <a:off x="5863133" y="8759038"/>
            <a:ext cx="10725912" cy="694030"/>
          </a:xfrm>
          <a:prstGeom prst="rect">
            <a:avLst/>
          </a:prstGeom>
          <a:noFill/>
          <a:ln/>
        </p:spPr>
        <p:txBody>
          <a:bodyPr wrap="square" lIns="0" tIns="0" rIns="0" bIns="0" rtlCol="0" anchor="ctr"/>
          <a:lstStyle/>
          <a:p>
            <a:pPr indent="0" marL="0">
              <a:buNone/>
            </a:pPr>
            <a:r>
              <a:rPr lang="en-US" sz="1930" dirty="0">
                <a:solidFill>
                  <a:srgbClr val="FFFFFF"/>
                </a:solidFill>
                <a:latin typeface="Calibri" pitchFamily="34" charset="0"/>
                <a:ea typeface="Calibri" pitchFamily="34" charset="-122"/>
                <a:cs typeface="Calibri" pitchFamily="34" charset="-120"/>
              </a:rPr>
              <a:t>Los argumentos. El cómo tiene que ser la cosa.</a:t>
            </a:r>
            <a:endParaRPr lang="en-US" sz="1930" dirty="0"/>
          </a:p>
        </p:txBody>
      </p:sp>
      <p:sp>
        <p:nvSpPr>
          <p:cNvPr id="15" name="Shape 12"/>
          <p:cNvSpPr/>
          <p:nvPr/>
        </p:nvSpPr>
        <p:spPr>
          <a:xfrm>
            <a:off x="11415370" y="3080614"/>
            <a:ext cx="5299862" cy="2649931"/>
          </a:xfrm>
          <a:prstGeom prst="roundRect">
            <a:avLst>
              <a:gd name="adj" fmla="val 4762"/>
            </a:avLst>
          </a:prstGeom>
          <a:solidFill>
            <a:srgbClr val="692179"/>
          </a:solidFill>
          <a:ln w="12700">
            <a:solidFill>
              <a:srgbClr val="692179"/>
            </a:solidFill>
            <a:prstDash val="solid"/>
          </a:ln>
        </p:spPr>
      </p:sp>
      <p:sp>
        <p:nvSpPr>
          <p:cNvPr id="16" name="Text 13"/>
          <p:cNvSpPr txBox="1"/>
          <p:nvPr/>
        </p:nvSpPr>
        <p:spPr>
          <a:xfrm>
            <a:off x="11793931" y="3332988"/>
            <a:ext cx="4542739" cy="820217"/>
          </a:xfrm>
          <a:prstGeom prst="rect">
            <a:avLst/>
          </a:prstGeom>
          <a:noFill/>
          <a:ln/>
        </p:spPr>
        <p:txBody>
          <a:bodyPr wrap="square" lIns="0" tIns="0" rIns="0" bIns="0" rtlCol="0" anchor="t"/>
          <a:lstStyle/>
          <a:p>
            <a:pPr indent="0" marL="0">
              <a:buNone/>
            </a:pPr>
            <a:r>
              <a:rPr lang="en-US" sz="1790" dirty="0">
                <a:solidFill>
                  <a:srgbClr val="FFFFFF"/>
                </a:solidFill>
                <a:latin typeface="Calibri" pitchFamily="34" charset="0"/>
                <a:ea typeface="Calibri" pitchFamily="34" charset="-122"/>
                <a:cs typeface="Calibri" pitchFamily="34" charset="-120"/>
              </a:rPr>
              <a:t>Para referenciarlo</a:t>
            </a:r>
            <a:endParaRPr lang="en-US" sz="1790" dirty="0"/>
          </a:p>
          <a:p>
            <a:pPr indent="0" marL="0">
              <a:buNone/>
            </a:pPr>
            <a:r>
              <a:rPr lang="en-US" sz="1790" dirty="0">
                <a:solidFill>
                  <a:srgbClr val="FFFFFF"/>
                </a:solidFill>
                <a:latin typeface="Calibri" pitchFamily="34" charset="0"/>
                <a:ea typeface="Calibri" pitchFamily="34" charset="-122"/>
                <a:cs typeface="Calibri" pitchFamily="34" charset="-120"/>
              </a:rPr>
              <a:t>desde otro sitio:</a:t>
            </a:r>
            <a:endParaRPr lang="en-US" sz="1790" dirty="0"/>
          </a:p>
        </p:txBody>
      </p:sp>
      <p:sp>
        <p:nvSpPr>
          <p:cNvPr id="17" name="Text 14"/>
          <p:cNvSpPr txBox="1"/>
          <p:nvPr/>
        </p:nvSpPr>
        <p:spPr>
          <a:xfrm>
            <a:off x="11793931" y="4279392"/>
            <a:ext cx="4542739" cy="1135685"/>
          </a:xfrm>
          <a:prstGeom prst="rect">
            <a:avLst/>
          </a:prstGeom>
          <a:noFill/>
          <a:ln/>
        </p:spPr>
        <p:txBody>
          <a:bodyPr wrap="square" lIns="0" tIns="0" rIns="0" bIns="0" rtlCol="0" anchor="t"/>
          <a:lstStyle/>
          <a:p>
            <a:pPr indent="0" marL="0">
              <a:lnSpc>
                <a:spcPct val="120000"/>
              </a:lnSpc>
              <a:buNone/>
            </a:pPr>
            <a:r>
              <a:rPr lang="en-US" sz="1790" b="1" dirty="0">
                <a:solidFill>
                  <a:srgbClr val="F59120"/>
                </a:solidFill>
                <a:latin typeface="Courier New" pitchFamily="34" charset="0"/>
                <a:ea typeface="Courier New" pitchFamily="34" charset="-122"/>
                <a:cs typeface="Courier New" pitchFamily="34" charset="-120"/>
              </a:rPr>
              <a:t>fabric_workspace</a:t>
            </a:r>
            <a:endParaRPr lang="en-US" sz="1790" dirty="0"/>
          </a:p>
          <a:p>
            <a:pPr indent="0" marL="0">
              <a:lnSpc>
                <a:spcPct val="120000"/>
              </a:lnSpc>
              <a:buNone/>
            </a:pPr>
            <a:r>
              <a:rPr lang="en-US" sz="1790" b="1" dirty="0">
                <a:solidFill>
                  <a:srgbClr val="F59120"/>
                </a:solidFill>
                <a:latin typeface="Courier New" pitchFamily="34" charset="0"/>
                <a:ea typeface="Courier New" pitchFamily="34" charset="-122"/>
                <a:cs typeface="Courier New" pitchFamily="34" charset="-120"/>
              </a:rPr>
              <a:t>  .bronze_dev.id</a:t>
            </a:r>
            <a:endParaRPr lang="en-US" sz="179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pic>
        <p:nvPicPr>
          <p:cNvPr id="2" name="Image 0" descr="/home/claude/bg-white.jpg">    </p:cNvPr>
          <p:cNvPicPr>
            <a:picLocks noChangeAspect="1"/>
          </p:cNvPicPr>
          <p:nvPr/>
        </p:nvPicPr>
        <p:blipFill>
          <a:blip r:embed="rId1"/>
          <a:stretch>
            <a:fillRect/>
          </a:stretch>
        </p:blipFill>
        <p:spPr>
          <a:xfrm>
            <a:off x="0" y="0"/>
            <a:ext cx="18288000" cy="10287000"/>
          </a:xfrm>
          <a:prstGeom prst="rect">
            <a:avLst/>
          </a:prstGeom>
        </p:spPr>
      </p:pic>
      <p:sp>
        <p:nvSpPr>
          <p:cNvPr id="3" name="Text 0"/>
          <p:cNvSpPr txBox="1"/>
          <p:nvPr/>
        </p:nvSpPr>
        <p:spPr>
          <a:xfrm>
            <a:off x="1572768" y="1024128"/>
            <a:ext cx="15142464" cy="404165"/>
          </a:xfrm>
          <a:prstGeom prst="rect">
            <a:avLst/>
          </a:prstGeom>
          <a:noFill/>
          <a:ln/>
        </p:spPr>
        <p:txBody>
          <a:bodyPr wrap="square" lIns="0" tIns="0" rIns="0" bIns="0" rtlCol="0" anchor="ctr"/>
          <a:lstStyle/>
          <a:p>
            <a:pPr indent="0" marL="0">
              <a:buNone/>
            </a:pPr>
            <a:r>
              <a:rPr lang="en-US" sz="1660" b="1" spc="345" kern="0" dirty="0">
                <a:solidFill>
                  <a:srgbClr val="692179"/>
                </a:solidFill>
                <a:latin typeface="Calibri" pitchFamily="34" charset="0"/>
                <a:ea typeface="Calibri" pitchFamily="34" charset="-122"/>
                <a:cs typeface="Calibri" pitchFamily="34" charset="-120"/>
              </a:rPr>
              <a:t>BLOQUE 2 · TERRAFORM</a:t>
            </a:r>
            <a:endParaRPr lang="en-US" sz="1660" dirty="0"/>
          </a:p>
        </p:txBody>
      </p:sp>
      <p:sp>
        <p:nvSpPr>
          <p:cNvPr id="4" name="Text 1"/>
          <p:cNvSpPr txBox="1"/>
          <p:nvPr/>
        </p:nvSpPr>
        <p:spPr>
          <a:xfrm>
            <a:off x="1572768" y="1440180"/>
            <a:ext cx="15142464" cy="1072591"/>
          </a:xfrm>
          <a:prstGeom prst="rect">
            <a:avLst/>
          </a:prstGeom>
          <a:noFill/>
          <a:ln/>
        </p:spPr>
        <p:txBody>
          <a:bodyPr wrap="square" lIns="0" tIns="0" rIns="0" bIns="0" rtlCol="0" anchor="ctr"/>
          <a:lstStyle/>
          <a:p>
            <a:pPr algn="l" indent="0" marL="0">
              <a:buNone/>
            </a:pPr>
            <a:r>
              <a:rPr lang="en-US" sz="4690" b="1" dirty="0">
                <a:solidFill>
                  <a:srgbClr val="241028"/>
                </a:solidFill>
                <a:latin typeface="Arial" pitchFamily="34" charset="0"/>
                <a:ea typeface="Arial" pitchFamily="34" charset="-122"/>
                <a:cs typeface="Arial" pitchFamily="34" charset="-120"/>
              </a:rPr>
              <a:t>Las seis palabras que componen HCL</a:t>
            </a:r>
            <a:endParaRPr lang="en-US" sz="4690" dirty="0"/>
          </a:p>
        </p:txBody>
      </p:sp>
      <p:sp>
        <p:nvSpPr>
          <p:cNvPr id="5" name="Shape 2"/>
          <p:cNvSpPr/>
          <p:nvPr/>
        </p:nvSpPr>
        <p:spPr>
          <a:xfrm>
            <a:off x="1572768" y="3206801"/>
            <a:ext cx="4845406" cy="2018995"/>
          </a:xfrm>
          <a:prstGeom prst="roundRect">
            <a:avLst>
              <a:gd name="adj" fmla="val 6250"/>
            </a:avLst>
          </a:prstGeom>
          <a:solidFill>
            <a:srgbClr val="FFFFFF"/>
          </a:solidFill>
          <a:ln w="12700">
            <a:solidFill>
              <a:srgbClr val="FFFFFF"/>
            </a:solidFill>
            <a:prstDash val="solid"/>
          </a:ln>
        </p:spPr>
      </p:sp>
      <p:sp>
        <p:nvSpPr>
          <p:cNvPr id="6" name="Text 3"/>
          <p:cNvSpPr txBox="1"/>
          <p:nvPr/>
        </p:nvSpPr>
        <p:spPr>
          <a:xfrm>
            <a:off x="1951330" y="3484778"/>
            <a:ext cx="4088282" cy="567842"/>
          </a:xfrm>
          <a:prstGeom prst="rect">
            <a:avLst/>
          </a:prstGeom>
          <a:noFill/>
          <a:ln/>
        </p:spPr>
        <p:txBody>
          <a:bodyPr wrap="square" lIns="0" tIns="0" rIns="0" bIns="0" rtlCol="0" anchor="ctr"/>
          <a:lstStyle/>
          <a:p>
            <a:pPr indent="0" marL="0">
              <a:buNone/>
            </a:pPr>
            <a:r>
              <a:rPr lang="en-US" sz="2350" b="1" dirty="0">
                <a:solidFill>
                  <a:srgbClr val="692179"/>
                </a:solidFill>
                <a:latin typeface="Courier New" pitchFamily="34" charset="0"/>
                <a:ea typeface="Courier New" pitchFamily="34" charset="-122"/>
                <a:cs typeface="Courier New" pitchFamily="34" charset="-120"/>
              </a:rPr>
              <a:t>resource</a:t>
            </a:r>
            <a:endParaRPr lang="en-US" sz="2350" dirty="0"/>
          </a:p>
        </p:txBody>
      </p:sp>
      <p:sp>
        <p:nvSpPr>
          <p:cNvPr id="7" name="Text 4"/>
          <p:cNvSpPr txBox="1"/>
          <p:nvPr/>
        </p:nvSpPr>
        <p:spPr>
          <a:xfrm>
            <a:off x="1951330" y="4090111"/>
            <a:ext cx="4088282" cy="946404"/>
          </a:xfrm>
          <a:prstGeom prst="rect">
            <a:avLst/>
          </a:prstGeom>
          <a:noFill/>
          <a:ln/>
        </p:spPr>
        <p:txBody>
          <a:bodyPr wrap="square" lIns="0" tIns="0" rIns="0" bIns="0" rtlCol="0" anchor="t"/>
          <a:lstStyle/>
          <a:p>
            <a:pPr indent="0" marL="0">
              <a:lnSpc>
                <a:spcPct val="110000"/>
              </a:lnSpc>
              <a:buNone/>
            </a:pPr>
            <a:r>
              <a:rPr lang="en-US" sz="1790" dirty="0">
                <a:solidFill>
                  <a:srgbClr val="6E5C73"/>
                </a:solidFill>
                <a:latin typeface="Calibri" pitchFamily="34" charset="0"/>
                <a:ea typeface="Calibri" pitchFamily="34" charset="-122"/>
                <a:cs typeface="Calibri" pitchFamily="34" charset="-120"/>
              </a:rPr>
              <a:t>Algo que Terraform crea y gestiona.</a:t>
            </a:r>
            <a:endParaRPr lang="en-US" sz="1790" dirty="0"/>
          </a:p>
        </p:txBody>
      </p:sp>
      <p:sp>
        <p:nvSpPr>
          <p:cNvPr id="8" name="Shape 5"/>
          <p:cNvSpPr/>
          <p:nvPr/>
        </p:nvSpPr>
        <p:spPr>
          <a:xfrm>
            <a:off x="6720840" y="3206801"/>
            <a:ext cx="4845406" cy="2018995"/>
          </a:xfrm>
          <a:prstGeom prst="roundRect">
            <a:avLst>
              <a:gd name="adj" fmla="val 6250"/>
            </a:avLst>
          </a:prstGeom>
          <a:solidFill>
            <a:srgbClr val="FFFFFF"/>
          </a:solidFill>
          <a:ln w="12700">
            <a:solidFill>
              <a:srgbClr val="FFFFFF"/>
            </a:solidFill>
            <a:prstDash val="solid"/>
          </a:ln>
        </p:spPr>
      </p:sp>
      <p:sp>
        <p:nvSpPr>
          <p:cNvPr id="9" name="Text 6"/>
          <p:cNvSpPr txBox="1"/>
          <p:nvPr/>
        </p:nvSpPr>
        <p:spPr>
          <a:xfrm>
            <a:off x="7099402" y="3484778"/>
            <a:ext cx="4088282" cy="567842"/>
          </a:xfrm>
          <a:prstGeom prst="rect">
            <a:avLst/>
          </a:prstGeom>
          <a:noFill/>
          <a:ln/>
        </p:spPr>
        <p:txBody>
          <a:bodyPr wrap="square" lIns="0" tIns="0" rIns="0" bIns="0" rtlCol="0" anchor="ctr"/>
          <a:lstStyle/>
          <a:p>
            <a:pPr indent="0" marL="0">
              <a:buNone/>
            </a:pPr>
            <a:r>
              <a:rPr lang="en-US" sz="2350" b="1" dirty="0">
                <a:solidFill>
                  <a:srgbClr val="692179"/>
                </a:solidFill>
                <a:latin typeface="Courier New" pitchFamily="34" charset="0"/>
                <a:ea typeface="Courier New" pitchFamily="34" charset="-122"/>
                <a:cs typeface="Courier New" pitchFamily="34" charset="-120"/>
              </a:rPr>
              <a:t>variable</a:t>
            </a:r>
            <a:endParaRPr lang="en-US" sz="2350" dirty="0"/>
          </a:p>
        </p:txBody>
      </p:sp>
      <p:sp>
        <p:nvSpPr>
          <p:cNvPr id="10" name="Text 7"/>
          <p:cNvSpPr txBox="1"/>
          <p:nvPr/>
        </p:nvSpPr>
        <p:spPr>
          <a:xfrm>
            <a:off x="7099402" y="4090111"/>
            <a:ext cx="4088282" cy="946404"/>
          </a:xfrm>
          <a:prstGeom prst="rect">
            <a:avLst/>
          </a:prstGeom>
          <a:noFill/>
          <a:ln/>
        </p:spPr>
        <p:txBody>
          <a:bodyPr wrap="square" lIns="0" tIns="0" rIns="0" bIns="0" rtlCol="0" anchor="t"/>
          <a:lstStyle/>
          <a:p>
            <a:pPr indent="0" marL="0">
              <a:lnSpc>
                <a:spcPct val="110000"/>
              </a:lnSpc>
              <a:buNone/>
            </a:pPr>
            <a:r>
              <a:rPr lang="en-US" sz="1790" dirty="0">
                <a:solidFill>
                  <a:srgbClr val="6E5C73"/>
                </a:solidFill>
                <a:latin typeface="Calibri" pitchFamily="34" charset="0"/>
                <a:ea typeface="Calibri" pitchFamily="34" charset="-122"/>
                <a:cs typeface="Calibri" pitchFamily="34" charset="-120"/>
              </a:rPr>
              <a:t>Un parámetro de entrada. El nombre del entorno, la capacity.</a:t>
            </a:r>
            <a:endParaRPr lang="en-US" sz="1790" dirty="0"/>
          </a:p>
        </p:txBody>
      </p:sp>
      <p:sp>
        <p:nvSpPr>
          <p:cNvPr id="11" name="Shape 8"/>
          <p:cNvSpPr/>
          <p:nvPr/>
        </p:nvSpPr>
        <p:spPr>
          <a:xfrm>
            <a:off x="11869826" y="3206801"/>
            <a:ext cx="4845406" cy="2018995"/>
          </a:xfrm>
          <a:prstGeom prst="roundRect">
            <a:avLst>
              <a:gd name="adj" fmla="val 6250"/>
            </a:avLst>
          </a:prstGeom>
          <a:solidFill>
            <a:srgbClr val="FFFFFF"/>
          </a:solidFill>
          <a:ln w="12700">
            <a:solidFill>
              <a:srgbClr val="FFFFFF"/>
            </a:solidFill>
            <a:prstDash val="solid"/>
          </a:ln>
        </p:spPr>
      </p:sp>
      <p:sp>
        <p:nvSpPr>
          <p:cNvPr id="12" name="Text 9"/>
          <p:cNvSpPr txBox="1"/>
          <p:nvPr/>
        </p:nvSpPr>
        <p:spPr>
          <a:xfrm>
            <a:off x="12248388" y="3484778"/>
            <a:ext cx="4088282" cy="567842"/>
          </a:xfrm>
          <a:prstGeom prst="rect">
            <a:avLst/>
          </a:prstGeom>
          <a:noFill/>
          <a:ln/>
        </p:spPr>
        <p:txBody>
          <a:bodyPr wrap="square" lIns="0" tIns="0" rIns="0" bIns="0" rtlCol="0" anchor="ctr"/>
          <a:lstStyle/>
          <a:p>
            <a:pPr indent="0" marL="0">
              <a:buNone/>
            </a:pPr>
            <a:r>
              <a:rPr lang="en-US" sz="2350" b="1" dirty="0">
                <a:solidFill>
                  <a:srgbClr val="692179"/>
                </a:solidFill>
                <a:latin typeface="Courier New" pitchFamily="34" charset="0"/>
                <a:ea typeface="Courier New" pitchFamily="34" charset="-122"/>
                <a:cs typeface="Courier New" pitchFamily="34" charset="-120"/>
              </a:rPr>
              <a:t>output</a:t>
            </a:r>
            <a:endParaRPr lang="en-US" sz="2350" dirty="0"/>
          </a:p>
        </p:txBody>
      </p:sp>
      <p:sp>
        <p:nvSpPr>
          <p:cNvPr id="13" name="Text 10"/>
          <p:cNvSpPr txBox="1"/>
          <p:nvPr/>
        </p:nvSpPr>
        <p:spPr>
          <a:xfrm>
            <a:off x="12248388" y="4090111"/>
            <a:ext cx="4088282" cy="946404"/>
          </a:xfrm>
          <a:prstGeom prst="rect">
            <a:avLst/>
          </a:prstGeom>
          <a:noFill/>
          <a:ln/>
        </p:spPr>
        <p:txBody>
          <a:bodyPr wrap="square" lIns="0" tIns="0" rIns="0" bIns="0" rtlCol="0" anchor="t"/>
          <a:lstStyle/>
          <a:p>
            <a:pPr indent="0" marL="0">
              <a:lnSpc>
                <a:spcPct val="110000"/>
              </a:lnSpc>
              <a:buNone/>
            </a:pPr>
            <a:r>
              <a:rPr lang="en-US" sz="1790" dirty="0">
                <a:solidFill>
                  <a:srgbClr val="6E5C73"/>
                </a:solidFill>
                <a:latin typeface="Calibri" pitchFamily="34" charset="0"/>
                <a:ea typeface="Calibri" pitchFamily="34" charset="-122"/>
                <a:cs typeface="Calibri" pitchFamily="34" charset="-120"/>
              </a:rPr>
              <a:t>Un valor que devuelve. El ID del workspace recién creado.</a:t>
            </a:r>
            <a:endParaRPr lang="en-US" sz="1790" dirty="0"/>
          </a:p>
        </p:txBody>
      </p:sp>
      <p:sp>
        <p:nvSpPr>
          <p:cNvPr id="14" name="Shape 11"/>
          <p:cNvSpPr/>
          <p:nvPr/>
        </p:nvSpPr>
        <p:spPr>
          <a:xfrm>
            <a:off x="1572768" y="5541264"/>
            <a:ext cx="4845406" cy="2018995"/>
          </a:xfrm>
          <a:prstGeom prst="roundRect">
            <a:avLst>
              <a:gd name="adj" fmla="val 6250"/>
            </a:avLst>
          </a:prstGeom>
          <a:solidFill>
            <a:srgbClr val="FFFFFF"/>
          </a:solidFill>
          <a:ln w="12700">
            <a:solidFill>
              <a:srgbClr val="FFFFFF"/>
            </a:solidFill>
            <a:prstDash val="solid"/>
          </a:ln>
        </p:spPr>
      </p:sp>
      <p:sp>
        <p:nvSpPr>
          <p:cNvPr id="15" name="Text 12"/>
          <p:cNvSpPr txBox="1"/>
          <p:nvPr/>
        </p:nvSpPr>
        <p:spPr>
          <a:xfrm>
            <a:off x="1951330" y="5819242"/>
            <a:ext cx="4088282" cy="567842"/>
          </a:xfrm>
          <a:prstGeom prst="rect">
            <a:avLst/>
          </a:prstGeom>
          <a:noFill/>
          <a:ln/>
        </p:spPr>
        <p:txBody>
          <a:bodyPr wrap="square" lIns="0" tIns="0" rIns="0" bIns="0" rtlCol="0" anchor="ctr"/>
          <a:lstStyle/>
          <a:p>
            <a:pPr indent="0" marL="0">
              <a:buNone/>
            </a:pPr>
            <a:r>
              <a:rPr lang="en-US" sz="2350" b="1" dirty="0">
                <a:solidFill>
                  <a:srgbClr val="692179"/>
                </a:solidFill>
                <a:latin typeface="Courier New" pitchFamily="34" charset="0"/>
                <a:ea typeface="Courier New" pitchFamily="34" charset="-122"/>
                <a:cs typeface="Courier New" pitchFamily="34" charset="-120"/>
              </a:rPr>
              <a:t>data</a:t>
            </a:r>
            <a:endParaRPr lang="en-US" sz="2350" dirty="0"/>
          </a:p>
        </p:txBody>
      </p:sp>
      <p:sp>
        <p:nvSpPr>
          <p:cNvPr id="16" name="Text 13"/>
          <p:cNvSpPr txBox="1"/>
          <p:nvPr/>
        </p:nvSpPr>
        <p:spPr>
          <a:xfrm>
            <a:off x="1951330" y="6424574"/>
            <a:ext cx="4088282" cy="946404"/>
          </a:xfrm>
          <a:prstGeom prst="rect">
            <a:avLst/>
          </a:prstGeom>
          <a:noFill/>
          <a:ln/>
        </p:spPr>
        <p:txBody>
          <a:bodyPr wrap="square" lIns="0" tIns="0" rIns="0" bIns="0" rtlCol="0" anchor="t"/>
          <a:lstStyle/>
          <a:p>
            <a:pPr indent="0" marL="0">
              <a:lnSpc>
                <a:spcPct val="110000"/>
              </a:lnSpc>
              <a:buNone/>
            </a:pPr>
            <a:r>
              <a:rPr lang="en-US" sz="1790" dirty="0">
                <a:solidFill>
                  <a:srgbClr val="6E5C73"/>
                </a:solidFill>
                <a:latin typeface="Calibri" pitchFamily="34" charset="0"/>
                <a:ea typeface="Calibri" pitchFamily="34" charset="-122"/>
                <a:cs typeface="Calibri" pitchFamily="34" charset="-120"/>
              </a:rPr>
              <a:t>Algo que ya existe y solo quieres consultar.</a:t>
            </a:r>
            <a:endParaRPr lang="en-US" sz="1790" dirty="0"/>
          </a:p>
        </p:txBody>
      </p:sp>
      <p:sp>
        <p:nvSpPr>
          <p:cNvPr id="17" name="Shape 14"/>
          <p:cNvSpPr/>
          <p:nvPr/>
        </p:nvSpPr>
        <p:spPr>
          <a:xfrm>
            <a:off x="6720840" y="5541264"/>
            <a:ext cx="4845406" cy="2018995"/>
          </a:xfrm>
          <a:prstGeom prst="roundRect">
            <a:avLst>
              <a:gd name="adj" fmla="val 6250"/>
            </a:avLst>
          </a:prstGeom>
          <a:solidFill>
            <a:srgbClr val="FFFFFF"/>
          </a:solidFill>
          <a:ln w="12700">
            <a:solidFill>
              <a:srgbClr val="FFFFFF"/>
            </a:solidFill>
            <a:prstDash val="solid"/>
          </a:ln>
        </p:spPr>
      </p:sp>
      <p:sp>
        <p:nvSpPr>
          <p:cNvPr id="18" name="Text 15"/>
          <p:cNvSpPr txBox="1"/>
          <p:nvPr/>
        </p:nvSpPr>
        <p:spPr>
          <a:xfrm>
            <a:off x="7099402" y="5819242"/>
            <a:ext cx="4088282" cy="567842"/>
          </a:xfrm>
          <a:prstGeom prst="rect">
            <a:avLst/>
          </a:prstGeom>
          <a:noFill/>
          <a:ln/>
        </p:spPr>
        <p:txBody>
          <a:bodyPr wrap="square" lIns="0" tIns="0" rIns="0" bIns="0" rtlCol="0" anchor="ctr"/>
          <a:lstStyle/>
          <a:p>
            <a:pPr indent="0" marL="0">
              <a:buNone/>
            </a:pPr>
            <a:r>
              <a:rPr lang="en-US" sz="2350" b="1" dirty="0">
                <a:solidFill>
                  <a:srgbClr val="692179"/>
                </a:solidFill>
                <a:latin typeface="Courier New" pitchFamily="34" charset="0"/>
                <a:ea typeface="Courier New" pitchFamily="34" charset="-122"/>
                <a:cs typeface="Courier New" pitchFamily="34" charset="-120"/>
              </a:rPr>
              <a:t>locals</a:t>
            </a:r>
            <a:endParaRPr lang="en-US" sz="2350" dirty="0"/>
          </a:p>
        </p:txBody>
      </p:sp>
      <p:sp>
        <p:nvSpPr>
          <p:cNvPr id="19" name="Text 16"/>
          <p:cNvSpPr txBox="1"/>
          <p:nvPr/>
        </p:nvSpPr>
        <p:spPr>
          <a:xfrm>
            <a:off x="7099402" y="6424574"/>
            <a:ext cx="4088282" cy="946404"/>
          </a:xfrm>
          <a:prstGeom prst="rect">
            <a:avLst/>
          </a:prstGeom>
          <a:noFill/>
          <a:ln/>
        </p:spPr>
        <p:txBody>
          <a:bodyPr wrap="square" lIns="0" tIns="0" rIns="0" bIns="0" rtlCol="0" anchor="t"/>
          <a:lstStyle/>
          <a:p>
            <a:pPr indent="0" marL="0">
              <a:lnSpc>
                <a:spcPct val="110000"/>
              </a:lnSpc>
              <a:buNone/>
            </a:pPr>
            <a:r>
              <a:rPr lang="en-US" sz="1790" dirty="0">
                <a:solidFill>
                  <a:srgbClr val="6E5C73"/>
                </a:solidFill>
                <a:latin typeface="Calibri" pitchFamily="34" charset="0"/>
                <a:ea typeface="Calibri" pitchFamily="34" charset="-122"/>
                <a:cs typeface="Calibri" pitchFamily="34" charset="-120"/>
              </a:rPr>
              <a:t>Valores calculados que reutilizas. Nomenclaturas, tags.</a:t>
            </a:r>
            <a:endParaRPr lang="en-US" sz="1790" dirty="0"/>
          </a:p>
        </p:txBody>
      </p:sp>
      <p:sp>
        <p:nvSpPr>
          <p:cNvPr id="20" name="Shape 17"/>
          <p:cNvSpPr/>
          <p:nvPr/>
        </p:nvSpPr>
        <p:spPr>
          <a:xfrm>
            <a:off x="11869826" y="5541264"/>
            <a:ext cx="4845406" cy="2018995"/>
          </a:xfrm>
          <a:prstGeom prst="roundRect">
            <a:avLst>
              <a:gd name="adj" fmla="val 6250"/>
            </a:avLst>
          </a:prstGeom>
          <a:solidFill>
            <a:srgbClr val="FFFFFF"/>
          </a:solidFill>
          <a:ln w="12700">
            <a:solidFill>
              <a:srgbClr val="FFFFFF"/>
            </a:solidFill>
            <a:prstDash val="solid"/>
          </a:ln>
        </p:spPr>
      </p:sp>
      <p:sp>
        <p:nvSpPr>
          <p:cNvPr id="21" name="Text 18"/>
          <p:cNvSpPr txBox="1"/>
          <p:nvPr/>
        </p:nvSpPr>
        <p:spPr>
          <a:xfrm>
            <a:off x="12248388" y="5819242"/>
            <a:ext cx="4088282" cy="567842"/>
          </a:xfrm>
          <a:prstGeom prst="rect">
            <a:avLst/>
          </a:prstGeom>
          <a:noFill/>
          <a:ln/>
        </p:spPr>
        <p:txBody>
          <a:bodyPr wrap="square" lIns="0" tIns="0" rIns="0" bIns="0" rtlCol="0" anchor="ctr"/>
          <a:lstStyle/>
          <a:p>
            <a:pPr indent="0" marL="0">
              <a:buNone/>
            </a:pPr>
            <a:r>
              <a:rPr lang="en-US" sz="2350" b="1" dirty="0">
                <a:solidFill>
                  <a:srgbClr val="692179"/>
                </a:solidFill>
                <a:latin typeface="Courier New" pitchFamily="34" charset="0"/>
                <a:ea typeface="Courier New" pitchFamily="34" charset="-122"/>
                <a:cs typeface="Courier New" pitchFamily="34" charset="-120"/>
              </a:rPr>
              <a:t>module</a:t>
            </a:r>
            <a:endParaRPr lang="en-US" sz="2350" dirty="0"/>
          </a:p>
        </p:txBody>
      </p:sp>
      <p:sp>
        <p:nvSpPr>
          <p:cNvPr id="22" name="Text 19"/>
          <p:cNvSpPr txBox="1"/>
          <p:nvPr/>
        </p:nvSpPr>
        <p:spPr>
          <a:xfrm>
            <a:off x="12248388" y="6424574"/>
            <a:ext cx="4088282" cy="946404"/>
          </a:xfrm>
          <a:prstGeom prst="rect">
            <a:avLst/>
          </a:prstGeom>
          <a:noFill/>
          <a:ln/>
        </p:spPr>
        <p:txBody>
          <a:bodyPr wrap="square" lIns="0" tIns="0" rIns="0" bIns="0" rtlCol="0" anchor="t"/>
          <a:lstStyle/>
          <a:p>
            <a:pPr indent="0" marL="0">
              <a:lnSpc>
                <a:spcPct val="110000"/>
              </a:lnSpc>
              <a:buNone/>
            </a:pPr>
            <a:r>
              <a:rPr lang="en-US" sz="1790" dirty="0">
                <a:solidFill>
                  <a:srgbClr val="6E5C73"/>
                </a:solidFill>
                <a:latin typeface="Calibri" pitchFamily="34" charset="0"/>
                <a:ea typeface="Calibri" pitchFamily="34" charset="-122"/>
                <a:cs typeface="Calibri" pitchFamily="34" charset="-120"/>
              </a:rPr>
              <a:t>Un paquete reutilizable. Tu template empaquetado.</a:t>
            </a:r>
            <a:endParaRPr lang="en-US" sz="1790" dirty="0"/>
          </a:p>
        </p:txBody>
      </p:sp>
      <p:sp>
        <p:nvSpPr>
          <p:cNvPr id="23" name="Text 20"/>
          <p:cNvSpPr txBox="1"/>
          <p:nvPr/>
        </p:nvSpPr>
        <p:spPr>
          <a:xfrm>
            <a:off x="1572768" y="8065008"/>
            <a:ext cx="15142464" cy="630936"/>
          </a:xfrm>
          <a:prstGeom prst="rect">
            <a:avLst/>
          </a:prstGeom>
          <a:noFill/>
          <a:ln/>
        </p:spPr>
        <p:txBody>
          <a:bodyPr wrap="square" lIns="0" tIns="0" rIns="0" bIns="0" rtlCol="0" anchor="ctr"/>
          <a:lstStyle/>
          <a:p>
            <a:pPr indent="0" marL="0">
              <a:buNone/>
            </a:pPr>
            <a:r>
              <a:rPr lang="en-US" sz="2070" i="1" dirty="0">
                <a:solidFill>
                  <a:srgbClr val="692179"/>
                </a:solidFill>
                <a:latin typeface="Calibri" pitchFamily="34" charset="0"/>
                <a:ea typeface="Calibri" pitchFamily="34" charset="-122"/>
                <a:cs typeface="Calibri" pitchFamily="34" charset="-120"/>
              </a:rPr>
              <a:t>Con resource y variable ya puedes hacer el 80% de lo que necesitas el primer mes.</a:t>
            </a:r>
            <a:endParaRPr lang="en-US" sz="207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2" name="Image 0" descr="/home/claude/bg-white.jpg">    </p:cNvPr>
          <p:cNvPicPr>
            <a:picLocks noChangeAspect="1"/>
          </p:cNvPicPr>
          <p:nvPr/>
        </p:nvPicPr>
        <p:blipFill>
          <a:blip r:embed="rId1"/>
          <a:stretch>
            <a:fillRect/>
          </a:stretch>
        </p:blipFill>
        <p:spPr>
          <a:xfrm>
            <a:off x="0" y="0"/>
            <a:ext cx="18288000" cy="10287000"/>
          </a:xfrm>
          <a:prstGeom prst="rect">
            <a:avLst/>
          </a:prstGeom>
        </p:spPr>
      </p:pic>
      <p:sp>
        <p:nvSpPr>
          <p:cNvPr id="3" name="Text 0"/>
          <p:cNvSpPr txBox="1"/>
          <p:nvPr/>
        </p:nvSpPr>
        <p:spPr>
          <a:xfrm>
            <a:off x="1572768" y="1024128"/>
            <a:ext cx="15142464" cy="404165"/>
          </a:xfrm>
          <a:prstGeom prst="rect">
            <a:avLst/>
          </a:prstGeom>
          <a:noFill/>
          <a:ln/>
        </p:spPr>
        <p:txBody>
          <a:bodyPr wrap="square" lIns="0" tIns="0" rIns="0" bIns="0" rtlCol="0" anchor="ctr"/>
          <a:lstStyle/>
          <a:p>
            <a:pPr indent="0" marL="0">
              <a:buNone/>
            </a:pPr>
            <a:r>
              <a:rPr lang="en-US" sz="1660" b="1" spc="345" kern="0" dirty="0">
                <a:solidFill>
                  <a:srgbClr val="692179"/>
                </a:solidFill>
                <a:latin typeface="Calibri" pitchFamily="34" charset="0"/>
                <a:ea typeface="Calibri" pitchFamily="34" charset="-122"/>
                <a:cs typeface="Calibri" pitchFamily="34" charset="-120"/>
              </a:rPr>
              <a:t>BLOQUE 2 · TERRAFORM</a:t>
            </a:r>
            <a:endParaRPr lang="en-US" sz="1660" dirty="0"/>
          </a:p>
        </p:txBody>
      </p:sp>
      <p:sp>
        <p:nvSpPr>
          <p:cNvPr id="4" name="Text 1"/>
          <p:cNvSpPr txBox="1"/>
          <p:nvPr/>
        </p:nvSpPr>
        <p:spPr>
          <a:xfrm>
            <a:off x="1572768" y="1440180"/>
            <a:ext cx="15142464" cy="1072591"/>
          </a:xfrm>
          <a:prstGeom prst="rect">
            <a:avLst/>
          </a:prstGeom>
          <a:noFill/>
          <a:ln/>
        </p:spPr>
        <p:txBody>
          <a:bodyPr wrap="square" lIns="0" tIns="0" rIns="0" bIns="0" rtlCol="0" anchor="ctr"/>
          <a:lstStyle/>
          <a:p>
            <a:pPr algn="l" indent="0" marL="0">
              <a:buNone/>
            </a:pPr>
            <a:r>
              <a:rPr lang="en-US" sz="4690" b="1" dirty="0">
                <a:solidFill>
                  <a:srgbClr val="241028"/>
                </a:solidFill>
                <a:latin typeface="Arial" pitchFamily="34" charset="0"/>
                <a:ea typeface="Arial" pitchFamily="34" charset="-122"/>
                <a:cs typeface="Arial" pitchFamily="34" charset="-120"/>
              </a:rPr>
              <a:t>Tu primer .tf completo, de principio a fin</a:t>
            </a:r>
            <a:endParaRPr lang="en-US" sz="4690" dirty="0"/>
          </a:p>
        </p:txBody>
      </p:sp>
      <p:sp>
        <p:nvSpPr>
          <p:cNvPr id="5" name="Shape 2"/>
          <p:cNvSpPr/>
          <p:nvPr/>
        </p:nvSpPr>
        <p:spPr>
          <a:xfrm>
            <a:off x="1572768" y="3017520"/>
            <a:ext cx="8959291" cy="5615330"/>
          </a:xfrm>
          <a:prstGeom prst="roundRect">
            <a:avLst>
              <a:gd name="adj" fmla="val 1791"/>
            </a:avLst>
          </a:prstGeom>
          <a:solidFill>
            <a:srgbClr val="2A0E38"/>
          </a:solidFill>
          <a:ln w="12700">
            <a:solidFill>
              <a:srgbClr val="2A0E38"/>
            </a:solidFill>
            <a:prstDash val="solid"/>
          </a:ln>
        </p:spPr>
      </p:sp>
      <p:sp>
        <p:nvSpPr>
          <p:cNvPr id="6" name="Text 3"/>
          <p:cNvSpPr txBox="1"/>
          <p:nvPr/>
        </p:nvSpPr>
        <p:spPr>
          <a:xfrm>
            <a:off x="1850746" y="3219602"/>
            <a:ext cx="8404250" cy="5211166"/>
          </a:xfrm>
          <a:prstGeom prst="rect">
            <a:avLst/>
          </a:prstGeom>
          <a:noFill/>
          <a:ln/>
        </p:spPr>
        <p:txBody>
          <a:bodyPr wrap="square" lIns="0" tIns="0" rIns="0" bIns="0" rtlCol="0" anchor="t"/>
          <a:lstStyle/>
          <a:p>
            <a:pPr algn="l" indent="0" marL="0">
              <a:lnSpc>
                <a:spcPct val="110000"/>
              </a:lnSpc>
              <a:buNone/>
            </a:pPr>
            <a:r>
              <a:rPr lang="en-US" sz="1380" b="1" dirty="0">
                <a:solidFill>
                  <a:srgbClr val="DFA0EC"/>
                </a:solidFill>
                <a:latin typeface="Courier New" pitchFamily="34" charset="0"/>
                <a:ea typeface="Courier New" pitchFamily="34" charset="-122"/>
                <a:cs typeface="Courier New" pitchFamily="34" charset="-120"/>
              </a:rPr>
              <a:t>terraform</a:t>
            </a:r>
            <a:pPr algn="l" indent="0" marL="0">
              <a:lnSpc>
                <a:spcPct val="110000"/>
              </a:lnSpc>
              <a:buNone/>
            </a:pPr>
            <a:r>
              <a:rPr lang="en-US" sz="1380" dirty="0">
                <a:solidFill>
                  <a:srgbClr val="C77BD6"/>
                </a:solidFill>
                <a:latin typeface="Courier New" pitchFamily="34" charset="0"/>
                <a:ea typeface="Courier New" pitchFamily="34" charset="-122"/>
                <a:cs typeface="Courier New" pitchFamily="34" charset="-120"/>
              </a:rPr>
              <a:t> </a:t>
            </a:r>
            <a:pPr algn="l" indent="0" marL="0">
              <a:lnSpc>
                <a:spcPct val="110000"/>
              </a:lnSpc>
              <a:buNone/>
            </a:pPr>
            <a:r>
              <a:rPr lang="en-US" sz="1380" dirty="0">
                <a:solidFill>
                  <a:srgbClr val="C77BD6"/>
                </a:solidFill>
                <a:latin typeface="Courier New" pitchFamily="34" charset="0"/>
                <a:ea typeface="Courier New" pitchFamily="34" charset="-122"/>
                <a:cs typeface="Courier New" pitchFamily="34" charset="-120"/>
              </a:rPr>
              <a:t>{</a:t>
            </a:r>
            <a:endParaRPr lang="en-US" sz="1380" dirty="0"/>
          </a:p>
          <a:p>
            <a:pPr algn="l" indent="0" marL="0">
              <a:lnSpc>
                <a:spcPct val="110000"/>
              </a:lnSpc>
              <a:buNone/>
            </a:pPr>
            <a:r>
              <a:rPr lang="en-US" sz="1380" dirty="0">
                <a:solidFill>
                  <a:srgbClr val="C77BD6"/>
                </a:solidFill>
                <a:latin typeface="Courier New" pitchFamily="34" charset="0"/>
                <a:ea typeface="Courier New" pitchFamily="34" charset="-122"/>
                <a:cs typeface="Courier New" pitchFamily="34" charset="-120"/>
              </a:rPr>
              <a:t>  </a:t>
            </a:r>
            <a:pPr algn="l" indent="0" marL="0">
              <a:lnSpc>
                <a:spcPct val="110000"/>
              </a:lnSpc>
              <a:buNone/>
            </a:pPr>
            <a:r>
              <a:rPr lang="en-US" sz="1380" b="1" dirty="0">
                <a:solidFill>
                  <a:srgbClr val="DFA0EC"/>
                </a:solidFill>
                <a:latin typeface="Courier New" pitchFamily="34" charset="0"/>
                <a:ea typeface="Courier New" pitchFamily="34" charset="-122"/>
                <a:cs typeface="Courier New" pitchFamily="34" charset="-120"/>
              </a:rPr>
              <a:t>required_providers</a:t>
            </a:r>
            <a:pPr algn="l" indent="0" marL="0">
              <a:lnSpc>
                <a:spcPct val="110000"/>
              </a:lnSpc>
              <a:buNone/>
            </a:pPr>
            <a:r>
              <a:rPr lang="en-US" sz="1380" dirty="0">
                <a:solidFill>
                  <a:srgbClr val="C77BD6"/>
                </a:solidFill>
                <a:latin typeface="Courier New" pitchFamily="34" charset="0"/>
                <a:ea typeface="Courier New" pitchFamily="34" charset="-122"/>
                <a:cs typeface="Courier New" pitchFamily="34" charset="-120"/>
              </a:rPr>
              <a:t> </a:t>
            </a:r>
            <a:pPr algn="l" indent="0" marL="0">
              <a:lnSpc>
                <a:spcPct val="110000"/>
              </a:lnSpc>
              <a:buNone/>
            </a:pPr>
            <a:r>
              <a:rPr lang="en-US" sz="1380" dirty="0">
                <a:solidFill>
                  <a:srgbClr val="C77BD6"/>
                </a:solidFill>
                <a:latin typeface="Courier New" pitchFamily="34" charset="0"/>
                <a:ea typeface="Courier New" pitchFamily="34" charset="-122"/>
                <a:cs typeface="Courier New" pitchFamily="34" charset="-120"/>
              </a:rPr>
              <a:t>{</a:t>
            </a:r>
            <a:endParaRPr lang="en-US" sz="1380" dirty="0"/>
          </a:p>
          <a:p>
            <a:pPr algn="l" indent="0" marL="0">
              <a:lnSpc>
                <a:spcPct val="110000"/>
              </a:lnSpc>
              <a:buNone/>
            </a:pPr>
            <a:r>
              <a:rPr lang="en-US" sz="1380" dirty="0">
                <a:solidFill>
                  <a:srgbClr val="C77BD6"/>
                </a:solidFill>
                <a:latin typeface="Courier New" pitchFamily="34" charset="0"/>
                <a:ea typeface="Courier New" pitchFamily="34" charset="-122"/>
                <a:cs typeface="Courier New" pitchFamily="34" charset="-120"/>
              </a:rPr>
              <a:t>    </a:t>
            </a:r>
            <a:pPr algn="l" indent="0" marL="0">
              <a:lnSpc>
                <a:spcPct val="110000"/>
              </a:lnSpc>
              <a:buNone/>
            </a:pPr>
            <a:r>
              <a:rPr lang="en-US" sz="1380" dirty="0">
                <a:solidFill>
                  <a:srgbClr val="EFE6F2"/>
                </a:solidFill>
                <a:latin typeface="Courier New" pitchFamily="34" charset="0"/>
                <a:ea typeface="Courier New" pitchFamily="34" charset="-122"/>
                <a:cs typeface="Courier New" pitchFamily="34" charset="-120"/>
              </a:rPr>
              <a:t>fabric</a:t>
            </a:r>
            <a:pPr algn="l" indent="0" marL="0">
              <a:lnSpc>
                <a:spcPct val="110000"/>
              </a:lnSpc>
              <a:buNone/>
            </a:pPr>
            <a:r>
              <a:rPr lang="en-US" sz="1380" dirty="0">
                <a:solidFill>
                  <a:srgbClr val="C77BD6"/>
                </a:solidFill>
                <a:latin typeface="Courier New" pitchFamily="34" charset="0"/>
                <a:ea typeface="Courier New" pitchFamily="34" charset="-122"/>
                <a:cs typeface="Courier New" pitchFamily="34" charset="-120"/>
              </a:rPr>
              <a:t> </a:t>
            </a:r>
            <a:pPr algn="l" indent="0" marL="0">
              <a:lnSpc>
                <a:spcPct val="110000"/>
              </a:lnSpc>
              <a:buNone/>
            </a:pPr>
            <a:r>
              <a:rPr lang="en-US" sz="1380" dirty="0">
                <a:solidFill>
                  <a:srgbClr val="C77BD6"/>
                </a:solidFill>
                <a:latin typeface="Courier New" pitchFamily="34" charset="0"/>
                <a:ea typeface="Courier New" pitchFamily="34" charset="-122"/>
                <a:cs typeface="Courier New" pitchFamily="34" charset="-120"/>
              </a:rPr>
              <a:t>=</a:t>
            </a:r>
            <a:pPr algn="l" indent="0" marL="0">
              <a:lnSpc>
                <a:spcPct val="110000"/>
              </a:lnSpc>
              <a:buNone/>
            </a:pPr>
            <a:r>
              <a:rPr lang="en-US" sz="1380" dirty="0">
                <a:solidFill>
                  <a:srgbClr val="C77BD6"/>
                </a:solidFill>
                <a:latin typeface="Courier New" pitchFamily="34" charset="0"/>
                <a:ea typeface="Courier New" pitchFamily="34" charset="-122"/>
                <a:cs typeface="Courier New" pitchFamily="34" charset="-120"/>
              </a:rPr>
              <a:t> </a:t>
            </a:r>
            <a:pPr algn="l" indent="0" marL="0">
              <a:lnSpc>
                <a:spcPct val="110000"/>
              </a:lnSpc>
              <a:buNone/>
            </a:pPr>
            <a:r>
              <a:rPr lang="en-US" sz="1380" dirty="0">
                <a:solidFill>
                  <a:srgbClr val="C77BD6"/>
                </a:solidFill>
                <a:latin typeface="Courier New" pitchFamily="34" charset="0"/>
                <a:ea typeface="Courier New" pitchFamily="34" charset="-122"/>
                <a:cs typeface="Courier New" pitchFamily="34" charset="-120"/>
              </a:rPr>
              <a:t>{</a:t>
            </a:r>
            <a:endParaRPr lang="en-US" sz="1380" dirty="0"/>
          </a:p>
          <a:p>
            <a:pPr algn="l" indent="0" marL="0">
              <a:lnSpc>
                <a:spcPct val="110000"/>
              </a:lnSpc>
              <a:buNone/>
            </a:pPr>
            <a:r>
              <a:rPr lang="en-US" sz="1380" dirty="0">
                <a:solidFill>
                  <a:srgbClr val="C77BD6"/>
                </a:solidFill>
                <a:latin typeface="Courier New" pitchFamily="34" charset="0"/>
                <a:ea typeface="Courier New" pitchFamily="34" charset="-122"/>
                <a:cs typeface="Courier New" pitchFamily="34" charset="-120"/>
              </a:rPr>
              <a:t>      </a:t>
            </a:r>
            <a:pPr algn="l" indent="0" marL="0">
              <a:lnSpc>
                <a:spcPct val="110000"/>
              </a:lnSpc>
              <a:buNone/>
            </a:pPr>
            <a:r>
              <a:rPr lang="en-US" sz="1380" b="1" dirty="0">
                <a:solidFill>
                  <a:srgbClr val="DFA0EC"/>
                </a:solidFill>
                <a:latin typeface="Courier New" pitchFamily="34" charset="0"/>
                <a:ea typeface="Courier New" pitchFamily="34" charset="-122"/>
                <a:cs typeface="Courier New" pitchFamily="34" charset="-120"/>
              </a:rPr>
              <a:t>source</a:t>
            </a:r>
            <a:pPr algn="l" indent="0" marL="0">
              <a:lnSpc>
                <a:spcPct val="110000"/>
              </a:lnSpc>
              <a:buNone/>
            </a:pPr>
            <a:r>
              <a:rPr lang="en-US" sz="1380" dirty="0">
                <a:solidFill>
                  <a:srgbClr val="C77BD6"/>
                </a:solidFill>
                <a:latin typeface="Courier New" pitchFamily="34" charset="0"/>
                <a:ea typeface="Courier New" pitchFamily="34" charset="-122"/>
                <a:cs typeface="Courier New" pitchFamily="34" charset="-120"/>
              </a:rPr>
              <a:t>  </a:t>
            </a:r>
            <a:pPr algn="l" indent="0" marL="0">
              <a:lnSpc>
                <a:spcPct val="110000"/>
              </a:lnSpc>
              <a:buNone/>
            </a:pPr>
            <a:r>
              <a:rPr lang="en-US" sz="1380" dirty="0">
                <a:solidFill>
                  <a:srgbClr val="C77BD6"/>
                </a:solidFill>
                <a:latin typeface="Courier New" pitchFamily="34" charset="0"/>
                <a:ea typeface="Courier New" pitchFamily="34" charset="-122"/>
                <a:cs typeface="Courier New" pitchFamily="34" charset="-120"/>
              </a:rPr>
              <a:t>=</a:t>
            </a:r>
            <a:pPr algn="l" indent="0" marL="0">
              <a:lnSpc>
                <a:spcPct val="110000"/>
              </a:lnSpc>
              <a:buNone/>
            </a:pPr>
            <a:r>
              <a:rPr lang="en-US" sz="1380" dirty="0">
                <a:solidFill>
                  <a:srgbClr val="C77BD6"/>
                </a:solidFill>
                <a:latin typeface="Courier New" pitchFamily="34" charset="0"/>
                <a:ea typeface="Courier New" pitchFamily="34" charset="-122"/>
                <a:cs typeface="Courier New" pitchFamily="34" charset="-120"/>
              </a:rPr>
              <a:t> </a:t>
            </a:r>
            <a:pPr algn="l" indent="0" marL="0">
              <a:lnSpc>
                <a:spcPct val="110000"/>
              </a:lnSpc>
              <a:buNone/>
            </a:pPr>
            <a:r>
              <a:rPr lang="en-US" sz="1380" dirty="0">
                <a:solidFill>
                  <a:srgbClr val="8FD9B6"/>
                </a:solidFill>
                <a:latin typeface="Courier New" pitchFamily="34" charset="0"/>
                <a:ea typeface="Courier New" pitchFamily="34" charset="-122"/>
                <a:cs typeface="Courier New" pitchFamily="34" charset="-120"/>
              </a:rPr>
              <a:t>"microsoft/fabric"</a:t>
            </a:r>
            <a:endParaRPr lang="en-US" sz="1380" dirty="0"/>
          </a:p>
          <a:p>
            <a:pPr algn="l" indent="0" marL="0">
              <a:lnSpc>
                <a:spcPct val="110000"/>
              </a:lnSpc>
              <a:buNone/>
            </a:pPr>
            <a:r>
              <a:rPr lang="en-US" sz="1380" dirty="0">
                <a:solidFill>
                  <a:srgbClr val="C77BD6"/>
                </a:solidFill>
                <a:latin typeface="Courier New" pitchFamily="34" charset="0"/>
                <a:ea typeface="Courier New" pitchFamily="34" charset="-122"/>
                <a:cs typeface="Courier New" pitchFamily="34" charset="-120"/>
              </a:rPr>
              <a:t>      </a:t>
            </a:r>
            <a:pPr algn="l" indent="0" marL="0">
              <a:lnSpc>
                <a:spcPct val="110000"/>
              </a:lnSpc>
              <a:buNone/>
            </a:pPr>
            <a:r>
              <a:rPr lang="en-US" sz="1380" b="1" dirty="0">
                <a:solidFill>
                  <a:srgbClr val="DFA0EC"/>
                </a:solidFill>
                <a:latin typeface="Courier New" pitchFamily="34" charset="0"/>
                <a:ea typeface="Courier New" pitchFamily="34" charset="-122"/>
                <a:cs typeface="Courier New" pitchFamily="34" charset="-120"/>
              </a:rPr>
              <a:t>version</a:t>
            </a:r>
            <a:pPr algn="l" indent="0" marL="0">
              <a:lnSpc>
                <a:spcPct val="110000"/>
              </a:lnSpc>
              <a:buNone/>
            </a:pPr>
            <a:r>
              <a:rPr lang="en-US" sz="1380" dirty="0">
                <a:solidFill>
                  <a:srgbClr val="C77BD6"/>
                </a:solidFill>
                <a:latin typeface="Courier New" pitchFamily="34" charset="0"/>
                <a:ea typeface="Courier New" pitchFamily="34" charset="-122"/>
                <a:cs typeface="Courier New" pitchFamily="34" charset="-120"/>
              </a:rPr>
              <a:t> </a:t>
            </a:r>
            <a:pPr algn="l" indent="0" marL="0">
              <a:lnSpc>
                <a:spcPct val="110000"/>
              </a:lnSpc>
              <a:buNone/>
            </a:pPr>
            <a:r>
              <a:rPr lang="en-US" sz="1380" dirty="0">
                <a:solidFill>
                  <a:srgbClr val="C77BD6"/>
                </a:solidFill>
                <a:latin typeface="Courier New" pitchFamily="34" charset="0"/>
                <a:ea typeface="Courier New" pitchFamily="34" charset="-122"/>
                <a:cs typeface="Courier New" pitchFamily="34" charset="-120"/>
              </a:rPr>
              <a:t>=</a:t>
            </a:r>
            <a:pPr algn="l" indent="0" marL="0">
              <a:lnSpc>
                <a:spcPct val="110000"/>
              </a:lnSpc>
              <a:buNone/>
            </a:pPr>
            <a:r>
              <a:rPr lang="en-US" sz="1380" dirty="0">
                <a:solidFill>
                  <a:srgbClr val="C77BD6"/>
                </a:solidFill>
                <a:latin typeface="Courier New" pitchFamily="34" charset="0"/>
                <a:ea typeface="Courier New" pitchFamily="34" charset="-122"/>
                <a:cs typeface="Courier New" pitchFamily="34" charset="-120"/>
              </a:rPr>
              <a:t> </a:t>
            </a:r>
            <a:pPr algn="l" indent="0" marL="0">
              <a:lnSpc>
                <a:spcPct val="110000"/>
              </a:lnSpc>
              <a:buNone/>
            </a:pPr>
            <a:r>
              <a:rPr lang="en-US" sz="1380" dirty="0">
                <a:solidFill>
                  <a:srgbClr val="8FD9B6"/>
                </a:solidFill>
                <a:latin typeface="Courier New" pitchFamily="34" charset="0"/>
                <a:ea typeface="Courier New" pitchFamily="34" charset="-122"/>
                <a:cs typeface="Courier New" pitchFamily="34" charset="-120"/>
              </a:rPr>
              <a:t>"~&gt; 1.13"</a:t>
            </a:r>
            <a:endParaRPr lang="en-US" sz="1380" dirty="0"/>
          </a:p>
          <a:p>
            <a:pPr algn="l" indent="0" marL="0">
              <a:lnSpc>
                <a:spcPct val="110000"/>
              </a:lnSpc>
              <a:buNone/>
            </a:pPr>
            <a:r>
              <a:rPr lang="en-US" sz="1380" dirty="0">
                <a:solidFill>
                  <a:srgbClr val="C77BD6"/>
                </a:solidFill>
                <a:latin typeface="Courier New" pitchFamily="34" charset="0"/>
                <a:ea typeface="Courier New" pitchFamily="34" charset="-122"/>
                <a:cs typeface="Courier New" pitchFamily="34" charset="-120"/>
              </a:rPr>
              <a:t>    </a:t>
            </a:r>
            <a:pPr algn="l" indent="0" marL="0">
              <a:lnSpc>
                <a:spcPct val="110000"/>
              </a:lnSpc>
              <a:buNone/>
            </a:pPr>
            <a:r>
              <a:rPr lang="en-US" sz="1380" dirty="0">
                <a:solidFill>
                  <a:srgbClr val="C77BD6"/>
                </a:solidFill>
                <a:latin typeface="Courier New" pitchFamily="34" charset="0"/>
                <a:ea typeface="Courier New" pitchFamily="34" charset="-122"/>
                <a:cs typeface="Courier New" pitchFamily="34" charset="-120"/>
              </a:rPr>
              <a:t>}</a:t>
            </a:r>
            <a:endParaRPr lang="en-US" sz="1380" dirty="0"/>
          </a:p>
          <a:p>
            <a:pPr algn="l" indent="0" marL="0">
              <a:lnSpc>
                <a:spcPct val="110000"/>
              </a:lnSpc>
              <a:buNone/>
            </a:pPr>
            <a:r>
              <a:rPr lang="en-US" sz="1380" dirty="0">
                <a:solidFill>
                  <a:srgbClr val="C77BD6"/>
                </a:solidFill>
                <a:latin typeface="Courier New" pitchFamily="34" charset="0"/>
                <a:ea typeface="Courier New" pitchFamily="34" charset="-122"/>
                <a:cs typeface="Courier New" pitchFamily="34" charset="-120"/>
              </a:rPr>
              <a:t>  </a:t>
            </a:r>
            <a:pPr algn="l" indent="0" marL="0">
              <a:lnSpc>
                <a:spcPct val="110000"/>
              </a:lnSpc>
              <a:buNone/>
            </a:pPr>
            <a:r>
              <a:rPr lang="en-US" sz="1380" dirty="0">
                <a:solidFill>
                  <a:srgbClr val="C77BD6"/>
                </a:solidFill>
                <a:latin typeface="Courier New" pitchFamily="34" charset="0"/>
                <a:ea typeface="Courier New" pitchFamily="34" charset="-122"/>
                <a:cs typeface="Courier New" pitchFamily="34" charset="-120"/>
              </a:rPr>
              <a:t>}</a:t>
            </a:r>
            <a:endParaRPr lang="en-US" sz="1380" dirty="0"/>
          </a:p>
          <a:p>
            <a:pPr algn="l" indent="0" marL="0">
              <a:lnSpc>
                <a:spcPct val="110000"/>
              </a:lnSpc>
              <a:buNone/>
            </a:pPr>
            <a:r>
              <a:rPr lang="en-US" sz="1380" dirty="0">
                <a:solidFill>
                  <a:srgbClr val="C77BD6"/>
                </a:solidFill>
                <a:latin typeface="Courier New" pitchFamily="34" charset="0"/>
                <a:ea typeface="Courier New" pitchFamily="34" charset="-122"/>
                <a:cs typeface="Courier New" pitchFamily="34" charset="-120"/>
              </a:rPr>
              <a:t>}</a:t>
            </a:r>
            <a:endParaRPr lang="en-US" sz="1380" dirty="0"/>
          </a:p>
          <a:p>
            <a:pPr algn="l" indent="0" marL="0">
              <a:lnSpc>
                <a:spcPct val="110000"/>
              </a:lnSpc>
              <a:buNone/>
            </a:pPr>
            <a:r>
              <a:rPr lang="en-US" sz="1380" dirty="0">
                <a:solidFill>
                  <a:srgbClr val="EFE6F2"/>
                </a:solidFill>
                <a:latin typeface="Courier New" pitchFamily="34" charset="0"/>
                <a:ea typeface="Courier New" pitchFamily="34" charset="-122"/>
                <a:cs typeface="Courier New" pitchFamily="34" charset="-120"/>
              </a:rPr>
              <a:t> </a:t>
            </a:r>
            <a:endParaRPr lang="en-US" sz="1380" dirty="0"/>
          </a:p>
          <a:p>
            <a:pPr algn="l" indent="0" marL="0">
              <a:lnSpc>
                <a:spcPct val="110000"/>
              </a:lnSpc>
              <a:buNone/>
            </a:pPr>
            <a:r>
              <a:rPr lang="en-US" sz="1380" b="1" dirty="0">
                <a:solidFill>
                  <a:srgbClr val="DFA0EC"/>
                </a:solidFill>
                <a:latin typeface="Courier New" pitchFamily="34" charset="0"/>
                <a:ea typeface="Courier New" pitchFamily="34" charset="-122"/>
                <a:cs typeface="Courier New" pitchFamily="34" charset="-120"/>
              </a:rPr>
              <a:t>provider</a:t>
            </a:r>
            <a:pPr algn="l" indent="0" marL="0">
              <a:lnSpc>
                <a:spcPct val="110000"/>
              </a:lnSpc>
              <a:buNone/>
            </a:pPr>
            <a:r>
              <a:rPr lang="en-US" sz="1380" dirty="0">
                <a:solidFill>
                  <a:srgbClr val="C77BD6"/>
                </a:solidFill>
                <a:latin typeface="Courier New" pitchFamily="34" charset="0"/>
                <a:ea typeface="Courier New" pitchFamily="34" charset="-122"/>
                <a:cs typeface="Courier New" pitchFamily="34" charset="-120"/>
              </a:rPr>
              <a:t> </a:t>
            </a:r>
            <a:pPr algn="l" indent="0" marL="0">
              <a:lnSpc>
                <a:spcPct val="110000"/>
              </a:lnSpc>
              <a:buNone/>
            </a:pPr>
            <a:r>
              <a:rPr lang="en-US" sz="1380" dirty="0">
                <a:solidFill>
                  <a:srgbClr val="8FD9B6"/>
                </a:solidFill>
                <a:latin typeface="Courier New" pitchFamily="34" charset="0"/>
                <a:ea typeface="Courier New" pitchFamily="34" charset="-122"/>
                <a:cs typeface="Courier New" pitchFamily="34" charset="-120"/>
              </a:rPr>
              <a:t>"fabric"</a:t>
            </a:r>
            <a:pPr algn="l" indent="0" marL="0">
              <a:lnSpc>
                <a:spcPct val="110000"/>
              </a:lnSpc>
              <a:buNone/>
            </a:pPr>
            <a:r>
              <a:rPr lang="en-US" sz="1380" dirty="0">
                <a:solidFill>
                  <a:srgbClr val="C77BD6"/>
                </a:solidFill>
                <a:latin typeface="Courier New" pitchFamily="34" charset="0"/>
                <a:ea typeface="Courier New" pitchFamily="34" charset="-122"/>
                <a:cs typeface="Courier New" pitchFamily="34" charset="-120"/>
              </a:rPr>
              <a:t> </a:t>
            </a:r>
            <a:pPr algn="l" indent="0" marL="0">
              <a:lnSpc>
                <a:spcPct val="110000"/>
              </a:lnSpc>
              <a:buNone/>
            </a:pPr>
            <a:r>
              <a:rPr lang="en-US" sz="1380" dirty="0">
                <a:solidFill>
                  <a:srgbClr val="C77BD6"/>
                </a:solidFill>
                <a:latin typeface="Courier New" pitchFamily="34" charset="0"/>
                <a:ea typeface="Courier New" pitchFamily="34" charset="-122"/>
                <a:cs typeface="Courier New" pitchFamily="34" charset="-120"/>
              </a:rPr>
              <a:t>{</a:t>
            </a:r>
            <a:endParaRPr lang="en-US" sz="1380" dirty="0"/>
          </a:p>
          <a:p>
            <a:pPr algn="l" indent="0" marL="0">
              <a:lnSpc>
                <a:spcPct val="110000"/>
              </a:lnSpc>
              <a:buNone/>
            </a:pPr>
            <a:r>
              <a:rPr lang="en-US" sz="1380" dirty="0">
                <a:solidFill>
                  <a:srgbClr val="C77BD6"/>
                </a:solidFill>
                <a:latin typeface="Courier New" pitchFamily="34" charset="0"/>
                <a:ea typeface="Courier New" pitchFamily="34" charset="-122"/>
                <a:cs typeface="Courier New" pitchFamily="34" charset="-120"/>
              </a:rPr>
              <a:t>  </a:t>
            </a:r>
            <a:pPr algn="l" indent="0" marL="0">
              <a:lnSpc>
                <a:spcPct val="110000"/>
              </a:lnSpc>
              <a:buNone/>
            </a:pPr>
            <a:r>
              <a:rPr lang="en-US" sz="1380" i="1" dirty="0">
                <a:solidFill>
                  <a:srgbClr val="A791AD"/>
                </a:solidFill>
                <a:latin typeface="Courier New" pitchFamily="34" charset="0"/>
                <a:ea typeface="Courier New" pitchFamily="34" charset="-122"/>
                <a:cs typeface="Courier New" pitchFamily="34" charset="-120"/>
              </a:rPr>
              <a:t># autenticación por variables de entorno</a:t>
            </a:r>
            <a:endParaRPr lang="en-US" sz="1380" dirty="0"/>
          </a:p>
          <a:p>
            <a:pPr algn="l" indent="0" marL="0">
              <a:lnSpc>
                <a:spcPct val="110000"/>
              </a:lnSpc>
              <a:buNone/>
            </a:pPr>
            <a:r>
              <a:rPr lang="en-US" sz="1380" dirty="0">
                <a:solidFill>
                  <a:srgbClr val="C77BD6"/>
                </a:solidFill>
                <a:latin typeface="Courier New" pitchFamily="34" charset="0"/>
                <a:ea typeface="Courier New" pitchFamily="34" charset="-122"/>
                <a:cs typeface="Courier New" pitchFamily="34" charset="-120"/>
              </a:rPr>
              <a:t>}</a:t>
            </a:r>
            <a:endParaRPr lang="en-US" sz="1380" dirty="0"/>
          </a:p>
          <a:p>
            <a:pPr algn="l" indent="0" marL="0">
              <a:lnSpc>
                <a:spcPct val="110000"/>
              </a:lnSpc>
              <a:buNone/>
            </a:pPr>
            <a:r>
              <a:rPr lang="en-US" sz="1380" dirty="0">
                <a:solidFill>
                  <a:srgbClr val="EFE6F2"/>
                </a:solidFill>
                <a:latin typeface="Courier New" pitchFamily="34" charset="0"/>
                <a:ea typeface="Courier New" pitchFamily="34" charset="-122"/>
                <a:cs typeface="Courier New" pitchFamily="34" charset="-120"/>
              </a:rPr>
              <a:t> </a:t>
            </a:r>
            <a:endParaRPr lang="en-US" sz="1380" dirty="0"/>
          </a:p>
          <a:p>
            <a:pPr algn="l" indent="0" marL="0">
              <a:lnSpc>
                <a:spcPct val="110000"/>
              </a:lnSpc>
              <a:buNone/>
            </a:pPr>
            <a:r>
              <a:rPr lang="en-US" sz="1380" b="1" dirty="0">
                <a:solidFill>
                  <a:srgbClr val="DFA0EC"/>
                </a:solidFill>
                <a:latin typeface="Courier New" pitchFamily="34" charset="0"/>
                <a:ea typeface="Courier New" pitchFamily="34" charset="-122"/>
                <a:cs typeface="Courier New" pitchFamily="34" charset="-120"/>
              </a:rPr>
              <a:t>variable</a:t>
            </a:r>
            <a:pPr algn="l" indent="0" marL="0">
              <a:lnSpc>
                <a:spcPct val="110000"/>
              </a:lnSpc>
              <a:buNone/>
            </a:pPr>
            <a:r>
              <a:rPr lang="en-US" sz="1380" dirty="0">
                <a:solidFill>
                  <a:srgbClr val="C77BD6"/>
                </a:solidFill>
                <a:latin typeface="Courier New" pitchFamily="34" charset="0"/>
                <a:ea typeface="Courier New" pitchFamily="34" charset="-122"/>
                <a:cs typeface="Courier New" pitchFamily="34" charset="-120"/>
              </a:rPr>
              <a:t> </a:t>
            </a:r>
            <a:pPr algn="l" indent="0" marL="0">
              <a:lnSpc>
                <a:spcPct val="110000"/>
              </a:lnSpc>
              <a:buNone/>
            </a:pPr>
            <a:r>
              <a:rPr lang="en-US" sz="1380" dirty="0">
                <a:solidFill>
                  <a:srgbClr val="8FD9B6"/>
                </a:solidFill>
                <a:latin typeface="Courier New" pitchFamily="34" charset="0"/>
                <a:ea typeface="Courier New" pitchFamily="34" charset="-122"/>
                <a:cs typeface="Courier New" pitchFamily="34" charset="-120"/>
              </a:rPr>
              <a:t>"capacity_id"</a:t>
            </a:r>
            <a:pPr algn="l" indent="0" marL="0">
              <a:lnSpc>
                <a:spcPct val="110000"/>
              </a:lnSpc>
              <a:buNone/>
            </a:pPr>
            <a:r>
              <a:rPr lang="en-US" sz="1380" dirty="0">
                <a:solidFill>
                  <a:srgbClr val="C77BD6"/>
                </a:solidFill>
                <a:latin typeface="Courier New" pitchFamily="34" charset="0"/>
                <a:ea typeface="Courier New" pitchFamily="34" charset="-122"/>
                <a:cs typeface="Courier New" pitchFamily="34" charset="-120"/>
              </a:rPr>
              <a:t> </a:t>
            </a:r>
            <a:pPr algn="l" indent="0" marL="0">
              <a:lnSpc>
                <a:spcPct val="110000"/>
              </a:lnSpc>
              <a:buNone/>
            </a:pPr>
            <a:r>
              <a:rPr lang="en-US" sz="1380" dirty="0">
                <a:solidFill>
                  <a:srgbClr val="C77BD6"/>
                </a:solidFill>
                <a:latin typeface="Courier New" pitchFamily="34" charset="0"/>
                <a:ea typeface="Courier New" pitchFamily="34" charset="-122"/>
                <a:cs typeface="Courier New" pitchFamily="34" charset="-120"/>
              </a:rPr>
              <a:t>{</a:t>
            </a:r>
            <a:endParaRPr lang="en-US" sz="1380" dirty="0"/>
          </a:p>
          <a:p>
            <a:pPr algn="l" indent="0" marL="0">
              <a:lnSpc>
                <a:spcPct val="110000"/>
              </a:lnSpc>
              <a:buNone/>
            </a:pPr>
            <a:r>
              <a:rPr lang="en-US" sz="1380" dirty="0">
                <a:solidFill>
                  <a:srgbClr val="C77BD6"/>
                </a:solidFill>
                <a:latin typeface="Courier New" pitchFamily="34" charset="0"/>
                <a:ea typeface="Courier New" pitchFamily="34" charset="-122"/>
                <a:cs typeface="Courier New" pitchFamily="34" charset="-120"/>
              </a:rPr>
              <a:t>  </a:t>
            </a:r>
            <a:pPr algn="l" indent="0" marL="0">
              <a:lnSpc>
                <a:spcPct val="110000"/>
              </a:lnSpc>
              <a:buNone/>
            </a:pPr>
            <a:r>
              <a:rPr lang="en-US" sz="1380" b="1" dirty="0">
                <a:solidFill>
                  <a:srgbClr val="DFA0EC"/>
                </a:solidFill>
                <a:latin typeface="Courier New" pitchFamily="34" charset="0"/>
                <a:ea typeface="Courier New" pitchFamily="34" charset="-122"/>
                <a:cs typeface="Courier New" pitchFamily="34" charset="-120"/>
              </a:rPr>
              <a:t>type</a:t>
            </a:r>
            <a:pPr algn="l" indent="0" marL="0">
              <a:lnSpc>
                <a:spcPct val="110000"/>
              </a:lnSpc>
              <a:buNone/>
            </a:pPr>
            <a:r>
              <a:rPr lang="en-US" sz="1380" dirty="0">
                <a:solidFill>
                  <a:srgbClr val="C77BD6"/>
                </a:solidFill>
                <a:latin typeface="Courier New" pitchFamily="34" charset="0"/>
                <a:ea typeface="Courier New" pitchFamily="34" charset="-122"/>
                <a:cs typeface="Courier New" pitchFamily="34" charset="-120"/>
              </a:rPr>
              <a:t> </a:t>
            </a:r>
            <a:pPr algn="l" indent="0" marL="0">
              <a:lnSpc>
                <a:spcPct val="110000"/>
              </a:lnSpc>
              <a:buNone/>
            </a:pPr>
            <a:r>
              <a:rPr lang="en-US" sz="1380" dirty="0">
                <a:solidFill>
                  <a:srgbClr val="C77BD6"/>
                </a:solidFill>
                <a:latin typeface="Courier New" pitchFamily="34" charset="0"/>
                <a:ea typeface="Courier New" pitchFamily="34" charset="-122"/>
                <a:cs typeface="Courier New" pitchFamily="34" charset="-120"/>
              </a:rPr>
              <a:t>=</a:t>
            </a:r>
            <a:pPr algn="l" indent="0" marL="0">
              <a:lnSpc>
                <a:spcPct val="110000"/>
              </a:lnSpc>
              <a:buNone/>
            </a:pPr>
            <a:r>
              <a:rPr lang="en-US" sz="1380" dirty="0">
                <a:solidFill>
                  <a:srgbClr val="C77BD6"/>
                </a:solidFill>
                <a:latin typeface="Courier New" pitchFamily="34" charset="0"/>
                <a:ea typeface="Courier New" pitchFamily="34" charset="-122"/>
                <a:cs typeface="Courier New" pitchFamily="34" charset="-120"/>
              </a:rPr>
              <a:t> </a:t>
            </a:r>
            <a:pPr algn="l" indent="0" marL="0">
              <a:lnSpc>
                <a:spcPct val="110000"/>
              </a:lnSpc>
              <a:buNone/>
            </a:pPr>
            <a:r>
              <a:rPr lang="en-US" sz="1380" dirty="0">
                <a:solidFill>
                  <a:srgbClr val="EFE6F2"/>
                </a:solidFill>
                <a:latin typeface="Courier New" pitchFamily="34" charset="0"/>
                <a:ea typeface="Courier New" pitchFamily="34" charset="-122"/>
                <a:cs typeface="Courier New" pitchFamily="34" charset="-120"/>
              </a:rPr>
              <a:t>string</a:t>
            </a:r>
            <a:endParaRPr lang="en-US" sz="1380" dirty="0"/>
          </a:p>
          <a:p>
            <a:pPr algn="l" indent="0" marL="0">
              <a:lnSpc>
                <a:spcPct val="110000"/>
              </a:lnSpc>
              <a:buNone/>
            </a:pPr>
            <a:r>
              <a:rPr lang="en-US" sz="1380" dirty="0">
                <a:solidFill>
                  <a:srgbClr val="C77BD6"/>
                </a:solidFill>
                <a:latin typeface="Courier New" pitchFamily="34" charset="0"/>
                <a:ea typeface="Courier New" pitchFamily="34" charset="-122"/>
                <a:cs typeface="Courier New" pitchFamily="34" charset="-120"/>
              </a:rPr>
              <a:t>}</a:t>
            </a:r>
            <a:endParaRPr lang="en-US" sz="1380" dirty="0"/>
          </a:p>
          <a:p>
            <a:pPr algn="l" indent="0" marL="0">
              <a:lnSpc>
                <a:spcPct val="110000"/>
              </a:lnSpc>
              <a:buNone/>
            </a:pPr>
            <a:r>
              <a:rPr lang="en-US" sz="1380" dirty="0">
                <a:solidFill>
                  <a:srgbClr val="EFE6F2"/>
                </a:solidFill>
                <a:latin typeface="Courier New" pitchFamily="34" charset="0"/>
                <a:ea typeface="Courier New" pitchFamily="34" charset="-122"/>
                <a:cs typeface="Courier New" pitchFamily="34" charset="-120"/>
              </a:rPr>
              <a:t> </a:t>
            </a:r>
            <a:endParaRPr lang="en-US" sz="1380" dirty="0"/>
          </a:p>
          <a:p>
            <a:pPr algn="l" indent="0" marL="0">
              <a:lnSpc>
                <a:spcPct val="110000"/>
              </a:lnSpc>
              <a:buNone/>
            </a:pPr>
            <a:r>
              <a:rPr lang="en-US" sz="1380" b="1" dirty="0">
                <a:solidFill>
                  <a:srgbClr val="DFA0EC"/>
                </a:solidFill>
                <a:latin typeface="Courier New" pitchFamily="34" charset="0"/>
                <a:ea typeface="Courier New" pitchFamily="34" charset="-122"/>
                <a:cs typeface="Courier New" pitchFamily="34" charset="-120"/>
              </a:rPr>
              <a:t>resource</a:t>
            </a:r>
            <a:pPr algn="l" indent="0" marL="0">
              <a:lnSpc>
                <a:spcPct val="110000"/>
              </a:lnSpc>
              <a:buNone/>
            </a:pPr>
            <a:r>
              <a:rPr lang="en-US" sz="1380" dirty="0">
                <a:solidFill>
                  <a:srgbClr val="C77BD6"/>
                </a:solidFill>
                <a:latin typeface="Courier New" pitchFamily="34" charset="0"/>
                <a:ea typeface="Courier New" pitchFamily="34" charset="-122"/>
                <a:cs typeface="Courier New" pitchFamily="34" charset="-120"/>
              </a:rPr>
              <a:t> </a:t>
            </a:r>
            <a:pPr algn="l" indent="0" marL="0">
              <a:lnSpc>
                <a:spcPct val="110000"/>
              </a:lnSpc>
              <a:buNone/>
            </a:pPr>
            <a:r>
              <a:rPr lang="en-US" sz="1380" dirty="0">
                <a:solidFill>
                  <a:srgbClr val="8FD9B6"/>
                </a:solidFill>
                <a:latin typeface="Courier New" pitchFamily="34" charset="0"/>
                <a:ea typeface="Courier New" pitchFamily="34" charset="-122"/>
                <a:cs typeface="Courier New" pitchFamily="34" charset="-120"/>
              </a:rPr>
              <a:t>"fabric_workspace"</a:t>
            </a:r>
            <a:pPr algn="l" indent="0" marL="0">
              <a:lnSpc>
                <a:spcPct val="110000"/>
              </a:lnSpc>
              <a:buNone/>
            </a:pPr>
            <a:r>
              <a:rPr lang="en-US" sz="1380" dirty="0">
                <a:solidFill>
                  <a:srgbClr val="C77BD6"/>
                </a:solidFill>
                <a:latin typeface="Courier New" pitchFamily="34" charset="0"/>
                <a:ea typeface="Courier New" pitchFamily="34" charset="-122"/>
                <a:cs typeface="Courier New" pitchFamily="34" charset="-120"/>
              </a:rPr>
              <a:t> </a:t>
            </a:r>
            <a:pPr algn="l" indent="0" marL="0">
              <a:lnSpc>
                <a:spcPct val="110000"/>
              </a:lnSpc>
              <a:buNone/>
            </a:pPr>
            <a:r>
              <a:rPr lang="en-US" sz="1380" dirty="0">
                <a:solidFill>
                  <a:srgbClr val="8FD9B6"/>
                </a:solidFill>
                <a:latin typeface="Courier New" pitchFamily="34" charset="0"/>
                <a:ea typeface="Courier New" pitchFamily="34" charset="-122"/>
                <a:cs typeface="Courier New" pitchFamily="34" charset="-120"/>
              </a:rPr>
              <a:t>"bronze_dev"</a:t>
            </a:r>
            <a:pPr algn="l" indent="0" marL="0">
              <a:lnSpc>
                <a:spcPct val="110000"/>
              </a:lnSpc>
              <a:buNone/>
            </a:pPr>
            <a:r>
              <a:rPr lang="en-US" sz="1380" dirty="0">
                <a:solidFill>
                  <a:srgbClr val="C77BD6"/>
                </a:solidFill>
                <a:latin typeface="Courier New" pitchFamily="34" charset="0"/>
                <a:ea typeface="Courier New" pitchFamily="34" charset="-122"/>
                <a:cs typeface="Courier New" pitchFamily="34" charset="-120"/>
              </a:rPr>
              <a:t> </a:t>
            </a:r>
            <a:pPr algn="l" indent="0" marL="0">
              <a:lnSpc>
                <a:spcPct val="110000"/>
              </a:lnSpc>
              <a:buNone/>
            </a:pPr>
            <a:r>
              <a:rPr lang="en-US" sz="1380" dirty="0">
                <a:solidFill>
                  <a:srgbClr val="C77BD6"/>
                </a:solidFill>
                <a:latin typeface="Courier New" pitchFamily="34" charset="0"/>
                <a:ea typeface="Courier New" pitchFamily="34" charset="-122"/>
                <a:cs typeface="Courier New" pitchFamily="34" charset="-120"/>
              </a:rPr>
              <a:t>{</a:t>
            </a:r>
            <a:endParaRPr lang="en-US" sz="1380" dirty="0"/>
          </a:p>
          <a:p>
            <a:pPr algn="l" indent="0" marL="0">
              <a:lnSpc>
                <a:spcPct val="110000"/>
              </a:lnSpc>
              <a:buNone/>
            </a:pPr>
            <a:r>
              <a:rPr lang="en-US" sz="1380" dirty="0">
                <a:solidFill>
                  <a:srgbClr val="C77BD6"/>
                </a:solidFill>
                <a:latin typeface="Courier New" pitchFamily="34" charset="0"/>
                <a:ea typeface="Courier New" pitchFamily="34" charset="-122"/>
                <a:cs typeface="Courier New" pitchFamily="34" charset="-120"/>
              </a:rPr>
              <a:t>  </a:t>
            </a:r>
            <a:pPr algn="l" indent="0" marL="0">
              <a:lnSpc>
                <a:spcPct val="110000"/>
              </a:lnSpc>
              <a:buNone/>
            </a:pPr>
            <a:r>
              <a:rPr lang="en-US" sz="1380" dirty="0">
                <a:solidFill>
                  <a:srgbClr val="EFE6F2"/>
                </a:solidFill>
                <a:latin typeface="Courier New" pitchFamily="34" charset="0"/>
                <a:ea typeface="Courier New" pitchFamily="34" charset="-122"/>
                <a:cs typeface="Courier New" pitchFamily="34" charset="-120"/>
              </a:rPr>
              <a:t>display_name</a:t>
            </a:r>
            <a:pPr algn="l" indent="0" marL="0">
              <a:lnSpc>
                <a:spcPct val="110000"/>
              </a:lnSpc>
              <a:buNone/>
            </a:pPr>
            <a:r>
              <a:rPr lang="en-US" sz="1380" dirty="0">
                <a:solidFill>
                  <a:srgbClr val="C77BD6"/>
                </a:solidFill>
                <a:latin typeface="Courier New" pitchFamily="34" charset="0"/>
                <a:ea typeface="Courier New" pitchFamily="34" charset="-122"/>
                <a:cs typeface="Courier New" pitchFamily="34" charset="-120"/>
              </a:rPr>
              <a:t> </a:t>
            </a:r>
            <a:pPr algn="l" indent="0" marL="0">
              <a:lnSpc>
                <a:spcPct val="110000"/>
              </a:lnSpc>
              <a:buNone/>
            </a:pPr>
            <a:r>
              <a:rPr lang="en-US" sz="1380" dirty="0">
                <a:solidFill>
                  <a:srgbClr val="C77BD6"/>
                </a:solidFill>
                <a:latin typeface="Courier New" pitchFamily="34" charset="0"/>
                <a:ea typeface="Courier New" pitchFamily="34" charset="-122"/>
                <a:cs typeface="Courier New" pitchFamily="34" charset="-120"/>
              </a:rPr>
              <a:t>=</a:t>
            </a:r>
            <a:pPr algn="l" indent="0" marL="0">
              <a:lnSpc>
                <a:spcPct val="110000"/>
              </a:lnSpc>
              <a:buNone/>
            </a:pPr>
            <a:r>
              <a:rPr lang="en-US" sz="1380" dirty="0">
                <a:solidFill>
                  <a:srgbClr val="C77BD6"/>
                </a:solidFill>
                <a:latin typeface="Courier New" pitchFamily="34" charset="0"/>
                <a:ea typeface="Courier New" pitchFamily="34" charset="-122"/>
                <a:cs typeface="Courier New" pitchFamily="34" charset="-120"/>
              </a:rPr>
              <a:t> </a:t>
            </a:r>
            <a:pPr algn="l" indent="0" marL="0">
              <a:lnSpc>
                <a:spcPct val="110000"/>
              </a:lnSpc>
              <a:buNone/>
            </a:pPr>
            <a:r>
              <a:rPr lang="en-US" sz="1380" dirty="0">
                <a:solidFill>
                  <a:srgbClr val="8FD9B6"/>
                </a:solidFill>
                <a:latin typeface="Courier New" pitchFamily="34" charset="0"/>
                <a:ea typeface="Courier New" pitchFamily="34" charset="-122"/>
                <a:cs typeface="Courier New" pitchFamily="34" charset="-120"/>
              </a:rPr>
              <a:t>"Bronze-DEV"</a:t>
            </a:r>
            <a:endParaRPr lang="en-US" sz="1380" dirty="0"/>
          </a:p>
          <a:p>
            <a:pPr algn="l" indent="0" marL="0">
              <a:lnSpc>
                <a:spcPct val="110000"/>
              </a:lnSpc>
              <a:buNone/>
            </a:pPr>
            <a:r>
              <a:rPr lang="en-US" sz="1380" dirty="0">
                <a:solidFill>
                  <a:srgbClr val="C77BD6"/>
                </a:solidFill>
                <a:latin typeface="Courier New" pitchFamily="34" charset="0"/>
                <a:ea typeface="Courier New" pitchFamily="34" charset="-122"/>
                <a:cs typeface="Courier New" pitchFamily="34" charset="-120"/>
              </a:rPr>
              <a:t>  </a:t>
            </a:r>
            <a:pPr algn="l" indent="0" marL="0">
              <a:lnSpc>
                <a:spcPct val="110000"/>
              </a:lnSpc>
              <a:buNone/>
            </a:pPr>
            <a:r>
              <a:rPr lang="en-US" sz="1380" dirty="0">
                <a:solidFill>
                  <a:srgbClr val="EFE6F2"/>
                </a:solidFill>
                <a:latin typeface="Courier New" pitchFamily="34" charset="0"/>
                <a:ea typeface="Courier New" pitchFamily="34" charset="-122"/>
                <a:cs typeface="Courier New" pitchFamily="34" charset="-120"/>
              </a:rPr>
              <a:t>capacity_id</a:t>
            </a:r>
            <a:pPr algn="l" indent="0" marL="0">
              <a:lnSpc>
                <a:spcPct val="110000"/>
              </a:lnSpc>
              <a:buNone/>
            </a:pPr>
            <a:r>
              <a:rPr lang="en-US" sz="1380" dirty="0">
                <a:solidFill>
                  <a:srgbClr val="C77BD6"/>
                </a:solidFill>
                <a:latin typeface="Courier New" pitchFamily="34" charset="0"/>
                <a:ea typeface="Courier New" pitchFamily="34" charset="-122"/>
                <a:cs typeface="Courier New" pitchFamily="34" charset="-120"/>
              </a:rPr>
              <a:t>  </a:t>
            </a:r>
            <a:pPr algn="l" indent="0" marL="0">
              <a:lnSpc>
                <a:spcPct val="110000"/>
              </a:lnSpc>
              <a:buNone/>
            </a:pPr>
            <a:r>
              <a:rPr lang="en-US" sz="1380" dirty="0">
                <a:solidFill>
                  <a:srgbClr val="C77BD6"/>
                </a:solidFill>
                <a:latin typeface="Courier New" pitchFamily="34" charset="0"/>
                <a:ea typeface="Courier New" pitchFamily="34" charset="-122"/>
                <a:cs typeface="Courier New" pitchFamily="34" charset="-120"/>
              </a:rPr>
              <a:t>=</a:t>
            </a:r>
            <a:pPr algn="l" indent="0" marL="0">
              <a:lnSpc>
                <a:spcPct val="110000"/>
              </a:lnSpc>
              <a:buNone/>
            </a:pPr>
            <a:r>
              <a:rPr lang="en-US" sz="1380" dirty="0">
                <a:solidFill>
                  <a:srgbClr val="C77BD6"/>
                </a:solidFill>
                <a:latin typeface="Courier New" pitchFamily="34" charset="0"/>
                <a:ea typeface="Courier New" pitchFamily="34" charset="-122"/>
                <a:cs typeface="Courier New" pitchFamily="34" charset="-120"/>
              </a:rPr>
              <a:t> </a:t>
            </a:r>
            <a:pPr algn="l" indent="0" marL="0">
              <a:lnSpc>
                <a:spcPct val="110000"/>
              </a:lnSpc>
              <a:buNone/>
            </a:pPr>
            <a:r>
              <a:rPr lang="en-US" sz="1380" dirty="0">
                <a:solidFill>
                  <a:srgbClr val="EFE6F2"/>
                </a:solidFill>
                <a:latin typeface="Courier New" pitchFamily="34" charset="0"/>
                <a:ea typeface="Courier New" pitchFamily="34" charset="-122"/>
                <a:cs typeface="Courier New" pitchFamily="34" charset="-120"/>
              </a:rPr>
              <a:t>var</a:t>
            </a:r>
            <a:pPr algn="l" indent="0" marL="0">
              <a:lnSpc>
                <a:spcPct val="110000"/>
              </a:lnSpc>
              <a:buNone/>
            </a:pPr>
            <a:r>
              <a:rPr lang="en-US" sz="1380" dirty="0">
                <a:solidFill>
                  <a:srgbClr val="C77BD6"/>
                </a:solidFill>
                <a:latin typeface="Courier New" pitchFamily="34" charset="0"/>
                <a:ea typeface="Courier New" pitchFamily="34" charset="-122"/>
                <a:cs typeface="Courier New" pitchFamily="34" charset="-120"/>
              </a:rPr>
              <a:t>.</a:t>
            </a:r>
            <a:pPr algn="l" indent="0" marL="0">
              <a:lnSpc>
                <a:spcPct val="110000"/>
              </a:lnSpc>
              <a:buNone/>
            </a:pPr>
            <a:r>
              <a:rPr lang="en-US" sz="1380" dirty="0">
                <a:solidFill>
                  <a:srgbClr val="EFE6F2"/>
                </a:solidFill>
                <a:latin typeface="Courier New" pitchFamily="34" charset="0"/>
                <a:ea typeface="Courier New" pitchFamily="34" charset="-122"/>
                <a:cs typeface="Courier New" pitchFamily="34" charset="-120"/>
              </a:rPr>
              <a:t>capacity_id</a:t>
            </a:r>
            <a:endParaRPr lang="en-US" sz="1380" dirty="0"/>
          </a:p>
          <a:p>
            <a:pPr algn="l" indent="0" marL="0">
              <a:lnSpc>
                <a:spcPct val="110000"/>
              </a:lnSpc>
              <a:buNone/>
            </a:pPr>
            <a:r>
              <a:rPr lang="en-US" sz="1380" dirty="0">
                <a:solidFill>
                  <a:srgbClr val="C77BD6"/>
                </a:solidFill>
                <a:latin typeface="Courier New" pitchFamily="34" charset="0"/>
                <a:ea typeface="Courier New" pitchFamily="34" charset="-122"/>
                <a:cs typeface="Courier New" pitchFamily="34" charset="-120"/>
              </a:rPr>
              <a:t>}</a:t>
            </a:r>
            <a:endParaRPr lang="en-US" sz="1380" dirty="0"/>
          </a:p>
        </p:txBody>
      </p:sp>
      <p:sp>
        <p:nvSpPr>
          <p:cNvPr id="7" name="Shape 4"/>
          <p:cNvSpPr/>
          <p:nvPr/>
        </p:nvSpPr>
        <p:spPr>
          <a:xfrm>
            <a:off x="10973714" y="3206801"/>
            <a:ext cx="567842" cy="567842"/>
          </a:xfrm>
          <a:prstGeom prst="ellipse">
            <a:avLst/>
          </a:prstGeom>
          <a:solidFill>
            <a:srgbClr val="692179"/>
          </a:solidFill>
          <a:ln w="12700">
            <a:solidFill>
              <a:srgbClr val="692179"/>
            </a:solidFill>
            <a:prstDash val="solid"/>
          </a:ln>
        </p:spPr>
      </p:sp>
      <p:sp>
        <p:nvSpPr>
          <p:cNvPr id="8" name="Text 5"/>
          <p:cNvSpPr txBox="1"/>
          <p:nvPr/>
        </p:nvSpPr>
        <p:spPr>
          <a:xfrm>
            <a:off x="10973714" y="3206801"/>
            <a:ext cx="567842" cy="567842"/>
          </a:xfrm>
          <a:prstGeom prst="rect">
            <a:avLst/>
          </a:prstGeom>
          <a:noFill/>
          <a:ln/>
        </p:spPr>
        <p:txBody>
          <a:bodyPr wrap="square" lIns="0" tIns="0" rIns="0" bIns="0" rtlCol="0" anchor="ctr"/>
          <a:lstStyle/>
          <a:p>
            <a:pPr algn="ctr" indent="0" marL="0">
              <a:buNone/>
            </a:pPr>
            <a:r>
              <a:rPr lang="en-US" sz="1930" b="1" dirty="0">
                <a:solidFill>
                  <a:srgbClr val="FFFFFF"/>
                </a:solidFill>
                <a:latin typeface="Arial" pitchFamily="34" charset="0"/>
                <a:ea typeface="Arial" pitchFamily="34" charset="-122"/>
                <a:cs typeface="Arial" pitchFamily="34" charset="-120"/>
              </a:rPr>
              <a:t>1</a:t>
            </a:r>
            <a:endParaRPr lang="en-US" sz="1930" dirty="0"/>
          </a:p>
        </p:txBody>
      </p:sp>
      <p:sp>
        <p:nvSpPr>
          <p:cNvPr id="9" name="Text 6"/>
          <p:cNvSpPr txBox="1"/>
          <p:nvPr/>
        </p:nvSpPr>
        <p:spPr>
          <a:xfrm>
            <a:off x="11730838" y="3143707"/>
            <a:ext cx="4984394" cy="504749"/>
          </a:xfrm>
          <a:prstGeom prst="rect">
            <a:avLst/>
          </a:prstGeom>
          <a:noFill/>
          <a:ln/>
        </p:spPr>
        <p:txBody>
          <a:bodyPr wrap="square" lIns="0" tIns="0" rIns="0" bIns="0" rtlCol="0" anchor="ctr"/>
          <a:lstStyle/>
          <a:p>
            <a:pPr indent="0" marL="0">
              <a:buNone/>
            </a:pPr>
            <a:r>
              <a:rPr lang="en-US" sz="2070" b="1" dirty="0">
                <a:solidFill>
                  <a:srgbClr val="241028"/>
                </a:solidFill>
                <a:latin typeface="Arial" pitchFamily="34" charset="0"/>
                <a:ea typeface="Arial" pitchFamily="34" charset="-122"/>
                <a:cs typeface="Arial" pitchFamily="34" charset="-120"/>
              </a:rPr>
              <a:t>El bloque terraform</a:t>
            </a:r>
            <a:endParaRPr lang="en-US" sz="2070" dirty="0"/>
          </a:p>
        </p:txBody>
      </p:sp>
      <p:sp>
        <p:nvSpPr>
          <p:cNvPr id="10" name="Text 7"/>
          <p:cNvSpPr txBox="1"/>
          <p:nvPr/>
        </p:nvSpPr>
        <p:spPr>
          <a:xfrm>
            <a:off x="11730838" y="3648456"/>
            <a:ext cx="4984394" cy="820217"/>
          </a:xfrm>
          <a:prstGeom prst="rect">
            <a:avLst/>
          </a:prstGeom>
          <a:noFill/>
          <a:ln/>
        </p:spPr>
        <p:txBody>
          <a:bodyPr wrap="square" lIns="0" tIns="0" rIns="0" bIns="0" rtlCol="0" anchor="t"/>
          <a:lstStyle/>
          <a:p>
            <a:pPr indent="0" marL="0">
              <a:lnSpc>
                <a:spcPct val="110000"/>
              </a:lnSpc>
              <a:buNone/>
            </a:pPr>
            <a:r>
              <a:rPr lang="en-US" sz="1730" dirty="0">
                <a:solidFill>
                  <a:srgbClr val="6E5C73"/>
                </a:solidFill>
                <a:latin typeface="Calibri" pitchFamily="34" charset="0"/>
                <a:ea typeface="Calibri" pitchFamily="34" charset="-122"/>
                <a:cs typeface="Calibri" pitchFamily="34" charset="-120"/>
              </a:rPr>
              <a:t>Declara qué providers necesitas y con qué versión. Se descargan solos.</a:t>
            </a:r>
            <a:endParaRPr lang="en-US" sz="1730" dirty="0"/>
          </a:p>
        </p:txBody>
      </p:sp>
      <p:sp>
        <p:nvSpPr>
          <p:cNvPr id="11" name="Shape 8"/>
          <p:cNvSpPr/>
          <p:nvPr/>
        </p:nvSpPr>
        <p:spPr>
          <a:xfrm>
            <a:off x="10973714" y="4620463"/>
            <a:ext cx="567842" cy="567842"/>
          </a:xfrm>
          <a:prstGeom prst="ellipse">
            <a:avLst/>
          </a:prstGeom>
          <a:solidFill>
            <a:srgbClr val="692179"/>
          </a:solidFill>
          <a:ln w="12700">
            <a:solidFill>
              <a:srgbClr val="692179"/>
            </a:solidFill>
            <a:prstDash val="solid"/>
          </a:ln>
        </p:spPr>
      </p:sp>
      <p:sp>
        <p:nvSpPr>
          <p:cNvPr id="12" name="Text 9"/>
          <p:cNvSpPr txBox="1"/>
          <p:nvPr/>
        </p:nvSpPr>
        <p:spPr>
          <a:xfrm>
            <a:off x="10973714" y="4620463"/>
            <a:ext cx="567842" cy="567842"/>
          </a:xfrm>
          <a:prstGeom prst="rect">
            <a:avLst/>
          </a:prstGeom>
          <a:noFill/>
          <a:ln/>
        </p:spPr>
        <p:txBody>
          <a:bodyPr wrap="square" lIns="0" tIns="0" rIns="0" bIns="0" rtlCol="0" anchor="ctr"/>
          <a:lstStyle/>
          <a:p>
            <a:pPr algn="ctr" indent="0" marL="0">
              <a:buNone/>
            </a:pPr>
            <a:r>
              <a:rPr lang="en-US" sz="1930" b="1" dirty="0">
                <a:solidFill>
                  <a:srgbClr val="FFFFFF"/>
                </a:solidFill>
                <a:latin typeface="Arial" pitchFamily="34" charset="0"/>
                <a:ea typeface="Arial" pitchFamily="34" charset="-122"/>
                <a:cs typeface="Arial" pitchFamily="34" charset="-120"/>
              </a:rPr>
              <a:t>2</a:t>
            </a:r>
            <a:endParaRPr lang="en-US" sz="1930" dirty="0"/>
          </a:p>
        </p:txBody>
      </p:sp>
      <p:sp>
        <p:nvSpPr>
          <p:cNvPr id="13" name="Text 10"/>
          <p:cNvSpPr txBox="1"/>
          <p:nvPr/>
        </p:nvSpPr>
        <p:spPr>
          <a:xfrm>
            <a:off x="11730838" y="4557370"/>
            <a:ext cx="4984394" cy="504749"/>
          </a:xfrm>
          <a:prstGeom prst="rect">
            <a:avLst/>
          </a:prstGeom>
          <a:noFill/>
          <a:ln/>
        </p:spPr>
        <p:txBody>
          <a:bodyPr wrap="square" lIns="0" tIns="0" rIns="0" bIns="0" rtlCol="0" anchor="ctr"/>
          <a:lstStyle/>
          <a:p>
            <a:pPr indent="0" marL="0">
              <a:buNone/>
            </a:pPr>
            <a:r>
              <a:rPr lang="en-US" sz="2070" b="1" dirty="0">
                <a:solidFill>
                  <a:srgbClr val="241028"/>
                </a:solidFill>
                <a:latin typeface="Arial" pitchFamily="34" charset="0"/>
                <a:ea typeface="Arial" pitchFamily="34" charset="-122"/>
                <a:cs typeface="Arial" pitchFamily="34" charset="-120"/>
              </a:rPr>
              <a:t>El bloque provider</a:t>
            </a:r>
            <a:endParaRPr lang="en-US" sz="2070" dirty="0"/>
          </a:p>
        </p:txBody>
      </p:sp>
      <p:sp>
        <p:nvSpPr>
          <p:cNvPr id="14" name="Text 11"/>
          <p:cNvSpPr txBox="1"/>
          <p:nvPr/>
        </p:nvSpPr>
        <p:spPr>
          <a:xfrm>
            <a:off x="11730838" y="5062118"/>
            <a:ext cx="4984394" cy="820217"/>
          </a:xfrm>
          <a:prstGeom prst="rect">
            <a:avLst/>
          </a:prstGeom>
          <a:noFill/>
          <a:ln/>
        </p:spPr>
        <p:txBody>
          <a:bodyPr wrap="square" lIns="0" tIns="0" rIns="0" bIns="0" rtlCol="0" anchor="t"/>
          <a:lstStyle/>
          <a:p>
            <a:pPr indent="0" marL="0">
              <a:lnSpc>
                <a:spcPct val="110000"/>
              </a:lnSpc>
              <a:buNone/>
            </a:pPr>
            <a:r>
              <a:rPr lang="en-US" sz="1730" dirty="0">
                <a:solidFill>
                  <a:srgbClr val="6E5C73"/>
                </a:solidFill>
                <a:latin typeface="Calibri" pitchFamily="34" charset="0"/>
                <a:ea typeface="Calibri" pitchFamily="34" charset="-122"/>
                <a:cs typeface="Calibri" pitchFamily="34" charset="-120"/>
              </a:rPr>
              <a:t>Configura la conexión: tenant, autenticación, flags.</a:t>
            </a:r>
            <a:endParaRPr lang="en-US" sz="1730" dirty="0"/>
          </a:p>
        </p:txBody>
      </p:sp>
      <p:sp>
        <p:nvSpPr>
          <p:cNvPr id="15" name="Shape 12"/>
          <p:cNvSpPr/>
          <p:nvPr/>
        </p:nvSpPr>
        <p:spPr>
          <a:xfrm>
            <a:off x="10973714" y="6034126"/>
            <a:ext cx="567842" cy="567842"/>
          </a:xfrm>
          <a:prstGeom prst="ellipse">
            <a:avLst/>
          </a:prstGeom>
          <a:solidFill>
            <a:srgbClr val="692179"/>
          </a:solidFill>
          <a:ln w="12700">
            <a:solidFill>
              <a:srgbClr val="692179"/>
            </a:solidFill>
            <a:prstDash val="solid"/>
          </a:ln>
        </p:spPr>
      </p:sp>
      <p:sp>
        <p:nvSpPr>
          <p:cNvPr id="16" name="Text 13"/>
          <p:cNvSpPr txBox="1"/>
          <p:nvPr/>
        </p:nvSpPr>
        <p:spPr>
          <a:xfrm>
            <a:off x="10973714" y="6034126"/>
            <a:ext cx="567842" cy="567842"/>
          </a:xfrm>
          <a:prstGeom prst="rect">
            <a:avLst/>
          </a:prstGeom>
          <a:noFill/>
          <a:ln/>
        </p:spPr>
        <p:txBody>
          <a:bodyPr wrap="square" lIns="0" tIns="0" rIns="0" bIns="0" rtlCol="0" anchor="ctr"/>
          <a:lstStyle/>
          <a:p>
            <a:pPr algn="ctr" indent="0" marL="0">
              <a:buNone/>
            </a:pPr>
            <a:r>
              <a:rPr lang="en-US" sz="1930" b="1" dirty="0">
                <a:solidFill>
                  <a:srgbClr val="FFFFFF"/>
                </a:solidFill>
                <a:latin typeface="Arial" pitchFamily="34" charset="0"/>
                <a:ea typeface="Arial" pitchFamily="34" charset="-122"/>
                <a:cs typeface="Arial" pitchFamily="34" charset="-120"/>
              </a:rPr>
              <a:t>3</a:t>
            </a:r>
            <a:endParaRPr lang="en-US" sz="1930" dirty="0"/>
          </a:p>
        </p:txBody>
      </p:sp>
      <p:sp>
        <p:nvSpPr>
          <p:cNvPr id="17" name="Text 14"/>
          <p:cNvSpPr txBox="1"/>
          <p:nvPr/>
        </p:nvSpPr>
        <p:spPr>
          <a:xfrm>
            <a:off x="11730838" y="5971032"/>
            <a:ext cx="4984394" cy="504749"/>
          </a:xfrm>
          <a:prstGeom prst="rect">
            <a:avLst/>
          </a:prstGeom>
          <a:noFill/>
          <a:ln/>
        </p:spPr>
        <p:txBody>
          <a:bodyPr wrap="square" lIns="0" tIns="0" rIns="0" bIns="0" rtlCol="0" anchor="ctr"/>
          <a:lstStyle/>
          <a:p>
            <a:pPr indent="0" marL="0">
              <a:buNone/>
            </a:pPr>
            <a:r>
              <a:rPr lang="en-US" sz="2070" b="1" dirty="0">
                <a:solidFill>
                  <a:srgbClr val="241028"/>
                </a:solidFill>
                <a:latin typeface="Arial" pitchFamily="34" charset="0"/>
                <a:ea typeface="Arial" pitchFamily="34" charset="-122"/>
                <a:cs typeface="Arial" pitchFamily="34" charset="-120"/>
              </a:rPr>
              <a:t>Las variables</a:t>
            </a:r>
            <a:endParaRPr lang="en-US" sz="2070" dirty="0"/>
          </a:p>
        </p:txBody>
      </p:sp>
      <p:sp>
        <p:nvSpPr>
          <p:cNvPr id="18" name="Text 15"/>
          <p:cNvSpPr txBox="1"/>
          <p:nvPr/>
        </p:nvSpPr>
        <p:spPr>
          <a:xfrm>
            <a:off x="11730838" y="6475781"/>
            <a:ext cx="4984394" cy="820217"/>
          </a:xfrm>
          <a:prstGeom prst="rect">
            <a:avLst/>
          </a:prstGeom>
          <a:noFill/>
          <a:ln/>
        </p:spPr>
        <p:txBody>
          <a:bodyPr wrap="square" lIns="0" tIns="0" rIns="0" bIns="0" rtlCol="0" anchor="t"/>
          <a:lstStyle/>
          <a:p>
            <a:pPr indent="0" marL="0">
              <a:lnSpc>
                <a:spcPct val="110000"/>
              </a:lnSpc>
              <a:buNone/>
            </a:pPr>
            <a:r>
              <a:rPr lang="en-US" sz="1730" dirty="0">
                <a:solidFill>
                  <a:srgbClr val="6E5C73"/>
                </a:solidFill>
                <a:latin typeface="Calibri" pitchFamily="34" charset="0"/>
                <a:ea typeface="Calibri" pitchFamily="34" charset="-122"/>
                <a:cs typeface="Calibri" pitchFamily="34" charset="-120"/>
              </a:rPr>
              <a:t>Lo que cambia entre entornos. Aquí no hay valores quemados.</a:t>
            </a:r>
            <a:endParaRPr lang="en-US" sz="1730" dirty="0"/>
          </a:p>
        </p:txBody>
      </p:sp>
      <p:sp>
        <p:nvSpPr>
          <p:cNvPr id="19" name="Shape 16"/>
          <p:cNvSpPr/>
          <p:nvPr/>
        </p:nvSpPr>
        <p:spPr>
          <a:xfrm>
            <a:off x="10973714" y="7446874"/>
            <a:ext cx="567842" cy="567842"/>
          </a:xfrm>
          <a:prstGeom prst="ellipse">
            <a:avLst/>
          </a:prstGeom>
          <a:solidFill>
            <a:srgbClr val="692179"/>
          </a:solidFill>
          <a:ln w="12700">
            <a:solidFill>
              <a:srgbClr val="692179"/>
            </a:solidFill>
            <a:prstDash val="solid"/>
          </a:ln>
        </p:spPr>
      </p:sp>
      <p:sp>
        <p:nvSpPr>
          <p:cNvPr id="20" name="Text 17"/>
          <p:cNvSpPr txBox="1"/>
          <p:nvPr/>
        </p:nvSpPr>
        <p:spPr>
          <a:xfrm>
            <a:off x="10973714" y="7446874"/>
            <a:ext cx="567842" cy="567842"/>
          </a:xfrm>
          <a:prstGeom prst="rect">
            <a:avLst/>
          </a:prstGeom>
          <a:noFill/>
          <a:ln/>
        </p:spPr>
        <p:txBody>
          <a:bodyPr wrap="square" lIns="0" tIns="0" rIns="0" bIns="0" rtlCol="0" anchor="ctr"/>
          <a:lstStyle/>
          <a:p>
            <a:pPr algn="ctr" indent="0" marL="0">
              <a:buNone/>
            </a:pPr>
            <a:r>
              <a:rPr lang="en-US" sz="1930" b="1" dirty="0">
                <a:solidFill>
                  <a:srgbClr val="FFFFFF"/>
                </a:solidFill>
                <a:latin typeface="Arial" pitchFamily="34" charset="0"/>
                <a:ea typeface="Arial" pitchFamily="34" charset="-122"/>
                <a:cs typeface="Arial" pitchFamily="34" charset="-120"/>
              </a:rPr>
              <a:t>4</a:t>
            </a:r>
            <a:endParaRPr lang="en-US" sz="1930" dirty="0"/>
          </a:p>
        </p:txBody>
      </p:sp>
      <p:sp>
        <p:nvSpPr>
          <p:cNvPr id="21" name="Text 18"/>
          <p:cNvSpPr txBox="1"/>
          <p:nvPr/>
        </p:nvSpPr>
        <p:spPr>
          <a:xfrm>
            <a:off x="11730838" y="7383780"/>
            <a:ext cx="4984394" cy="504749"/>
          </a:xfrm>
          <a:prstGeom prst="rect">
            <a:avLst/>
          </a:prstGeom>
          <a:noFill/>
          <a:ln/>
        </p:spPr>
        <p:txBody>
          <a:bodyPr wrap="square" lIns="0" tIns="0" rIns="0" bIns="0" rtlCol="0" anchor="ctr"/>
          <a:lstStyle/>
          <a:p>
            <a:pPr indent="0" marL="0">
              <a:buNone/>
            </a:pPr>
            <a:r>
              <a:rPr lang="en-US" sz="2070" b="1" dirty="0">
                <a:solidFill>
                  <a:srgbClr val="241028"/>
                </a:solidFill>
                <a:latin typeface="Arial" pitchFamily="34" charset="0"/>
                <a:ea typeface="Arial" pitchFamily="34" charset="-122"/>
                <a:cs typeface="Arial" pitchFamily="34" charset="-120"/>
              </a:rPr>
              <a:t>Los recursos</a:t>
            </a:r>
            <a:endParaRPr lang="en-US" sz="2070" dirty="0"/>
          </a:p>
        </p:txBody>
      </p:sp>
      <p:sp>
        <p:nvSpPr>
          <p:cNvPr id="22" name="Text 19"/>
          <p:cNvSpPr txBox="1"/>
          <p:nvPr/>
        </p:nvSpPr>
        <p:spPr>
          <a:xfrm>
            <a:off x="11730838" y="7888529"/>
            <a:ext cx="4984394" cy="820217"/>
          </a:xfrm>
          <a:prstGeom prst="rect">
            <a:avLst/>
          </a:prstGeom>
          <a:noFill/>
          <a:ln/>
        </p:spPr>
        <p:txBody>
          <a:bodyPr wrap="square" lIns="0" tIns="0" rIns="0" bIns="0" rtlCol="0" anchor="t"/>
          <a:lstStyle/>
          <a:p>
            <a:pPr indent="0" marL="0">
              <a:lnSpc>
                <a:spcPct val="110000"/>
              </a:lnSpc>
              <a:buNone/>
            </a:pPr>
            <a:r>
              <a:rPr lang="en-US" sz="1730" dirty="0">
                <a:solidFill>
                  <a:srgbClr val="6E5C73"/>
                </a:solidFill>
                <a:latin typeface="Calibri" pitchFamily="34" charset="0"/>
                <a:ea typeface="Calibri" pitchFamily="34" charset="-122"/>
                <a:cs typeface="Calibri" pitchFamily="34" charset="-120"/>
              </a:rPr>
              <a:t>Lo que de verdad quieres que exista al otro lado.</a:t>
            </a:r>
            <a:endParaRPr lang="en-US" sz="1730" dirty="0"/>
          </a:p>
        </p:txBody>
      </p:sp>
      <p:sp>
        <p:nvSpPr>
          <p:cNvPr id="23" name="Text 20"/>
          <p:cNvSpPr txBox="1"/>
          <p:nvPr/>
        </p:nvSpPr>
        <p:spPr>
          <a:xfrm>
            <a:off x="1572768" y="8885225"/>
            <a:ext cx="15142464" cy="567842"/>
          </a:xfrm>
          <a:prstGeom prst="rect">
            <a:avLst/>
          </a:prstGeom>
          <a:noFill/>
          <a:ln/>
        </p:spPr>
        <p:txBody>
          <a:bodyPr wrap="square" lIns="0" tIns="0" rIns="0" bIns="0" rtlCol="0" anchor="ctr"/>
          <a:lstStyle/>
          <a:p>
            <a:pPr indent="0" marL="0">
              <a:buNone/>
            </a:pPr>
            <a:r>
              <a:rPr lang="en-US" sz="1930" i="1" dirty="0">
                <a:solidFill>
                  <a:srgbClr val="692179"/>
                </a:solidFill>
                <a:latin typeface="Calibri" pitchFamily="34" charset="0"/>
                <a:ea typeface="Calibri" pitchFamily="34" charset="-122"/>
                <a:cs typeface="Calibri" pitchFamily="34" charset="-120"/>
              </a:rPr>
              <a:t>21 líneas. Eso es todo lo que hay entre tú y tu primer workspace versionado.</a:t>
            </a:r>
            <a:endParaRPr lang="en-US" sz="193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pic>
        <p:nvPicPr>
          <p:cNvPr id="2" name="Image 0" descr="/home/claude/bg-dark.jpg">    </p:cNvPr>
          <p:cNvPicPr>
            <a:picLocks noChangeAspect="1"/>
          </p:cNvPicPr>
          <p:nvPr/>
        </p:nvPicPr>
        <p:blipFill>
          <a:blip r:embed="rId1"/>
          <a:stretch>
            <a:fillRect/>
          </a:stretch>
        </p:blipFill>
        <p:spPr>
          <a:xfrm>
            <a:off x="0" y="0"/>
            <a:ext cx="18288000" cy="10287000"/>
          </a:xfrm>
          <a:prstGeom prst="rect">
            <a:avLst/>
          </a:prstGeom>
        </p:spPr>
      </p:pic>
      <p:sp>
        <p:nvSpPr>
          <p:cNvPr id="3" name="Text 0"/>
          <p:cNvSpPr txBox="1"/>
          <p:nvPr/>
        </p:nvSpPr>
        <p:spPr>
          <a:xfrm>
            <a:off x="1572768" y="3459175"/>
            <a:ext cx="4037990" cy="2523744"/>
          </a:xfrm>
          <a:prstGeom prst="rect">
            <a:avLst/>
          </a:prstGeom>
          <a:noFill/>
          <a:ln/>
        </p:spPr>
        <p:txBody>
          <a:bodyPr wrap="square" lIns="0" tIns="0" rIns="0" bIns="0" rtlCol="0" anchor="ctr"/>
          <a:lstStyle/>
          <a:p>
            <a:pPr algn="l" indent="0" marL="0">
              <a:buNone/>
            </a:pPr>
            <a:r>
              <a:rPr lang="en-US" sz="14350" b="1" dirty="0">
                <a:solidFill>
                  <a:srgbClr val="F59120"/>
                </a:solidFill>
                <a:latin typeface="Arial" pitchFamily="34" charset="0"/>
                <a:ea typeface="Arial" pitchFamily="34" charset="-122"/>
                <a:cs typeface="Arial" pitchFamily="34" charset="-120"/>
              </a:rPr>
              <a:t>03</a:t>
            </a:r>
            <a:endParaRPr lang="en-US" sz="14350" dirty="0"/>
          </a:p>
        </p:txBody>
      </p:sp>
      <p:sp>
        <p:nvSpPr>
          <p:cNvPr id="4" name="Text 1"/>
          <p:cNvSpPr txBox="1"/>
          <p:nvPr/>
        </p:nvSpPr>
        <p:spPr>
          <a:xfrm>
            <a:off x="5169103" y="3837737"/>
            <a:ext cx="11230661" cy="1261872"/>
          </a:xfrm>
          <a:prstGeom prst="rect">
            <a:avLst/>
          </a:prstGeom>
          <a:noFill/>
          <a:ln/>
        </p:spPr>
        <p:txBody>
          <a:bodyPr wrap="square" lIns="0" tIns="0" rIns="0" bIns="0" rtlCol="0" anchor="ctr"/>
          <a:lstStyle/>
          <a:p>
            <a:pPr algn="l" indent="0" marL="0">
              <a:buNone/>
            </a:pPr>
            <a:r>
              <a:rPr lang="en-US" sz="5240" b="1" dirty="0">
                <a:solidFill>
                  <a:srgbClr val="FFFFFF"/>
                </a:solidFill>
                <a:latin typeface="Arial" pitchFamily="34" charset="0"/>
                <a:ea typeface="Arial" pitchFamily="34" charset="-122"/>
                <a:cs typeface="Arial" pitchFamily="34" charset="-120"/>
              </a:rPr>
              <a:t>¿Cómo funciona por dentro?</a:t>
            </a:r>
            <a:endParaRPr lang="en-US" sz="5240" dirty="0"/>
          </a:p>
        </p:txBody>
      </p:sp>
      <p:sp>
        <p:nvSpPr>
          <p:cNvPr id="5" name="Text 2"/>
          <p:cNvSpPr txBox="1"/>
          <p:nvPr/>
        </p:nvSpPr>
        <p:spPr>
          <a:xfrm>
            <a:off x="5232197" y="5225796"/>
            <a:ext cx="11230661" cy="757123"/>
          </a:xfrm>
          <a:prstGeom prst="rect">
            <a:avLst/>
          </a:prstGeom>
          <a:noFill/>
          <a:ln/>
        </p:spPr>
        <p:txBody>
          <a:bodyPr wrap="square" lIns="0" tIns="0" rIns="0" bIns="0" rtlCol="0" anchor="t"/>
          <a:lstStyle/>
          <a:p>
            <a:pPr algn="l" indent="0" marL="0">
              <a:buNone/>
            </a:pPr>
            <a:r>
              <a:rPr lang="en-US" sz="2350" i="1" dirty="0">
                <a:solidFill>
                  <a:srgbClr val="FFFFFF"/>
                </a:solidFill>
                <a:latin typeface="Calibri" pitchFamily="34" charset="0"/>
                <a:ea typeface="Calibri" pitchFamily="34" charset="-122"/>
                <a:cs typeface="Calibri" pitchFamily="34" charset="-120"/>
              </a:rPr>
              <a:t>El estado, el plan y por qué puedes aplicar sin sudar.</a:t>
            </a:r>
            <a:endParaRPr lang="en-US" sz="23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pic>
        <p:nvPicPr>
          <p:cNvPr id="2" name="Image 0" descr="/home/claude/bg-white.jpg">    </p:cNvPr>
          <p:cNvPicPr>
            <a:picLocks noChangeAspect="1"/>
          </p:cNvPicPr>
          <p:nvPr/>
        </p:nvPicPr>
        <p:blipFill>
          <a:blip r:embed="rId1"/>
          <a:stretch>
            <a:fillRect/>
          </a:stretch>
        </p:blipFill>
        <p:spPr>
          <a:xfrm>
            <a:off x="0" y="0"/>
            <a:ext cx="18288000" cy="10287000"/>
          </a:xfrm>
          <a:prstGeom prst="rect">
            <a:avLst/>
          </a:prstGeom>
        </p:spPr>
      </p:pic>
      <p:sp>
        <p:nvSpPr>
          <p:cNvPr id="3" name="Text 0"/>
          <p:cNvSpPr txBox="1"/>
          <p:nvPr/>
        </p:nvSpPr>
        <p:spPr>
          <a:xfrm>
            <a:off x="1572768" y="1024128"/>
            <a:ext cx="15142464" cy="404165"/>
          </a:xfrm>
          <a:prstGeom prst="rect">
            <a:avLst/>
          </a:prstGeom>
          <a:noFill/>
          <a:ln/>
        </p:spPr>
        <p:txBody>
          <a:bodyPr wrap="square" lIns="0" tIns="0" rIns="0" bIns="0" rtlCol="0" anchor="ctr"/>
          <a:lstStyle/>
          <a:p>
            <a:pPr indent="0" marL="0">
              <a:buNone/>
            </a:pPr>
            <a:r>
              <a:rPr lang="en-US" sz="1660" b="1" spc="345" kern="0" dirty="0">
                <a:solidFill>
                  <a:srgbClr val="692179"/>
                </a:solidFill>
                <a:latin typeface="Calibri" pitchFamily="34" charset="0"/>
                <a:ea typeface="Calibri" pitchFamily="34" charset="-122"/>
                <a:cs typeface="Calibri" pitchFamily="34" charset="-120"/>
              </a:rPr>
              <a:t>BLOQUE 3 · CÓMO FUNCIONA</a:t>
            </a:r>
            <a:endParaRPr lang="en-US" sz="1660" dirty="0"/>
          </a:p>
        </p:txBody>
      </p:sp>
      <p:sp>
        <p:nvSpPr>
          <p:cNvPr id="4" name="Text 1"/>
          <p:cNvSpPr txBox="1"/>
          <p:nvPr/>
        </p:nvSpPr>
        <p:spPr>
          <a:xfrm>
            <a:off x="1572768" y="1440180"/>
            <a:ext cx="15142464" cy="1072591"/>
          </a:xfrm>
          <a:prstGeom prst="rect">
            <a:avLst/>
          </a:prstGeom>
          <a:noFill/>
          <a:ln/>
        </p:spPr>
        <p:txBody>
          <a:bodyPr wrap="square" lIns="0" tIns="0" rIns="0" bIns="0" rtlCol="0" anchor="ctr"/>
          <a:lstStyle/>
          <a:p>
            <a:pPr algn="l" indent="0" marL="0">
              <a:buNone/>
            </a:pPr>
            <a:r>
              <a:rPr lang="en-US" sz="4690" b="1" dirty="0">
                <a:solidFill>
                  <a:srgbClr val="241028"/>
                </a:solidFill>
                <a:latin typeface="Arial" pitchFamily="34" charset="0"/>
                <a:ea typeface="Arial" pitchFamily="34" charset="-122"/>
                <a:cs typeface="Arial" pitchFamily="34" charset="-120"/>
              </a:rPr>
              <a:t>Terraform compara siempre tres cosas</a:t>
            </a:r>
            <a:endParaRPr lang="en-US" sz="4690" dirty="0"/>
          </a:p>
        </p:txBody>
      </p:sp>
      <p:sp>
        <p:nvSpPr>
          <p:cNvPr id="5" name="Shape 2"/>
          <p:cNvSpPr/>
          <p:nvPr/>
        </p:nvSpPr>
        <p:spPr>
          <a:xfrm>
            <a:off x="1572768" y="3143707"/>
            <a:ext cx="4845406" cy="3596335"/>
          </a:xfrm>
          <a:prstGeom prst="roundRect">
            <a:avLst>
              <a:gd name="adj" fmla="val 3509"/>
            </a:avLst>
          </a:prstGeom>
          <a:solidFill>
            <a:srgbClr val="F5ECF7"/>
          </a:solidFill>
          <a:ln w="12700">
            <a:solidFill>
              <a:srgbClr val="F5ECF7"/>
            </a:solidFill>
            <a:prstDash val="solid"/>
          </a:ln>
        </p:spPr>
      </p:sp>
      <p:sp>
        <p:nvSpPr>
          <p:cNvPr id="6" name="Shape 3"/>
          <p:cNvSpPr/>
          <p:nvPr/>
        </p:nvSpPr>
        <p:spPr>
          <a:xfrm>
            <a:off x="1951330" y="3459175"/>
            <a:ext cx="630936" cy="630936"/>
          </a:xfrm>
          <a:prstGeom prst="ellipse">
            <a:avLst/>
          </a:prstGeom>
          <a:solidFill>
            <a:srgbClr val="692179"/>
          </a:solidFill>
          <a:ln w="12700">
            <a:solidFill>
              <a:srgbClr val="692179"/>
            </a:solidFill>
            <a:prstDash val="solid"/>
          </a:ln>
        </p:spPr>
      </p:sp>
      <p:sp>
        <p:nvSpPr>
          <p:cNvPr id="7" name="Text 4"/>
          <p:cNvSpPr txBox="1"/>
          <p:nvPr/>
        </p:nvSpPr>
        <p:spPr>
          <a:xfrm>
            <a:off x="1951330" y="4254703"/>
            <a:ext cx="4088282" cy="530352"/>
          </a:xfrm>
          <a:prstGeom prst="rect">
            <a:avLst/>
          </a:prstGeom>
          <a:noFill/>
          <a:ln/>
        </p:spPr>
        <p:txBody>
          <a:bodyPr wrap="square" lIns="0" tIns="0" rIns="0" bIns="0" rtlCol="0" anchor="ctr"/>
          <a:lstStyle/>
          <a:p>
            <a:pPr indent="0" marL="0">
              <a:buNone/>
            </a:pPr>
            <a:r>
              <a:rPr lang="en-US" sz="2350" b="1" dirty="0">
                <a:solidFill>
                  <a:srgbClr val="692179"/>
                </a:solidFill>
                <a:latin typeface="Arial" pitchFamily="34" charset="0"/>
                <a:ea typeface="Arial" pitchFamily="34" charset="-122"/>
                <a:cs typeface="Arial" pitchFamily="34" charset="-120"/>
              </a:rPr>
              <a:t>TU CÓDIGO</a:t>
            </a:r>
            <a:endParaRPr lang="en-US" sz="2350" dirty="0"/>
          </a:p>
        </p:txBody>
      </p:sp>
      <p:sp>
        <p:nvSpPr>
          <p:cNvPr id="8" name="Text 5"/>
          <p:cNvSpPr txBox="1"/>
          <p:nvPr/>
        </p:nvSpPr>
        <p:spPr>
          <a:xfrm>
            <a:off x="1951330" y="4809744"/>
            <a:ext cx="4088282" cy="479146"/>
          </a:xfrm>
          <a:prstGeom prst="rect">
            <a:avLst/>
          </a:prstGeom>
          <a:noFill/>
          <a:ln/>
        </p:spPr>
        <p:txBody>
          <a:bodyPr wrap="square" lIns="0" tIns="0" rIns="0" bIns="0" rtlCol="0" anchor="ctr"/>
          <a:lstStyle/>
          <a:p>
            <a:pPr indent="0" marL="0">
              <a:buNone/>
            </a:pPr>
            <a:r>
              <a:rPr lang="en-US" sz="1790" dirty="0">
                <a:solidFill>
                  <a:srgbClr val="241028"/>
                </a:solidFill>
                <a:latin typeface="Courier New" pitchFamily="34" charset="0"/>
                <a:ea typeface="Courier New" pitchFamily="34" charset="-122"/>
                <a:cs typeface="Courier New" pitchFamily="34" charset="-120"/>
              </a:rPr>
              <a:t>*.tf</a:t>
            </a:r>
            <a:endParaRPr lang="en-US" sz="1790" dirty="0"/>
          </a:p>
        </p:txBody>
      </p:sp>
      <p:sp>
        <p:nvSpPr>
          <p:cNvPr id="9" name="Text 6"/>
          <p:cNvSpPr txBox="1"/>
          <p:nvPr/>
        </p:nvSpPr>
        <p:spPr>
          <a:xfrm>
            <a:off x="1951330" y="5390388"/>
            <a:ext cx="4088282" cy="1198778"/>
          </a:xfrm>
          <a:prstGeom prst="rect">
            <a:avLst/>
          </a:prstGeom>
          <a:noFill/>
          <a:ln/>
        </p:spPr>
        <p:txBody>
          <a:bodyPr wrap="square" lIns="0" tIns="0" rIns="0" bIns="0" rtlCol="0" anchor="t"/>
          <a:lstStyle/>
          <a:p>
            <a:pPr indent="0" marL="0">
              <a:lnSpc>
                <a:spcPct val="115000"/>
              </a:lnSpc>
              <a:buNone/>
            </a:pPr>
            <a:r>
              <a:rPr lang="en-US" sz="1930" dirty="0">
                <a:solidFill>
                  <a:srgbClr val="6E5C73"/>
                </a:solidFill>
                <a:latin typeface="Calibri" pitchFamily="34" charset="0"/>
                <a:ea typeface="Calibri" pitchFamily="34" charset="-122"/>
                <a:cs typeface="Calibri" pitchFamily="34" charset="-120"/>
              </a:rPr>
              <a:t>Lo que tú quieres</a:t>
            </a:r>
            <a:endParaRPr lang="en-US" sz="1930" dirty="0"/>
          </a:p>
          <a:p>
            <a:pPr indent="0" marL="0">
              <a:lnSpc>
                <a:spcPct val="115000"/>
              </a:lnSpc>
              <a:buNone/>
            </a:pPr>
            <a:r>
              <a:rPr lang="en-US" sz="1930" dirty="0">
                <a:solidFill>
                  <a:srgbClr val="6E5C73"/>
                </a:solidFill>
                <a:latin typeface="Calibri" pitchFamily="34" charset="0"/>
                <a:ea typeface="Calibri" pitchFamily="34" charset="-122"/>
                <a:cs typeface="Calibri" pitchFamily="34" charset="-120"/>
              </a:rPr>
              <a:t>que exista</a:t>
            </a:r>
            <a:endParaRPr lang="en-US" sz="1930" dirty="0"/>
          </a:p>
        </p:txBody>
      </p:sp>
      <p:sp>
        <p:nvSpPr>
          <p:cNvPr id="10" name="Shape 7"/>
          <p:cNvSpPr/>
          <p:nvPr/>
        </p:nvSpPr>
        <p:spPr>
          <a:xfrm>
            <a:off x="6720840" y="3143707"/>
            <a:ext cx="4845406" cy="3596335"/>
          </a:xfrm>
          <a:prstGeom prst="roundRect">
            <a:avLst>
              <a:gd name="adj" fmla="val 3509"/>
            </a:avLst>
          </a:prstGeom>
          <a:solidFill>
            <a:srgbClr val="F5ECF7"/>
          </a:solidFill>
          <a:ln w="12700">
            <a:solidFill>
              <a:srgbClr val="F5ECF7"/>
            </a:solidFill>
            <a:prstDash val="solid"/>
          </a:ln>
        </p:spPr>
      </p:sp>
      <p:sp>
        <p:nvSpPr>
          <p:cNvPr id="11" name="Shape 8"/>
          <p:cNvSpPr/>
          <p:nvPr/>
        </p:nvSpPr>
        <p:spPr>
          <a:xfrm>
            <a:off x="7099402" y="3459175"/>
            <a:ext cx="630936" cy="630936"/>
          </a:xfrm>
          <a:prstGeom prst="ellipse">
            <a:avLst/>
          </a:prstGeom>
          <a:solidFill>
            <a:srgbClr val="2BB5A0"/>
          </a:solidFill>
          <a:ln w="12700">
            <a:solidFill>
              <a:srgbClr val="2BB5A0"/>
            </a:solidFill>
            <a:prstDash val="solid"/>
          </a:ln>
        </p:spPr>
      </p:sp>
      <p:sp>
        <p:nvSpPr>
          <p:cNvPr id="12" name="Text 9"/>
          <p:cNvSpPr txBox="1"/>
          <p:nvPr/>
        </p:nvSpPr>
        <p:spPr>
          <a:xfrm>
            <a:off x="7099402" y="4254703"/>
            <a:ext cx="4088282" cy="530352"/>
          </a:xfrm>
          <a:prstGeom prst="rect">
            <a:avLst/>
          </a:prstGeom>
          <a:noFill/>
          <a:ln/>
        </p:spPr>
        <p:txBody>
          <a:bodyPr wrap="square" lIns="0" tIns="0" rIns="0" bIns="0" rtlCol="0" anchor="ctr"/>
          <a:lstStyle/>
          <a:p>
            <a:pPr indent="0" marL="0">
              <a:buNone/>
            </a:pPr>
            <a:r>
              <a:rPr lang="en-US" sz="2350" b="1" dirty="0">
                <a:solidFill>
                  <a:srgbClr val="2BB5A0"/>
                </a:solidFill>
                <a:latin typeface="Arial" pitchFamily="34" charset="0"/>
                <a:ea typeface="Arial" pitchFamily="34" charset="-122"/>
                <a:cs typeface="Arial" pitchFamily="34" charset="-120"/>
              </a:rPr>
              <a:t>EL ESTADO</a:t>
            </a:r>
            <a:endParaRPr lang="en-US" sz="2350" dirty="0"/>
          </a:p>
        </p:txBody>
      </p:sp>
      <p:sp>
        <p:nvSpPr>
          <p:cNvPr id="13" name="Text 10"/>
          <p:cNvSpPr txBox="1"/>
          <p:nvPr/>
        </p:nvSpPr>
        <p:spPr>
          <a:xfrm>
            <a:off x="7099402" y="4809744"/>
            <a:ext cx="4088282" cy="479146"/>
          </a:xfrm>
          <a:prstGeom prst="rect">
            <a:avLst/>
          </a:prstGeom>
          <a:noFill/>
          <a:ln/>
        </p:spPr>
        <p:txBody>
          <a:bodyPr wrap="square" lIns="0" tIns="0" rIns="0" bIns="0" rtlCol="0" anchor="ctr"/>
          <a:lstStyle/>
          <a:p>
            <a:pPr indent="0" marL="0">
              <a:buNone/>
            </a:pPr>
            <a:r>
              <a:rPr lang="en-US" sz="1790" dirty="0">
                <a:solidFill>
                  <a:srgbClr val="241028"/>
                </a:solidFill>
                <a:latin typeface="Courier New" pitchFamily="34" charset="0"/>
                <a:ea typeface="Courier New" pitchFamily="34" charset="-122"/>
                <a:cs typeface="Courier New" pitchFamily="34" charset="-120"/>
              </a:rPr>
              <a:t>terraform.tfstate</a:t>
            </a:r>
            <a:endParaRPr lang="en-US" sz="1790" dirty="0"/>
          </a:p>
        </p:txBody>
      </p:sp>
      <p:sp>
        <p:nvSpPr>
          <p:cNvPr id="14" name="Text 11"/>
          <p:cNvSpPr txBox="1"/>
          <p:nvPr/>
        </p:nvSpPr>
        <p:spPr>
          <a:xfrm>
            <a:off x="7099402" y="5390388"/>
            <a:ext cx="4088282" cy="1198778"/>
          </a:xfrm>
          <a:prstGeom prst="rect">
            <a:avLst/>
          </a:prstGeom>
          <a:noFill/>
          <a:ln/>
        </p:spPr>
        <p:txBody>
          <a:bodyPr wrap="square" lIns="0" tIns="0" rIns="0" bIns="0" rtlCol="0" anchor="t"/>
          <a:lstStyle/>
          <a:p>
            <a:pPr indent="0" marL="0">
              <a:lnSpc>
                <a:spcPct val="115000"/>
              </a:lnSpc>
              <a:buNone/>
            </a:pPr>
            <a:r>
              <a:rPr lang="en-US" sz="1930" dirty="0">
                <a:solidFill>
                  <a:srgbClr val="6E5C73"/>
                </a:solidFill>
                <a:latin typeface="Calibri" pitchFamily="34" charset="0"/>
                <a:ea typeface="Calibri" pitchFamily="34" charset="-122"/>
                <a:cs typeface="Calibri" pitchFamily="34" charset="-120"/>
              </a:rPr>
              <a:t>Lo que Terraform</a:t>
            </a:r>
            <a:endParaRPr lang="en-US" sz="1930" dirty="0"/>
          </a:p>
          <a:p>
            <a:pPr indent="0" marL="0">
              <a:lnSpc>
                <a:spcPct val="115000"/>
              </a:lnSpc>
              <a:buNone/>
            </a:pPr>
            <a:r>
              <a:rPr lang="en-US" sz="1930" dirty="0">
                <a:solidFill>
                  <a:srgbClr val="6E5C73"/>
                </a:solidFill>
                <a:latin typeface="Calibri" pitchFamily="34" charset="0"/>
                <a:ea typeface="Calibri" pitchFamily="34" charset="-122"/>
                <a:cs typeface="Calibri" pitchFamily="34" charset="-120"/>
              </a:rPr>
              <a:t>cree que creó</a:t>
            </a:r>
            <a:endParaRPr lang="en-US" sz="1930" dirty="0"/>
          </a:p>
        </p:txBody>
      </p:sp>
      <p:sp>
        <p:nvSpPr>
          <p:cNvPr id="15" name="Shape 12"/>
          <p:cNvSpPr/>
          <p:nvPr/>
        </p:nvSpPr>
        <p:spPr>
          <a:xfrm>
            <a:off x="11869826" y="3143707"/>
            <a:ext cx="4845406" cy="3596335"/>
          </a:xfrm>
          <a:prstGeom prst="roundRect">
            <a:avLst>
              <a:gd name="adj" fmla="val 3509"/>
            </a:avLst>
          </a:prstGeom>
          <a:solidFill>
            <a:srgbClr val="F5ECF7"/>
          </a:solidFill>
          <a:ln w="12700">
            <a:solidFill>
              <a:srgbClr val="F5ECF7"/>
            </a:solidFill>
            <a:prstDash val="solid"/>
          </a:ln>
        </p:spPr>
      </p:sp>
      <p:sp>
        <p:nvSpPr>
          <p:cNvPr id="16" name="Shape 13"/>
          <p:cNvSpPr/>
          <p:nvPr/>
        </p:nvSpPr>
        <p:spPr>
          <a:xfrm>
            <a:off x="12248388" y="3459175"/>
            <a:ext cx="630936" cy="630936"/>
          </a:xfrm>
          <a:prstGeom prst="ellipse">
            <a:avLst/>
          </a:prstGeom>
          <a:solidFill>
            <a:srgbClr val="F59120"/>
          </a:solidFill>
          <a:ln w="12700">
            <a:solidFill>
              <a:srgbClr val="F59120"/>
            </a:solidFill>
            <a:prstDash val="solid"/>
          </a:ln>
        </p:spPr>
      </p:sp>
      <p:sp>
        <p:nvSpPr>
          <p:cNvPr id="17" name="Text 14"/>
          <p:cNvSpPr txBox="1"/>
          <p:nvPr/>
        </p:nvSpPr>
        <p:spPr>
          <a:xfrm>
            <a:off x="12248388" y="4254703"/>
            <a:ext cx="4088282" cy="530352"/>
          </a:xfrm>
          <a:prstGeom prst="rect">
            <a:avLst/>
          </a:prstGeom>
          <a:noFill/>
          <a:ln/>
        </p:spPr>
        <p:txBody>
          <a:bodyPr wrap="square" lIns="0" tIns="0" rIns="0" bIns="0" rtlCol="0" anchor="ctr"/>
          <a:lstStyle/>
          <a:p>
            <a:pPr indent="0" marL="0">
              <a:buNone/>
            </a:pPr>
            <a:r>
              <a:rPr lang="en-US" sz="2350" b="1" dirty="0">
                <a:solidFill>
                  <a:srgbClr val="F59120"/>
                </a:solidFill>
                <a:latin typeface="Arial" pitchFamily="34" charset="0"/>
                <a:ea typeface="Arial" pitchFamily="34" charset="-122"/>
                <a:cs typeface="Arial" pitchFamily="34" charset="-120"/>
              </a:rPr>
              <a:t>LA REALIDAD</a:t>
            </a:r>
            <a:endParaRPr lang="en-US" sz="2350" dirty="0"/>
          </a:p>
        </p:txBody>
      </p:sp>
      <p:sp>
        <p:nvSpPr>
          <p:cNvPr id="18" name="Text 15"/>
          <p:cNvSpPr txBox="1"/>
          <p:nvPr/>
        </p:nvSpPr>
        <p:spPr>
          <a:xfrm>
            <a:off x="12248388" y="4809744"/>
            <a:ext cx="4088282" cy="479146"/>
          </a:xfrm>
          <a:prstGeom prst="rect">
            <a:avLst/>
          </a:prstGeom>
          <a:noFill/>
          <a:ln/>
        </p:spPr>
        <p:txBody>
          <a:bodyPr wrap="square" lIns="0" tIns="0" rIns="0" bIns="0" rtlCol="0" anchor="ctr"/>
          <a:lstStyle/>
          <a:p>
            <a:pPr indent="0" marL="0">
              <a:buNone/>
            </a:pPr>
            <a:r>
              <a:rPr lang="en-US" sz="1790" dirty="0">
                <a:solidFill>
                  <a:srgbClr val="241028"/>
                </a:solidFill>
                <a:latin typeface="Courier New" pitchFamily="34" charset="0"/>
                <a:ea typeface="Courier New" pitchFamily="34" charset="-122"/>
                <a:cs typeface="Courier New" pitchFamily="34" charset="-120"/>
              </a:rPr>
              <a:t>Microsoft Fabric</a:t>
            </a:r>
            <a:endParaRPr lang="en-US" sz="1790" dirty="0"/>
          </a:p>
        </p:txBody>
      </p:sp>
      <p:sp>
        <p:nvSpPr>
          <p:cNvPr id="19" name="Text 16"/>
          <p:cNvSpPr txBox="1"/>
          <p:nvPr/>
        </p:nvSpPr>
        <p:spPr>
          <a:xfrm>
            <a:off x="12248388" y="5390388"/>
            <a:ext cx="4088282" cy="1198778"/>
          </a:xfrm>
          <a:prstGeom prst="rect">
            <a:avLst/>
          </a:prstGeom>
          <a:noFill/>
          <a:ln/>
        </p:spPr>
        <p:txBody>
          <a:bodyPr wrap="square" lIns="0" tIns="0" rIns="0" bIns="0" rtlCol="0" anchor="t"/>
          <a:lstStyle/>
          <a:p>
            <a:pPr indent="0" marL="0">
              <a:lnSpc>
                <a:spcPct val="115000"/>
              </a:lnSpc>
              <a:buNone/>
            </a:pPr>
            <a:r>
              <a:rPr lang="en-US" sz="1930" dirty="0">
                <a:solidFill>
                  <a:srgbClr val="6E5C73"/>
                </a:solidFill>
                <a:latin typeface="Calibri" pitchFamily="34" charset="0"/>
                <a:ea typeface="Calibri" pitchFamily="34" charset="-122"/>
                <a:cs typeface="Calibri" pitchFamily="34" charset="-120"/>
              </a:rPr>
              <a:t>Lo que de verdad</a:t>
            </a:r>
            <a:endParaRPr lang="en-US" sz="1930" dirty="0"/>
          </a:p>
          <a:p>
            <a:pPr indent="0" marL="0">
              <a:lnSpc>
                <a:spcPct val="115000"/>
              </a:lnSpc>
              <a:buNone/>
            </a:pPr>
            <a:r>
              <a:rPr lang="en-US" sz="1930" dirty="0">
                <a:solidFill>
                  <a:srgbClr val="6E5C73"/>
                </a:solidFill>
                <a:latin typeface="Calibri" pitchFamily="34" charset="0"/>
                <a:ea typeface="Calibri" pitchFamily="34" charset="-122"/>
                <a:cs typeface="Calibri" pitchFamily="34" charset="-120"/>
              </a:rPr>
              <a:t>hay ahora mismo</a:t>
            </a:r>
            <a:endParaRPr lang="en-US" sz="1930" dirty="0"/>
          </a:p>
        </p:txBody>
      </p:sp>
      <p:sp>
        <p:nvSpPr>
          <p:cNvPr id="20" name="Shape 17"/>
          <p:cNvSpPr/>
          <p:nvPr/>
        </p:nvSpPr>
        <p:spPr>
          <a:xfrm>
            <a:off x="1572768" y="7181698"/>
            <a:ext cx="15142464" cy="2082089"/>
          </a:xfrm>
          <a:prstGeom prst="roundRect">
            <a:avLst>
              <a:gd name="adj" fmla="val 6061"/>
            </a:avLst>
          </a:prstGeom>
          <a:solidFill>
            <a:srgbClr val="2A0E33"/>
          </a:solidFill>
          <a:ln w="12700">
            <a:solidFill>
              <a:srgbClr val="2A0E33"/>
            </a:solidFill>
            <a:prstDash val="solid"/>
          </a:ln>
        </p:spPr>
      </p:sp>
      <p:sp>
        <p:nvSpPr>
          <p:cNvPr id="21" name="Text 18"/>
          <p:cNvSpPr txBox="1"/>
          <p:nvPr/>
        </p:nvSpPr>
        <p:spPr>
          <a:xfrm>
            <a:off x="2077517" y="7434072"/>
            <a:ext cx="14132966" cy="630936"/>
          </a:xfrm>
          <a:prstGeom prst="rect">
            <a:avLst/>
          </a:prstGeom>
          <a:noFill/>
          <a:ln/>
        </p:spPr>
        <p:txBody>
          <a:bodyPr wrap="square" lIns="0" tIns="0" rIns="0" bIns="0" rtlCol="0" anchor="ctr"/>
          <a:lstStyle/>
          <a:p>
            <a:pPr indent="0" marL="0">
              <a:buNone/>
            </a:pPr>
            <a:r>
              <a:rPr lang="en-US" sz="2760" b="1" dirty="0">
                <a:solidFill>
                  <a:srgbClr val="FFFFFF"/>
                </a:solidFill>
                <a:latin typeface="Arial" pitchFamily="34" charset="0"/>
                <a:ea typeface="Arial" pitchFamily="34" charset="-122"/>
                <a:cs typeface="Arial" pitchFamily="34" charset="-120"/>
              </a:rPr>
              <a:t>Todo lo que hace Terraform es calcular la diferencia entre estas tres y cerrarla.</a:t>
            </a:r>
            <a:endParaRPr lang="en-US" sz="2760" dirty="0"/>
          </a:p>
        </p:txBody>
      </p:sp>
      <p:sp>
        <p:nvSpPr>
          <p:cNvPr id="22" name="Text 19"/>
          <p:cNvSpPr txBox="1"/>
          <p:nvPr/>
        </p:nvSpPr>
        <p:spPr>
          <a:xfrm>
            <a:off x="2077517" y="8128102"/>
            <a:ext cx="14132966" cy="630936"/>
          </a:xfrm>
          <a:prstGeom prst="rect">
            <a:avLst/>
          </a:prstGeom>
          <a:noFill/>
          <a:ln/>
        </p:spPr>
        <p:txBody>
          <a:bodyPr wrap="square" lIns="0" tIns="0" rIns="0" bIns="0" rtlCol="0" anchor="ctr"/>
          <a:lstStyle/>
          <a:p>
            <a:pPr indent="0" marL="0">
              <a:buNone/>
            </a:pPr>
            <a:r>
              <a:rPr lang="en-US" sz="2210" i="1" dirty="0">
                <a:solidFill>
                  <a:srgbClr val="F59120"/>
                </a:solidFill>
                <a:latin typeface="Calibri" pitchFamily="34" charset="0"/>
                <a:ea typeface="Calibri" pitchFamily="34" charset="-122"/>
                <a:cs typeface="Calibri" pitchFamily="34" charset="-120"/>
              </a:rPr>
              <a:t>Si entiendes esta frase, entiendes Terraform. El resto es sintaxis.</a:t>
            </a:r>
            <a:endParaRPr lang="en-US" sz="221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pic>
        <p:nvPicPr>
          <p:cNvPr id="2" name="Image 0" descr="/home/claude/bg-white.jpg">    </p:cNvPr>
          <p:cNvPicPr>
            <a:picLocks noChangeAspect="1"/>
          </p:cNvPicPr>
          <p:nvPr/>
        </p:nvPicPr>
        <p:blipFill>
          <a:blip r:embed="rId1"/>
          <a:stretch>
            <a:fillRect/>
          </a:stretch>
        </p:blipFill>
        <p:spPr>
          <a:xfrm>
            <a:off x="0" y="0"/>
            <a:ext cx="18288000" cy="10287000"/>
          </a:xfrm>
          <a:prstGeom prst="rect">
            <a:avLst/>
          </a:prstGeom>
        </p:spPr>
      </p:pic>
      <p:sp>
        <p:nvSpPr>
          <p:cNvPr id="3" name="Text 0"/>
          <p:cNvSpPr txBox="1"/>
          <p:nvPr/>
        </p:nvSpPr>
        <p:spPr>
          <a:xfrm>
            <a:off x="1572768" y="1024128"/>
            <a:ext cx="15142464" cy="404165"/>
          </a:xfrm>
          <a:prstGeom prst="rect">
            <a:avLst/>
          </a:prstGeom>
          <a:noFill/>
          <a:ln/>
        </p:spPr>
        <p:txBody>
          <a:bodyPr wrap="square" lIns="0" tIns="0" rIns="0" bIns="0" rtlCol="0" anchor="ctr"/>
          <a:lstStyle/>
          <a:p>
            <a:pPr indent="0" marL="0">
              <a:buNone/>
            </a:pPr>
            <a:r>
              <a:rPr lang="en-US" sz="1660" b="1" spc="345" kern="0" dirty="0">
                <a:solidFill>
                  <a:srgbClr val="692179"/>
                </a:solidFill>
                <a:latin typeface="Calibri" pitchFamily="34" charset="0"/>
                <a:ea typeface="Calibri" pitchFamily="34" charset="-122"/>
                <a:cs typeface="Calibri" pitchFamily="34" charset="-120"/>
              </a:rPr>
              <a:t>BLOQUE 3 · CÓMO FUNCIONA</a:t>
            </a:r>
            <a:endParaRPr lang="en-US" sz="1660" dirty="0"/>
          </a:p>
        </p:txBody>
      </p:sp>
      <p:sp>
        <p:nvSpPr>
          <p:cNvPr id="4" name="Text 1"/>
          <p:cNvSpPr txBox="1"/>
          <p:nvPr/>
        </p:nvSpPr>
        <p:spPr>
          <a:xfrm>
            <a:off x="1572768" y="1440180"/>
            <a:ext cx="15142464" cy="1072591"/>
          </a:xfrm>
          <a:prstGeom prst="rect">
            <a:avLst/>
          </a:prstGeom>
          <a:noFill/>
          <a:ln/>
        </p:spPr>
        <p:txBody>
          <a:bodyPr wrap="square" lIns="0" tIns="0" rIns="0" bIns="0" rtlCol="0" anchor="ctr"/>
          <a:lstStyle/>
          <a:p>
            <a:pPr algn="l" indent="0" marL="0">
              <a:buNone/>
            </a:pPr>
            <a:r>
              <a:rPr lang="en-US" sz="4690" b="1" dirty="0">
                <a:solidFill>
                  <a:srgbClr val="241028"/>
                </a:solidFill>
                <a:latin typeface="Arial" pitchFamily="34" charset="0"/>
                <a:ea typeface="Arial" pitchFamily="34" charset="-122"/>
                <a:cs typeface="Arial" pitchFamily="34" charset="-120"/>
              </a:rPr>
              <a:t>El estado es el _delta_log de tu plataforma</a:t>
            </a:r>
            <a:endParaRPr lang="en-US" sz="4690" dirty="0"/>
          </a:p>
        </p:txBody>
      </p:sp>
      <p:sp>
        <p:nvSpPr>
          <p:cNvPr id="5" name="Shape 2"/>
          <p:cNvSpPr/>
          <p:nvPr/>
        </p:nvSpPr>
        <p:spPr>
          <a:xfrm>
            <a:off x="1572768" y="3143707"/>
            <a:ext cx="7381951" cy="3848710"/>
          </a:xfrm>
          <a:prstGeom prst="roundRect">
            <a:avLst>
              <a:gd name="adj" fmla="val 3279"/>
            </a:avLst>
          </a:prstGeom>
          <a:solidFill>
            <a:srgbClr val="FFFFFF"/>
          </a:solidFill>
          <a:ln w="12700">
            <a:solidFill>
              <a:srgbClr val="FFFFFF"/>
            </a:solidFill>
            <a:prstDash val="solid"/>
          </a:ln>
        </p:spPr>
      </p:sp>
      <p:sp>
        <p:nvSpPr>
          <p:cNvPr id="6" name="Text 3"/>
          <p:cNvSpPr txBox="1"/>
          <p:nvPr/>
        </p:nvSpPr>
        <p:spPr>
          <a:xfrm>
            <a:off x="2014423" y="3396082"/>
            <a:ext cx="6498641" cy="567842"/>
          </a:xfrm>
          <a:prstGeom prst="rect">
            <a:avLst/>
          </a:prstGeom>
          <a:noFill/>
          <a:ln/>
        </p:spPr>
        <p:txBody>
          <a:bodyPr wrap="square" lIns="0" tIns="0" rIns="0" bIns="0" rtlCol="0" anchor="ctr"/>
          <a:lstStyle/>
          <a:p>
            <a:pPr indent="0" marL="0">
              <a:buNone/>
            </a:pPr>
            <a:r>
              <a:rPr lang="en-US" sz="2620" b="1" dirty="0">
                <a:solidFill>
                  <a:srgbClr val="2BB5A0"/>
                </a:solidFill>
                <a:latin typeface="Arial" pitchFamily="34" charset="0"/>
                <a:ea typeface="Arial" pitchFamily="34" charset="-122"/>
                <a:cs typeface="Arial" pitchFamily="34" charset="-120"/>
              </a:rPr>
              <a:t>Delta Lake</a:t>
            </a:r>
            <a:endParaRPr lang="en-US" sz="2620" dirty="0"/>
          </a:p>
        </p:txBody>
      </p:sp>
      <p:sp>
        <p:nvSpPr>
          <p:cNvPr id="7" name="Text 4"/>
          <p:cNvSpPr txBox="1"/>
          <p:nvPr/>
        </p:nvSpPr>
        <p:spPr>
          <a:xfrm>
            <a:off x="2014423" y="4090111"/>
            <a:ext cx="6498641" cy="2649931"/>
          </a:xfrm>
          <a:prstGeom prst="rect">
            <a:avLst/>
          </a:prstGeom>
          <a:noFill/>
          <a:ln/>
        </p:spPr>
        <p:txBody>
          <a:bodyPr wrap="square" lIns="0" tIns="0" rIns="0" bIns="0" rtlCol="0" anchor="t"/>
          <a:lstStyle/>
          <a:p>
            <a:pPr marL="342900" indent="-342900">
              <a:lnSpc>
                <a:spcPct val="110000"/>
              </a:lnSpc>
              <a:spcAft>
                <a:spcPts val="1500"/>
              </a:spcAft>
              <a:buSzPct val="100000"/>
              <a:buChar char="•"/>
            </a:pPr>
            <a:r>
              <a:rPr lang="en-US" sz="2070" dirty="0">
                <a:solidFill>
                  <a:srgbClr val="241028"/>
                </a:solidFill>
                <a:latin typeface="Calibri" pitchFamily="34" charset="0"/>
                <a:ea typeface="Calibri" pitchFamily="34" charset="-122"/>
                <a:cs typeface="Calibri" pitchFamily="34" charset="-120"/>
              </a:rPr>
              <a:t>Los parquet son los datos</a:t>
            </a:r>
            <a:endParaRPr lang="en-US" sz="2070" dirty="0"/>
          </a:p>
          <a:p>
            <a:pPr marL="342900" indent="-342900">
              <a:lnSpc>
                <a:spcPct val="110000"/>
              </a:lnSpc>
              <a:spcAft>
                <a:spcPts val="1500"/>
              </a:spcAft>
              <a:buSzPct val="100000"/>
              <a:buChar char="•"/>
            </a:pPr>
            <a:r>
              <a:rPr lang="en-US" sz="2070" dirty="0">
                <a:solidFill>
                  <a:srgbClr val="241028"/>
                </a:solidFill>
                <a:latin typeface="Calibri" pitchFamily="34" charset="0"/>
                <a:ea typeface="Calibri" pitchFamily="34" charset="-122"/>
                <a:cs typeface="Calibri" pitchFamily="34" charset="-120"/>
              </a:rPr>
              <a:t>_delta_log dice qué ficheros componen la versión actual de la tabla</a:t>
            </a:r>
            <a:endParaRPr lang="en-US" sz="2070" dirty="0"/>
          </a:p>
          <a:p>
            <a:pPr marL="342900" indent="-342900">
              <a:lnSpc>
                <a:spcPct val="110000"/>
              </a:lnSpc>
              <a:spcAft>
                <a:spcPts val="1500"/>
              </a:spcAft>
              <a:buSzPct val="100000"/>
              <a:buChar char="•"/>
            </a:pPr>
            <a:r>
              <a:rPr lang="en-US" sz="2070" dirty="0">
                <a:solidFill>
                  <a:srgbClr val="241028"/>
                </a:solidFill>
                <a:latin typeface="Calibri" pitchFamily="34" charset="0"/>
                <a:ea typeface="Calibri" pitchFamily="34" charset="-122"/>
                <a:cs typeface="Calibri" pitchFamily="34" charset="-120"/>
              </a:rPr>
              <a:t>Sin el log, tienes parquets sueltos y ninguna tabla</a:t>
            </a:r>
            <a:endParaRPr lang="en-US" sz="2070" dirty="0"/>
          </a:p>
        </p:txBody>
      </p:sp>
      <p:sp>
        <p:nvSpPr>
          <p:cNvPr id="8" name="Shape 5"/>
          <p:cNvSpPr/>
          <p:nvPr/>
        </p:nvSpPr>
        <p:spPr>
          <a:xfrm>
            <a:off x="9396374" y="3143707"/>
            <a:ext cx="7318858" cy="3848710"/>
          </a:xfrm>
          <a:prstGeom prst="roundRect">
            <a:avLst>
              <a:gd name="adj" fmla="val 3279"/>
            </a:avLst>
          </a:prstGeom>
          <a:solidFill>
            <a:srgbClr val="FFFFFF"/>
          </a:solidFill>
          <a:ln w="12700">
            <a:solidFill>
              <a:srgbClr val="FFFFFF"/>
            </a:solidFill>
            <a:prstDash val="solid"/>
          </a:ln>
        </p:spPr>
      </p:sp>
      <p:sp>
        <p:nvSpPr>
          <p:cNvPr id="9" name="Text 6"/>
          <p:cNvSpPr txBox="1"/>
          <p:nvPr/>
        </p:nvSpPr>
        <p:spPr>
          <a:xfrm>
            <a:off x="9838030" y="3396082"/>
            <a:ext cx="6435547" cy="567842"/>
          </a:xfrm>
          <a:prstGeom prst="rect">
            <a:avLst/>
          </a:prstGeom>
          <a:noFill/>
          <a:ln/>
        </p:spPr>
        <p:txBody>
          <a:bodyPr wrap="square" lIns="0" tIns="0" rIns="0" bIns="0" rtlCol="0" anchor="ctr"/>
          <a:lstStyle/>
          <a:p>
            <a:pPr indent="0" marL="0">
              <a:buNone/>
            </a:pPr>
            <a:r>
              <a:rPr lang="en-US" sz="2620" b="1" dirty="0">
                <a:solidFill>
                  <a:srgbClr val="692179"/>
                </a:solidFill>
                <a:latin typeface="Arial" pitchFamily="34" charset="0"/>
                <a:ea typeface="Arial" pitchFamily="34" charset="-122"/>
                <a:cs typeface="Arial" pitchFamily="34" charset="-120"/>
              </a:rPr>
              <a:t>Terraform</a:t>
            </a:r>
            <a:endParaRPr lang="en-US" sz="2620" dirty="0"/>
          </a:p>
        </p:txBody>
      </p:sp>
      <p:sp>
        <p:nvSpPr>
          <p:cNvPr id="10" name="Text 7"/>
          <p:cNvSpPr txBox="1"/>
          <p:nvPr/>
        </p:nvSpPr>
        <p:spPr>
          <a:xfrm>
            <a:off x="9838030" y="4090111"/>
            <a:ext cx="6435547" cy="2649931"/>
          </a:xfrm>
          <a:prstGeom prst="rect">
            <a:avLst/>
          </a:prstGeom>
          <a:noFill/>
          <a:ln/>
        </p:spPr>
        <p:txBody>
          <a:bodyPr wrap="square" lIns="0" tIns="0" rIns="0" bIns="0" rtlCol="0" anchor="t"/>
          <a:lstStyle/>
          <a:p>
            <a:pPr marL="342900" indent="-342900">
              <a:lnSpc>
                <a:spcPct val="110000"/>
              </a:lnSpc>
              <a:spcAft>
                <a:spcPts val="1500"/>
              </a:spcAft>
              <a:buSzPct val="100000"/>
              <a:buChar char="•"/>
            </a:pPr>
            <a:r>
              <a:rPr lang="en-US" sz="2070" dirty="0">
                <a:solidFill>
                  <a:srgbClr val="241028"/>
                </a:solidFill>
                <a:latin typeface="Calibri" pitchFamily="34" charset="0"/>
                <a:ea typeface="Calibri" pitchFamily="34" charset="-122"/>
                <a:cs typeface="Calibri" pitchFamily="34" charset="-120"/>
              </a:rPr>
              <a:t>Los workspaces son la realidad</a:t>
            </a:r>
            <a:endParaRPr lang="en-US" sz="2070" dirty="0"/>
          </a:p>
          <a:p>
            <a:pPr marL="342900" indent="-342900">
              <a:lnSpc>
                <a:spcPct val="110000"/>
              </a:lnSpc>
              <a:spcAft>
                <a:spcPts val="1500"/>
              </a:spcAft>
              <a:buSzPct val="100000"/>
              <a:buChar char="•"/>
            </a:pPr>
            <a:r>
              <a:rPr lang="en-US" sz="2070" dirty="0">
                <a:solidFill>
                  <a:srgbClr val="241028"/>
                </a:solidFill>
                <a:latin typeface="Calibri" pitchFamily="34" charset="0"/>
                <a:ea typeface="Calibri" pitchFamily="34" charset="-122"/>
                <a:cs typeface="Calibri" pitchFamily="34" charset="-120"/>
              </a:rPr>
              <a:t>terraform.tfstate dice qué recursos gestiona y con qué IDs</a:t>
            </a:r>
            <a:endParaRPr lang="en-US" sz="2070" dirty="0"/>
          </a:p>
          <a:p>
            <a:pPr marL="342900" indent="-342900">
              <a:lnSpc>
                <a:spcPct val="110000"/>
              </a:lnSpc>
              <a:spcAft>
                <a:spcPts val="1500"/>
              </a:spcAft>
              <a:buSzPct val="100000"/>
              <a:buChar char="•"/>
            </a:pPr>
            <a:r>
              <a:rPr lang="en-US" sz="2070" dirty="0">
                <a:solidFill>
                  <a:srgbClr val="241028"/>
                </a:solidFill>
                <a:latin typeface="Calibri" pitchFamily="34" charset="0"/>
                <a:ea typeface="Calibri" pitchFamily="34" charset="-122"/>
                <a:cs typeface="Calibri" pitchFamily="34" charset="-120"/>
              </a:rPr>
              <a:t>Sin el estado, tienes workspaces sueltos y Terraform no sabe que son suyos</a:t>
            </a:r>
            <a:endParaRPr lang="en-US" sz="2070" dirty="0"/>
          </a:p>
        </p:txBody>
      </p:sp>
      <p:sp>
        <p:nvSpPr>
          <p:cNvPr id="11" name="Shape 8"/>
          <p:cNvSpPr/>
          <p:nvPr/>
        </p:nvSpPr>
        <p:spPr>
          <a:xfrm>
            <a:off x="1572768" y="7434072"/>
            <a:ext cx="15142464" cy="1577340"/>
          </a:xfrm>
          <a:prstGeom prst="roundRect">
            <a:avLst>
              <a:gd name="adj" fmla="val 8000"/>
            </a:avLst>
          </a:prstGeom>
          <a:solidFill>
            <a:srgbClr val="2A0E33"/>
          </a:solidFill>
          <a:ln w="12700">
            <a:solidFill>
              <a:srgbClr val="2A0E33"/>
            </a:solidFill>
            <a:prstDash val="solid"/>
          </a:ln>
        </p:spPr>
      </p:sp>
      <p:sp>
        <p:nvSpPr>
          <p:cNvPr id="12" name="Text 9"/>
          <p:cNvSpPr txBox="1"/>
          <p:nvPr/>
        </p:nvSpPr>
        <p:spPr>
          <a:xfrm>
            <a:off x="2077517" y="7434072"/>
            <a:ext cx="14132966" cy="1577340"/>
          </a:xfrm>
          <a:prstGeom prst="rect">
            <a:avLst/>
          </a:prstGeom>
          <a:noFill/>
          <a:ln/>
        </p:spPr>
        <p:txBody>
          <a:bodyPr wrap="square" lIns="0" tIns="0" rIns="0" bIns="0" rtlCol="0" anchor="ctr"/>
          <a:lstStyle/>
          <a:p>
            <a:pPr indent="0" marL="0">
              <a:buNone/>
            </a:pPr>
            <a:r>
              <a:rPr lang="en-US" sz="2480" b="1" dirty="0">
                <a:solidFill>
                  <a:srgbClr val="FFFFFF"/>
                </a:solidFill>
                <a:latin typeface="Arial" pitchFamily="34" charset="0"/>
                <a:ea typeface="Arial" pitchFamily="34" charset="-122"/>
                <a:cs typeface="Arial" pitchFamily="34" charset="-120"/>
              </a:rPr>
              <a:t>El estado es el puente entre "mi código dice Bronze-DEV" y "ese workspace tiene el GUID a3f9…"</a:t>
            </a:r>
            <a:endParaRPr lang="en-US" sz="248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pic>
        <p:nvPicPr>
          <p:cNvPr id="2" name="Image 0" descr="/home/claude/bg-dark.jpg">    </p:cNvPr>
          <p:cNvPicPr>
            <a:picLocks noChangeAspect="1"/>
          </p:cNvPicPr>
          <p:nvPr/>
        </p:nvPicPr>
        <p:blipFill>
          <a:blip r:embed="rId1"/>
          <a:stretch>
            <a:fillRect/>
          </a:stretch>
        </p:blipFill>
        <p:spPr>
          <a:xfrm>
            <a:off x="0" y="0"/>
            <a:ext cx="18288000" cy="10287000"/>
          </a:xfrm>
          <a:prstGeom prst="rect">
            <a:avLst/>
          </a:prstGeom>
        </p:spPr>
      </p:pic>
      <p:sp>
        <p:nvSpPr>
          <p:cNvPr id="3" name="Text 0"/>
          <p:cNvSpPr txBox="1"/>
          <p:nvPr/>
        </p:nvSpPr>
        <p:spPr>
          <a:xfrm>
            <a:off x="1572768" y="1024128"/>
            <a:ext cx="15142464" cy="404165"/>
          </a:xfrm>
          <a:prstGeom prst="rect">
            <a:avLst/>
          </a:prstGeom>
          <a:noFill/>
          <a:ln/>
        </p:spPr>
        <p:txBody>
          <a:bodyPr wrap="square" lIns="0" tIns="0" rIns="0" bIns="0" rtlCol="0" anchor="ctr"/>
          <a:lstStyle/>
          <a:p>
            <a:pPr indent="0" marL="0">
              <a:buNone/>
            </a:pPr>
            <a:r>
              <a:rPr lang="en-US" sz="1660" b="1" spc="345" kern="0" dirty="0">
                <a:solidFill>
                  <a:srgbClr val="F59120"/>
                </a:solidFill>
                <a:latin typeface="Calibri" pitchFamily="34" charset="0"/>
                <a:ea typeface="Calibri" pitchFamily="34" charset="-122"/>
                <a:cs typeface="Calibri" pitchFamily="34" charset="-120"/>
              </a:rPr>
              <a:t>BLOQUE 3 · CÓMO FUNCIONA</a:t>
            </a:r>
            <a:endParaRPr lang="en-US" sz="1660" dirty="0"/>
          </a:p>
        </p:txBody>
      </p:sp>
      <p:sp>
        <p:nvSpPr>
          <p:cNvPr id="4" name="Text 1"/>
          <p:cNvSpPr txBox="1"/>
          <p:nvPr/>
        </p:nvSpPr>
        <p:spPr>
          <a:xfrm>
            <a:off x="1572768" y="1440180"/>
            <a:ext cx="15142464" cy="1072591"/>
          </a:xfrm>
          <a:prstGeom prst="rect">
            <a:avLst/>
          </a:prstGeom>
          <a:noFill/>
          <a:ln/>
        </p:spPr>
        <p:txBody>
          <a:bodyPr wrap="square" lIns="0" tIns="0" rIns="0" bIns="0" rtlCol="0" anchor="ctr"/>
          <a:lstStyle/>
          <a:p>
            <a:pPr algn="l" indent="0" marL="0">
              <a:buNone/>
            </a:pPr>
            <a:r>
              <a:rPr lang="en-US" sz="4690" b="1" dirty="0">
                <a:solidFill>
                  <a:srgbClr val="FFFFFF"/>
                </a:solidFill>
                <a:latin typeface="Arial" pitchFamily="34" charset="0"/>
                <a:ea typeface="Arial" pitchFamily="34" charset="-122"/>
                <a:cs typeface="Arial" pitchFamily="34" charset="-120"/>
              </a:rPr>
              <a:t>terraform plan es tu plan de ejecución</a:t>
            </a:r>
            <a:endParaRPr lang="en-US" sz="4690" dirty="0"/>
          </a:p>
        </p:txBody>
      </p:sp>
      <p:sp>
        <p:nvSpPr>
          <p:cNvPr id="5" name="Shape 2"/>
          <p:cNvSpPr/>
          <p:nvPr/>
        </p:nvSpPr>
        <p:spPr>
          <a:xfrm>
            <a:off x="1572768" y="3080614"/>
            <a:ext cx="7381951" cy="2018995"/>
          </a:xfrm>
          <a:prstGeom prst="roundRect">
            <a:avLst>
              <a:gd name="adj" fmla="val 6250"/>
            </a:avLst>
          </a:prstGeom>
          <a:solidFill>
            <a:srgbClr val="1E0A2B"/>
          </a:solidFill>
          <a:ln w="12700">
            <a:solidFill>
              <a:srgbClr val="1E0A2B"/>
            </a:solidFill>
            <a:prstDash val="solid"/>
          </a:ln>
        </p:spPr>
      </p:sp>
      <p:sp>
        <p:nvSpPr>
          <p:cNvPr id="6" name="Text 3"/>
          <p:cNvSpPr txBox="1"/>
          <p:nvPr/>
        </p:nvSpPr>
        <p:spPr>
          <a:xfrm>
            <a:off x="2014423" y="3269894"/>
            <a:ext cx="6498641" cy="504749"/>
          </a:xfrm>
          <a:prstGeom prst="rect">
            <a:avLst/>
          </a:prstGeom>
          <a:noFill/>
          <a:ln/>
        </p:spPr>
        <p:txBody>
          <a:bodyPr wrap="square" lIns="0" tIns="0" rIns="0" bIns="0" rtlCol="0" anchor="ctr"/>
          <a:lstStyle/>
          <a:p>
            <a:pPr indent="0" marL="0">
              <a:buNone/>
            </a:pPr>
            <a:r>
              <a:rPr lang="en-US" sz="1790" b="1" dirty="0">
                <a:solidFill>
                  <a:srgbClr val="E8553F"/>
                </a:solidFill>
                <a:latin typeface="Calibri" pitchFamily="34" charset="0"/>
                <a:ea typeface="Calibri" pitchFamily="34" charset="-122"/>
                <a:cs typeface="Calibri" pitchFamily="34" charset="-120"/>
              </a:rPr>
              <a:t>Lo que nunca harías</a:t>
            </a:r>
            <a:endParaRPr lang="en-US" sz="1790" dirty="0"/>
          </a:p>
        </p:txBody>
      </p:sp>
      <p:sp>
        <p:nvSpPr>
          <p:cNvPr id="7" name="Text 4"/>
          <p:cNvSpPr txBox="1"/>
          <p:nvPr/>
        </p:nvSpPr>
        <p:spPr>
          <a:xfrm>
            <a:off x="2014423" y="3837737"/>
            <a:ext cx="6498641" cy="1072591"/>
          </a:xfrm>
          <a:prstGeom prst="rect">
            <a:avLst/>
          </a:prstGeom>
          <a:noFill/>
          <a:ln/>
        </p:spPr>
        <p:txBody>
          <a:bodyPr wrap="square" lIns="0" tIns="0" rIns="0" bIns="0" rtlCol="0" anchor="t"/>
          <a:lstStyle/>
          <a:p>
            <a:pPr indent="0" marL="0">
              <a:lnSpc>
                <a:spcPct val="115000"/>
              </a:lnSpc>
              <a:buNone/>
            </a:pPr>
            <a:r>
              <a:rPr lang="en-US" sz="2350" b="1" dirty="0">
                <a:solidFill>
                  <a:srgbClr val="FFFFFF"/>
                </a:solidFill>
                <a:latin typeface="Arial" pitchFamily="34" charset="0"/>
                <a:ea typeface="Arial" pitchFamily="34" charset="-122"/>
                <a:cs typeface="Arial" pitchFamily="34" charset="-120"/>
              </a:rPr>
              <a:t>Lanzar una query de 40 minutos</a:t>
            </a:r>
            <a:endParaRPr lang="en-US" sz="2350" dirty="0"/>
          </a:p>
          <a:p>
            <a:pPr indent="0" marL="0">
              <a:lnSpc>
                <a:spcPct val="115000"/>
              </a:lnSpc>
              <a:buNone/>
            </a:pPr>
            <a:r>
              <a:rPr lang="en-US" sz="2350" b="1" dirty="0">
                <a:solidFill>
                  <a:srgbClr val="FFFFFF"/>
                </a:solidFill>
                <a:latin typeface="Arial" pitchFamily="34" charset="0"/>
                <a:ea typeface="Arial" pitchFamily="34" charset="-122"/>
                <a:cs typeface="Arial" pitchFamily="34" charset="-120"/>
              </a:rPr>
              <a:t>sin mirar el plan de ejecución.</a:t>
            </a:r>
            <a:endParaRPr lang="en-US" sz="2350" dirty="0"/>
          </a:p>
        </p:txBody>
      </p:sp>
      <p:sp>
        <p:nvSpPr>
          <p:cNvPr id="8" name="Shape 5"/>
          <p:cNvSpPr/>
          <p:nvPr/>
        </p:nvSpPr>
        <p:spPr>
          <a:xfrm>
            <a:off x="9396374" y="3080614"/>
            <a:ext cx="7318858" cy="2018995"/>
          </a:xfrm>
          <a:prstGeom prst="roundRect">
            <a:avLst>
              <a:gd name="adj" fmla="val 6250"/>
            </a:avLst>
          </a:prstGeom>
          <a:solidFill>
            <a:srgbClr val="692179"/>
          </a:solidFill>
          <a:ln w="12700">
            <a:solidFill>
              <a:srgbClr val="692179"/>
            </a:solidFill>
            <a:prstDash val="solid"/>
          </a:ln>
        </p:spPr>
      </p:sp>
      <p:sp>
        <p:nvSpPr>
          <p:cNvPr id="9" name="Text 6"/>
          <p:cNvSpPr txBox="1"/>
          <p:nvPr/>
        </p:nvSpPr>
        <p:spPr>
          <a:xfrm>
            <a:off x="9838030" y="3269894"/>
            <a:ext cx="6435547" cy="504749"/>
          </a:xfrm>
          <a:prstGeom prst="rect">
            <a:avLst/>
          </a:prstGeom>
          <a:noFill/>
          <a:ln/>
        </p:spPr>
        <p:txBody>
          <a:bodyPr wrap="square" lIns="0" tIns="0" rIns="0" bIns="0" rtlCol="0" anchor="ctr"/>
          <a:lstStyle/>
          <a:p>
            <a:pPr indent="0" marL="0">
              <a:buNone/>
            </a:pPr>
            <a:r>
              <a:rPr lang="en-US" sz="1790" b="1" dirty="0">
                <a:solidFill>
                  <a:srgbClr val="F59120"/>
                </a:solidFill>
                <a:latin typeface="Calibri" pitchFamily="34" charset="0"/>
                <a:ea typeface="Calibri" pitchFamily="34" charset="-122"/>
                <a:cs typeface="Calibri" pitchFamily="34" charset="-120"/>
              </a:rPr>
              <a:t>Lo mismo, aquí</a:t>
            </a:r>
            <a:endParaRPr lang="en-US" sz="1790" dirty="0"/>
          </a:p>
        </p:txBody>
      </p:sp>
      <p:sp>
        <p:nvSpPr>
          <p:cNvPr id="10" name="Text 7"/>
          <p:cNvSpPr txBox="1"/>
          <p:nvPr/>
        </p:nvSpPr>
        <p:spPr>
          <a:xfrm>
            <a:off x="9838030" y="3837737"/>
            <a:ext cx="6435547" cy="1072591"/>
          </a:xfrm>
          <a:prstGeom prst="rect">
            <a:avLst/>
          </a:prstGeom>
          <a:noFill/>
          <a:ln/>
        </p:spPr>
        <p:txBody>
          <a:bodyPr wrap="square" lIns="0" tIns="0" rIns="0" bIns="0" rtlCol="0" anchor="t"/>
          <a:lstStyle/>
          <a:p>
            <a:pPr indent="0" marL="0">
              <a:lnSpc>
                <a:spcPct val="115000"/>
              </a:lnSpc>
              <a:buNone/>
            </a:pPr>
            <a:r>
              <a:rPr lang="en-US" sz="2350" b="1" dirty="0">
                <a:solidFill>
                  <a:srgbClr val="FFFFFF"/>
                </a:solidFill>
                <a:latin typeface="Arial" pitchFamily="34" charset="0"/>
                <a:ea typeface="Arial" pitchFamily="34" charset="-122"/>
                <a:cs typeface="Arial" pitchFamily="34" charset="-120"/>
              </a:rPr>
              <a:t>Nunca hagas apply sin haber</a:t>
            </a:r>
            <a:endParaRPr lang="en-US" sz="2350" dirty="0"/>
          </a:p>
          <a:p>
            <a:pPr indent="0" marL="0">
              <a:lnSpc>
                <a:spcPct val="115000"/>
              </a:lnSpc>
              <a:buNone/>
            </a:pPr>
            <a:r>
              <a:rPr lang="en-US" sz="2350" b="1" dirty="0">
                <a:solidFill>
                  <a:srgbClr val="FFFFFF"/>
                </a:solidFill>
                <a:latin typeface="Arial" pitchFamily="34" charset="0"/>
                <a:ea typeface="Arial" pitchFamily="34" charset="-122"/>
                <a:cs typeface="Arial" pitchFamily="34" charset="-120"/>
              </a:rPr>
              <a:t>leído el plan. Nunca.</a:t>
            </a:r>
            <a:endParaRPr lang="en-US" sz="2350" dirty="0"/>
          </a:p>
        </p:txBody>
      </p:sp>
      <p:sp>
        <p:nvSpPr>
          <p:cNvPr id="11" name="Text 8"/>
          <p:cNvSpPr txBox="1"/>
          <p:nvPr/>
        </p:nvSpPr>
        <p:spPr>
          <a:xfrm>
            <a:off x="1572768" y="5415077"/>
            <a:ext cx="15142464" cy="504749"/>
          </a:xfrm>
          <a:prstGeom prst="rect">
            <a:avLst/>
          </a:prstGeom>
          <a:noFill/>
          <a:ln/>
        </p:spPr>
        <p:txBody>
          <a:bodyPr wrap="square" lIns="0" tIns="0" rIns="0" bIns="0" rtlCol="0" anchor="ctr"/>
          <a:lstStyle/>
          <a:p>
            <a:pPr indent="0" marL="0">
              <a:buNone/>
            </a:pPr>
            <a:r>
              <a:rPr lang="en-US" sz="2070" dirty="0">
                <a:solidFill>
                  <a:srgbClr val="FFFFFF"/>
                </a:solidFill>
                <a:latin typeface="Calibri" pitchFamily="34" charset="0"/>
                <a:ea typeface="Calibri" pitchFamily="34" charset="-122"/>
                <a:cs typeface="Calibri" pitchFamily="34" charset="-120"/>
              </a:rPr>
              <a:t>Los cuatro símbolos que tienes que saber leer:</a:t>
            </a:r>
            <a:endParaRPr lang="en-US" sz="2070" dirty="0"/>
          </a:p>
        </p:txBody>
      </p:sp>
      <p:sp>
        <p:nvSpPr>
          <p:cNvPr id="12" name="Shape 9"/>
          <p:cNvSpPr/>
          <p:nvPr/>
        </p:nvSpPr>
        <p:spPr>
          <a:xfrm>
            <a:off x="1572768" y="6046013"/>
            <a:ext cx="3609137" cy="2586838"/>
          </a:xfrm>
          <a:prstGeom prst="roundRect">
            <a:avLst>
              <a:gd name="adj" fmla="val 4878"/>
            </a:avLst>
          </a:prstGeom>
          <a:solidFill>
            <a:srgbClr val="1E0A2B"/>
          </a:solidFill>
          <a:ln w="12700">
            <a:solidFill>
              <a:srgbClr val="1E0A2B"/>
            </a:solidFill>
            <a:prstDash val="solid"/>
          </a:ln>
        </p:spPr>
      </p:sp>
      <p:sp>
        <p:nvSpPr>
          <p:cNvPr id="13" name="Text 10"/>
          <p:cNvSpPr txBox="1"/>
          <p:nvPr/>
        </p:nvSpPr>
        <p:spPr>
          <a:xfrm>
            <a:off x="1572768" y="6235294"/>
            <a:ext cx="3609137" cy="883310"/>
          </a:xfrm>
          <a:prstGeom prst="rect">
            <a:avLst/>
          </a:prstGeom>
          <a:noFill/>
          <a:ln/>
        </p:spPr>
        <p:txBody>
          <a:bodyPr wrap="square" lIns="0" tIns="0" rIns="0" bIns="0" rtlCol="0" anchor="ctr"/>
          <a:lstStyle/>
          <a:p>
            <a:pPr algn="ctr" indent="0" marL="0">
              <a:buNone/>
            </a:pPr>
            <a:r>
              <a:rPr lang="en-US" sz="4970" b="1" dirty="0">
                <a:solidFill>
                  <a:srgbClr val="2BB5A0"/>
                </a:solidFill>
                <a:latin typeface="Courier New" pitchFamily="34" charset="0"/>
                <a:ea typeface="Courier New" pitchFamily="34" charset="-122"/>
                <a:cs typeface="Courier New" pitchFamily="34" charset="-120"/>
              </a:rPr>
              <a:t>+</a:t>
            </a:r>
            <a:endParaRPr lang="en-US" sz="4970" dirty="0"/>
          </a:p>
        </p:txBody>
      </p:sp>
      <p:sp>
        <p:nvSpPr>
          <p:cNvPr id="14" name="Text 11"/>
          <p:cNvSpPr txBox="1"/>
          <p:nvPr/>
        </p:nvSpPr>
        <p:spPr>
          <a:xfrm>
            <a:off x="1572768" y="7118604"/>
            <a:ext cx="3609137" cy="504749"/>
          </a:xfrm>
          <a:prstGeom prst="rect">
            <a:avLst/>
          </a:prstGeom>
          <a:noFill/>
          <a:ln/>
        </p:spPr>
        <p:txBody>
          <a:bodyPr wrap="square" lIns="0" tIns="0" rIns="0" bIns="0" rtlCol="0" anchor="ctr"/>
          <a:lstStyle/>
          <a:p>
            <a:pPr algn="ctr" indent="0" marL="0">
              <a:buNone/>
            </a:pPr>
            <a:r>
              <a:rPr lang="en-US" sz="1930" b="1" dirty="0">
                <a:solidFill>
                  <a:srgbClr val="FFFFFF"/>
                </a:solidFill>
                <a:latin typeface="Courier New" pitchFamily="34" charset="0"/>
                <a:ea typeface="Courier New" pitchFamily="34" charset="-122"/>
                <a:cs typeface="Courier New" pitchFamily="34" charset="-120"/>
              </a:rPr>
              <a:t>create</a:t>
            </a:r>
            <a:endParaRPr lang="en-US" sz="1930" dirty="0"/>
          </a:p>
        </p:txBody>
      </p:sp>
      <p:sp>
        <p:nvSpPr>
          <p:cNvPr id="15" name="Text 12"/>
          <p:cNvSpPr txBox="1"/>
          <p:nvPr/>
        </p:nvSpPr>
        <p:spPr>
          <a:xfrm>
            <a:off x="1762049" y="7661758"/>
            <a:ext cx="3230575" cy="883310"/>
          </a:xfrm>
          <a:prstGeom prst="rect">
            <a:avLst/>
          </a:prstGeom>
          <a:noFill/>
          <a:ln/>
        </p:spPr>
        <p:txBody>
          <a:bodyPr wrap="square" lIns="0" tIns="0" rIns="0" bIns="0" rtlCol="0" anchor="t"/>
          <a:lstStyle/>
          <a:p>
            <a:pPr algn="ctr" indent="0" marL="0">
              <a:lnSpc>
                <a:spcPct val="110000"/>
              </a:lnSpc>
              <a:buNone/>
            </a:pPr>
            <a:r>
              <a:rPr lang="en-US" sz="1660" dirty="0">
                <a:solidFill>
                  <a:srgbClr val="C77BD6"/>
                </a:solidFill>
                <a:latin typeface="Calibri" pitchFamily="34" charset="0"/>
                <a:ea typeface="Calibri" pitchFamily="34" charset="-122"/>
                <a:cs typeface="Calibri" pitchFamily="34" charset="-120"/>
              </a:rPr>
              <a:t>Se va a crear algo nuevo</a:t>
            </a:r>
            <a:endParaRPr lang="en-US" sz="1660" dirty="0"/>
          </a:p>
        </p:txBody>
      </p:sp>
      <p:sp>
        <p:nvSpPr>
          <p:cNvPr id="16" name="Shape 13"/>
          <p:cNvSpPr/>
          <p:nvPr/>
        </p:nvSpPr>
        <p:spPr>
          <a:xfrm>
            <a:off x="5497373" y="6046013"/>
            <a:ext cx="3609137" cy="2586838"/>
          </a:xfrm>
          <a:prstGeom prst="roundRect">
            <a:avLst>
              <a:gd name="adj" fmla="val 4878"/>
            </a:avLst>
          </a:prstGeom>
          <a:solidFill>
            <a:srgbClr val="1E0A2B"/>
          </a:solidFill>
          <a:ln w="12700">
            <a:solidFill>
              <a:srgbClr val="1E0A2B"/>
            </a:solidFill>
            <a:prstDash val="solid"/>
          </a:ln>
        </p:spPr>
      </p:sp>
      <p:sp>
        <p:nvSpPr>
          <p:cNvPr id="17" name="Text 14"/>
          <p:cNvSpPr txBox="1"/>
          <p:nvPr/>
        </p:nvSpPr>
        <p:spPr>
          <a:xfrm>
            <a:off x="5497373" y="6235294"/>
            <a:ext cx="3609137" cy="883310"/>
          </a:xfrm>
          <a:prstGeom prst="rect">
            <a:avLst/>
          </a:prstGeom>
          <a:noFill/>
          <a:ln/>
        </p:spPr>
        <p:txBody>
          <a:bodyPr wrap="square" lIns="0" tIns="0" rIns="0" bIns="0" rtlCol="0" anchor="ctr"/>
          <a:lstStyle/>
          <a:p>
            <a:pPr algn="ctr" indent="0" marL="0">
              <a:buNone/>
            </a:pPr>
            <a:r>
              <a:rPr lang="en-US" sz="4970" b="1" dirty="0">
                <a:solidFill>
                  <a:srgbClr val="F59120"/>
                </a:solidFill>
                <a:latin typeface="Courier New" pitchFamily="34" charset="0"/>
                <a:ea typeface="Courier New" pitchFamily="34" charset="-122"/>
                <a:cs typeface="Courier New" pitchFamily="34" charset="-120"/>
              </a:rPr>
              <a:t>~</a:t>
            </a:r>
            <a:endParaRPr lang="en-US" sz="4970" dirty="0"/>
          </a:p>
        </p:txBody>
      </p:sp>
      <p:sp>
        <p:nvSpPr>
          <p:cNvPr id="18" name="Text 15"/>
          <p:cNvSpPr txBox="1"/>
          <p:nvPr/>
        </p:nvSpPr>
        <p:spPr>
          <a:xfrm>
            <a:off x="5497373" y="7118604"/>
            <a:ext cx="3609137" cy="504749"/>
          </a:xfrm>
          <a:prstGeom prst="rect">
            <a:avLst/>
          </a:prstGeom>
          <a:noFill/>
          <a:ln/>
        </p:spPr>
        <p:txBody>
          <a:bodyPr wrap="square" lIns="0" tIns="0" rIns="0" bIns="0" rtlCol="0" anchor="ctr"/>
          <a:lstStyle/>
          <a:p>
            <a:pPr algn="ctr" indent="0" marL="0">
              <a:buNone/>
            </a:pPr>
            <a:r>
              <a:rPr lang="en-US" sz="1930" b="1" dirty="0">
                <a:solidFill>
                  <a:srgbClr val="FFFFFF"/>
                </a:solidFill>
                <a:latin typeface="Courier New" pitchFamily="34" charset="0"/>
                <a:ea typeface="Courier New" pitchFamily="34" charset="-122"/>
                <a:cs typeface="Courier New" pitchFamily="34" charset="-120"/>
              </a:rPr>
              <a:t>update in-place</a:t>
            </a:r>
            <a:endParaRPr lang="en-US" sz="1930" dirty="0"/>
          </a:p>
        </p:txBody>
      </p:sp>
      <p:sp>
        <p:nvSpPr>
          <p:cNvPr id="19" name="Text 16"/>
          <p:cNvSpPr txBox="1"/>
          <p:nvPr/>
        </p:nvSpPr>
        <p:spPr>
          <a:xfrm>
            <a:off x="5686654" y="7661758"/>
            <a:ext cx="3230575" cy="883310"/>
          </a:xfrm>
          <a:prstGeom prst="rect">
            <a:avLst/>
          </a:prstGeom>
          <a:noFill/>
          <a:ln/>
        </p:spPr>
        <p:txBody>
          <a:bodyPr wrap="square" lIns="0" tIns="0" rIns="0" bIns="0" rtlCol="0" anchor="t"/>
          <a:lstStyle/>
          <a:p>
            <a:pPr algn="ctr" indent="0" marL="0">
              <a:lnSpc>
                <a:spcPct val="110000"/>
              </a:lnSpc>
              <a:buNone/>
            </a:pPr>
            <a:r>
              <a:rPr lang="en-US" sz="1660" dirty="0">
                <a:solidFill>
                  <a:srgbClr val="C77BD6"/>
                </a:solidFill>
                <a:latin typeface="Calibri" pitchFamily="34" charset="0"/>
                <a:ea typeface="Calibri" pitchFamily="34" charset="-122"/>
                <a:cs typeface="Calibri" pitchFamily="34" charset="-120"/>
              </a:rPr>
              <a:t>Se modifica sin destruir</a:t>
            </a:r>
            <a:endParaRPr lang="en-US" sz="1660" dirty="0"/>
          </a:p>
        </p:txBody>
      </p:sp>
      <p:sp>
        <p:nvSpPr>
          <p:cNvPr id="20" name="Shape 17"/>
          <p:cNvSpPr/>
          <p:nvPr/>
        </p:nvSpPr>
        <p:spPr>
          <a:xfrm>
            <a:off x="9421978" y="6046013"/>
            <a:ext cx="3609137" cy="2586838"/>
          </a:xfrm>
          <a:prstGeom prst="roundRect">
            <a:avLst>
              <a:gd name="adj" fmla="val 4878"/>
            </a:avLst>
          </a:prstGeom>
          <a:solidFill>
            <a:srgbClr val="1E0A2B"/>
          </a:solidFill>
          <a:ln w="12700">
            <a:solidFill>
              <a:srgbClr val="1E0A2B"/>
            </a:solidFill>
            <a:prstDash val="solid"/>
          </a:ln>
        </p:spPr>
      </p:sp>
      <p:sp>
        <p:nvSpPr>
          <p:cNvPr id="21" name="Text 18"/>
          <p:cNvSpPr txBox="1"/>
          <p:nvPr/>
        </p:nvSpPr>
        <p:spPr>
          <a:xfrm>
            <a:off x="9421978" y="6235294"/>
            <a:ext cx="3609137" cy="883310"/>
          </a:xfrm>
          <a:prstGeom prst="rect">
            <a:avLst/>
          </a:prstGeom>
          <a:noFill/>
          <a:ln/>
        </p:spPr>
        <p:txBody>
          <a:bodyPr wrap="square" lIns="0" tIns="0" rIns="0" bIns="0" rtlCol="0" anchor="ctr"/>
          <a:lstStyle/>
          <a:p>
            <a:pPr algn="ctr" indent="0" marL="0">
              <a:buNone/>
            </a:pPr>
            <a:r>
              <a:rPr lang="en-US" sz="4970" b="1" dirty="0">
                <a:solidFill>
                  <a:srgbClr val="E8553F"/>
                </a:solidFill>
                <a:latin typeface="Courier New" pitchFamily="34" charset="0"/>
                <a:ea typeface="Courier New" pitchFamily="34" charset="-122"/>
                <a:cs typeface="Courier New" pitchFamily="34" charset="-120"/>
              </a:rPr>
              <a:t>-</a:t>
            </a:r>
            <a:endParaRPr lang="en-US" sz="4970" dirty="0"/>
          </a:p>
        </p:txBody>
      </p:sp>
      <p:sp>
        <p:nvSpPr>
          <p:cNvPr id="22" name="Text 19"/>
          <p:cNvSpPr txBox="1"/>
          <p:nvPr/>
        </p:nvSpPr>
        <p:spPr>
          <a:xfrm>
            <a:off x="9421978" y="7118604"/>
            <a:ext cx="3609137" cy="504749"/>
          </a:xfrm>
          <a:prstGeom prst="rect">
            <a:avLst/>
          </a:prstGeom>
          <a:noFill/>
          <a:ln/>
        </p:spPr>
        <p:txBody>
          <a:bodyPr wrap="square" lIns="0" tIns="0" rIns="0" bIns="0" rtlCol="0" anchor="ctr"/>
          <a:lstStyle/>
          <a:p>
            <a:pPr algn="ctr" indent="0" marL="0">
              <a:buNone/>
            </a:pPr>
            <a:r>
              <a:rPr lang="en-US" sz="1930" b="1" dirty="0">
                <a:solidFill>
                  <a:srgbClr val="FFFFFF"/>
                </a:solidFill>
                <a:latin typeface="Courier New" pitchFamily="34" charset="0"/>
                <a:ea typeface="Courier New" pitchFamily="34" charset="-122"/>
                <a:cs typeface="Courier New" pitchFamily="34" charset="-120"/>
              </a:rPr>
              <a:t>destroy</a:t>
            </a:r>
            <a:endParaRPr lang="en-US" sz="1930" dirty="0"/>
          </a:p>
        </p:txBody>
      </p:sp>
      <p:sp>
        <p:nvSpPr>
          <p:cNvPr id="23" name="Text 20"/>
          <p:cNvSpPr txBox="1"/>
          <p:nvPr/>
        </p:nvSpPr>
        <p:spPr>
          <a:xfrm>
            <a:off x="9611258" y="7661758"/>
            <a:ext cx="3230575" cy="883310"/>
          </a:xfrm>
          <a:prstGeom prst="rect">
            <a:avLst/>
          </a:prstGeom>
          <a:noFill/>
          <a:ln/>
        </p:spPr>
        <p:txBody>
          <a:bodyPr wrap="square" lIns="0" tIns="0" rIns="0" bIns="0" rtlCol="0" anchor="t"/>
          <a:lstStyle/>
          <a:p>
            <a:pPr algn="ctr" indent="0" marL="0">
              <a:lnSpc>
                <a:spcPct val="110000"/>
              </a:lnSpc>
              <a:buNone/>
            </a:pPr>
            <a:r>
              <a:rPr lang="en-US" sz="1660" dirty="0">
                <a:solidFill>
                  <a:srgbClr val="C77BD6"/>
                </a:solidFill>
                <a:latin typeface="Calibri" pitchFamily="34" charset="0"/>
                <a:ea typeface="Calibri" pitchFamily="34" charset="-122"/>
                <a:cs typeface="Calibri" pitchFamily="34" charset="-120"/>
              </a:rPr>
              <a:t>Se elimina. Ojo.</a:t>
            </a:r>
            <a:endParaRPr lang="en-US" sz="1660" dirty="0"/>
          </a:p>
        </p:txBody>
      </p:sp>
      <p:sp>
        <p:nvSpPr>
          <p:cNvPr id="24" name="Shape 21"/>
          <p:cNvSpPr/>
          <p:nvPr/>
        </p:nvSpPr>
        <p:spPr>
          <a:xfrm>
            <a:off x="13345668" y="6046013"/>
            <a:ext cx="3609137" cy="2586838"/>
          </a:xfrm>
          <a:prstGeom prst="roundRect">
            <a:avLst>
              <a:gd name="adj" fmla="val 4878"/>
            </a:avLst>
          </a:prstGeom>
          <a:solidFill>
            <a:srgbClr val="1E0A2B"/>
          </a:solidFill>
          <a:ln w="12700">
            <a:solidFill>
              <a:srgbClr val="1E0A2B"/>
            </a:solidFill>
            <a:prstDash val="solid"/>
          </a:ln>
        </p:spPr>
      </p:sp>
      <p:sp>
        <p:nvSpPr>
          <p:cNvPr id="25" name="Text 22"/>
          <p:cNvSpPr txBox="1"/>
          <p:nvPr/>
        </p:nvSpPr>
        <p:spPr>
          <a:xfrm>
            <a:off x="13345668" y="6235294"/>
            <a:ext cx="3609137" cy="883310"/>
          </a:xfrm>
          <a:prstGeom prst="rect">
            <a:avLst/>
          </a:prstGeom>
          <a:noFill/>
          <a:ln/>
        </p:spPr>
        <p:txBody>
          <a:bodyPr wrap="square" lIns="0" tIns="0" rIns="0" bIns="0" rtlCol="0" anchor="ctr"/>
          <a:lstStyle/>
          <a:p>
            <a:pPr algn="ctr" indent="0" marL="0">
              <a:buNone/>
            </a:pPr>
            <a:r>
              <a:rPr lang="en-US" sz="4970" b="1" dirty="0">
                <a:solidFill>
                  <a:srgbClr val="E8553F"/>
                </a:solidFill>
                <a:latin typeface="Courier New" pitchFamily="34" charset="0"/>
                <a:ea typeface="Courier New" pitchFamily="34" charset="-122"/>
                <a:cs typeface="Courier New" pitchFamily="34" charset="-120"/>
              </a:rPr>
              <a:t>-/+</a:t>
            </a:r>
            <a:endParaRPr lang="en-US" sz="4970" dirty="0"/>
          </a:p>
        </p:txBody>
      </p:sp>
      <p:sp>
        <p:nvSpPr>
          <p:cNvPr id="26" name="Text 23"/>
          <p:cNvSpPr txBox="1"/>
          <p:nvPr/>
        </p:nvSpPr>
        <p:spPr>
          <a:xfrm>
            <a:off x="13345668" y="7118604"/>
            <a:ext cx="3609137" cy="504749"/>
          </a:xfrm>
          <a:prstGeom prst="rect">
            <a:avLst/>
          </a:prstGeom>
          <a:noFill/>
          <a:ln/>
        </p:spPr>
        <p:txBody>
          <a:bodyPr wrap="square" lIns="0" tIns="0" rIns="0" bIns="0" rtlCol="0" anchor="ctr"/>
          <a:lstStyle/>
          <a:p>
            <a:pPr algn="ctr" indent="0" marL="0">
              <a:buNone/>
            </a:pPr>
            <a:r>
              <a:rPr lang="en-US" sz="1930" b="1" dirty="0">
                <a:solidFill>
                  <a:srgbClr val="FFFFFF"/>
                </a:solidFill>
                <a:latin typeface="Courier New" pitchFamily="34" charset="0"/>
                <a:ea typeface="Courier New" pitchFamily="34" charset="-122"/>
                <a:cs typeface="Courier New" pitchFamily="34" charset="-120"/>
              </a:rPr>
              <a:t>replace</a:t>
            </a:r>
            <a:endParaRPr lang="en-US" sz="1930" dirty="0"/>
          </a:p>
        </p:txBody>
      </p:sp>
      <p:sp>
        <p:nvSpPr>
          <p:cNvPr id="27" name="Text 24"/>
          <p:cNvSpPr txBox="1"/>
          <p:nvPr/>
        </p:nvSpPr>
        <p:spPr>
          <a:xfrm>
            <a:off x="13534949" y="7661758"/>
            <a:ext cx="3230575" cy="883310"/>
          </a:xfrm>
          <a:prstGeom prst="rect">
            <a:avLst/>
          </a:prstGeom>
          <a:noFill/>
          <a:ln/>
        </p:spPr>
        <p:txBody>
          <a:bodyPr wrap="square" lIns="0" tIns="0" rIns="0" bIns="0" rtlCol="0" anchor="t"/>
          <a:lstStyle/>
          <a:p>
            <a:pPr algn="ctr" indent="0" marL="0">
              <a:lnSpc>
                <a:spcPct val="110000"/>
              </a:lnSpc>
              <a:buNone/>
            </a:pPr>
            <a:r>
              <a:rPr lang="en-US" sz="1660" dirty="0">
                <a:solidFill>
                  <a:srgbClr val="C77BD6"/>
                </a:solidFill>
                <a:latin typeface="Calibri" pitchFamily="34" charset="0"/>
                <a:ea typeface="Calibri" pitchFamily="34" charset="-122"/>
                <a:cs typeface="Calibri" pitchFamily="34" charset="-120"/>
              </a:rPr>
              <a:t>Se destruye y se recrea.</a:t>
            </a:r>
            <a:endParaRPr lang="en-US" sz="1660" dirty="0"/>
          </a:p>
          <a:p>
            <a:pPr algn="ctr" indent="0" marL="0">
              <a:lnSpc>
                <a:spcPct val="110000"/>
              </a:lnSpc>
              <a:buNone/>
            </a:pPr>
            <a:r>
              <a:rPr lang="en-US" sz="1660" dirty="0">
                <a:solidFill>
                  <a:srgbClr val="C77BD6"/>
                </a:solidFill>
                <a:latin typeface="Calibri" pitchFamily="34" charset="0"/>
                <a:ea typeface="Calibri" pitchFamily="34" charset="-122"/>
                <a:cs typeface="Calibri" pitchFamily="34" charset="-120"/>
              </a:rPr>
              <a:t>AQUÍ SE PIERDEN COSAS.</a:t>
            </a:r>
            <a:endParaRPr lang="en-US" sz="166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pic>
        <p:nvPicPr>
          <p:cNvPr id="2" name="Image 0" descr="/home/claude/bg-white.jpg">    </p:cNvPr>
          <p:cNvPicPr>
            <a:picLocks noChangeAspect="1"/>
          </p:cNvPicPr>
          <p:nvPr/>
        </p:nvPicPr>
        <p:blipFill>
          <a:blip r:embed="rId1"/>
          <a:stretch>
            <a:fillRect/>
          </a:stretch>
        </p:blipFill>
        <p:spPr>
          <a:xfrm>
            <a:off x="0" y="0"/>
            <a:ext cx="18288000" cy="10287000"/>
          </a:xfrm>
          <a:prstGeom prst="rect">
            <a:avLst/>
          </a:prstGeom>
        </p:spPr>
      </p:pic>
      <p:sp>
        <p:nvSpPr>
          <p:cNvPr id="3" name="Text 0"/>
          <p:cNvSpPr txBox="1"/>
          <p:nvPr/>
        </p:nvSpPr>
        <p:spPr>
          <a:xfrm>
            <a:off x="1572768" y="1024128"/>
            <a:ext cx="15142464" cy="404165"/>
          </a:xfrm>
          <a:prstGeom prst="rect">
            <a:avLst/>
          </a:prstGeom>
          <a:noFill/>
          <a:ln/>
        </p:spPr>
        <p:txBody>
          <a:bodyPr wrap="square" lIns="0" tIns="0" rIns="0" bIns="0" rtlCol="0" anchor="ctr"/>
          <a:lstStyle/>
          <a:p>
            <a:pPr indent="0" marL="0">
              <a:buNone/>
            </a:pPr>
            <a:r>
              <a:rPr lang="en-US" sz="1660" b="1" spc="345" kern="0" dirty="0">
                <a:solidFill>
                  <a:srgbClr val="692179"/>
                </a:solidFill>
                <a:latin typeface="Calibri" pitchFamily="34" charset="0"/>
                <a:ea typeface="Calibri" pitchFamily="34" charset="-122"/>
                <a:cs typeface="Calibri" pitchFamily="34" charset="-120"/>
              </a:rPr>
              <a:t>BLOQUE 3 · CÓMO FUNCIONA</a:t>
            </a:r>
            <a:endParaRPr lang="en-US" sz="1660" dirty="0"/>
          </a:p>
        </p:txBody>
      </p:sp>
      <p:sp>
        <p:nvSpPr>
          <p:cNvPr id="4" name="Text 1"/>
          <p:cNvSpPr txBox="1"/>
          <p:nvPr/>
        </p:nvSpPr>
        <p:spPr>
          <a:xfrm>
            <a:off x="1572768" y="1440180"/>
            <a:ext cx="15142464" cy="1072591"/>
          </a:xfrm>
          <a:prstGeom prst="rect">
            <a:avLst/>
          </a:prstGeom>
          <a:noFill/>
          <a:ln/>
        </p:spPr>
        <p:txBody>
          <a:bodyPr wrap="square" lIns="0" tIns="0" rIns="0" bIns="0" rtlCol="0" anchor="ctr"/>
          <a:lstStyle/>
          <a:p>
            <a:pPr algn="l" indent="0" marL="0">
              <a:buNone/>
            </a:pPr>
            <a:r>
              <a:rPr lang="en-US" sz="4690" b="1" dirty="0">
                <a:solidFill>
                  <a:srgbClr val="241028"/>
                </a:solidFill>
                <a:latin typeface="Arial" pitchFamily="34" charset="0"/>
                <a:ea typeface="Arial" pitchFamily="34" charset="-122"/>
                <a:cs typeface="Arial" pitchFamily="34" charset="-120"/>
              </a:rPr>
              <a:t>Así se lee un plan de verdad</a:t>
            </a:r>
            <a:endParaRPr lang="en-US" sz="4690" dirty="0"/>
          </a:p>
        </p:txBody>
      </p:sp>
      <p:sp>
        <p:nvSpPr>
          <p:cNvPr id="5" name="Shape 2"/>
          <p:cNvSpPr/>
          <p:nvPr/>
        </p:nvSpPr>
        <p:spPr>
          <a:xfrm>
            <a:off x="1572768" y="3080614"/>
            <a:ext cx="10094976" cy="5047488"/>
          </a:xfrm>
          <a:prstGeom prst="roundRect">
            <a:avLst>
              <a:gd name="adj" fmla="val 1993"/>
            </a:avLst>
          </a:prstGeom>
          <a:solidFill>
            <a:srgbClr val="2A0E38"/>
          </a:solidFill>
          <a:ln w="12700">
            <a:solidFill>
              <a:srgbClr val="2A0E38"/>
            </a:solidFill>
            <a:prstDash val="solid"/>
          </a:ln>
        </p:spPr>
      </p:sp>
      <p:sp>
        <p:nvSpPr>
          <p:cNvPr id="6" name="Text 3"/>
          <p:cNvSpPr txBox="1"/>
          <p:nvPr/>
        </p:nvSpPr>
        <p:spPr>
          <a:xfrm>
            <a:off x="1850746" y="3282696"/>
            <a:ext cx="9539935" cy="4643323"/>
          </a:xfrm>
          <a:prstGeom prst="rect">
            <a:avLst/>
          </a:prstGeom>
          <a:noFill/>
          <a:ln/>
        </p:spPr>
        <p:txBody>
          <a:bodyPr wrap="square" lIns="0" tIns="0" rIns="0" bIns="0" rtlCol="0" anchor="t"/>
          <a:lstStyle/>
          <a:p>
            <a:pPr algn="l" indent="0" marL="0">
              <a:lnSpc>
                <a:spcPct val="125000"/>
              </a:lnSpc>
              <a:buNone/>
            </a:pPr>
            <a:r>
              <a:rPr lang="en-US" sz="1730" b="1" dirty="0">
                <a:solidFill>
                  <a:srgbClr val="FFFFFF"/>
                </a:solidFill>
                <a:latin typeface="Courier New" pitchFamily="34" charset="0"/>
                <a:ea typeface="Courier New" pitchFamily="34" charset="-122"/>
                <a:cs typeface="Courier New" pitchFamily="34" charset="-120"/>
              </a:rPr>
              <a:t>$ terraform plan</a:t>
            </a:r>
            <a:endParaRPr lang="en-US" sz="1730" dirty="0"/>
          </a:p>
          <a:p>
            <a:pPr algn="l" indent="0" marL="0">
              <a:lnSpc>
                <a:spcPct val="125000"/>
              </a:lnSpc>
              <a:buNone/>
            </a:pPr>
            <a:endParaRPr lang="en-US" sz="1730" dirty="0"/>
          </a:p>
          <a:p>
            <a:pPr algn="l" indent="0" marL="0">
              <a:lnSpc>
                <a:spcPct val="125000"/>
              </a:lnSpc>
              <a:buNone/>
            </a:pPr>
            <a:r>
              <a:rPr lang="en-US" sz="1730" dirty="0">
                <a:solidFill>
                  <a:srgbClr val="EFE6F2"/>
                </a:solidFill>
                <a:latin typeface="Courier New" pitchFamily="34" charset="0"/>
                <a:ea typeface="Courier New" pitchFamily="34" charset="-122"/>
                <a:cs typeface="Courier New" pitchFamily="34" charset="-120"/>
              </a:rPr>
              <a:t>Terraform will perform the following actions:</a:t>
            </a:r>
            <a:endParaRPr lang="en-US" sz="1730" dirty="0"/>
          </a:p>
          <a:p>
            <a:pPr algn="l" indent="0" marL="0">
              <a:lnSpc>
                <a:spcPct val="125000"/>
              </a:lnSpc>
              <a:buNone/>
            </a:pPr>
            <a:endParaRPr lang="en-US" sz="1730" dirty="0"/>
          </a:p>
          <a:p>
            <a:pPr algn="l" indent="0" marL="0">
              <a:lnSpc>
                <a:spcPct val="125000"/>
              </a:lnSpc>
              <a:buNone/>
            </a:pPr>
            <a:r>
              <a:rPr lang="en-US" sz="1730" dirty="0">
                <a:solidFill>
                  <a:srgbClr val="A791AD"/>
                </a:solidFill>
                <a:latin typeface="Courier New" pitchFamily="34" charset="0"/>
                <a:ea typeface="Courier New" pitchFamily="34" charset="-122"/>
                <a:cs typeface="Courier New" pitchFamily="34" charset="-120"/>
              </a:rPr>
              <a:t>  # fabric_workspace.bronze_dev will be created</a:t>
            </a:r>
            <a:endParaRPr lang="en-US" sz="1730" dirty="0"/>
          </a:p>
          <a:p>
            <a:pPr algn="l" indent="0" marL="0">
              <a:lnSpc>
                <a:spcPct val="125000"/>
              </a:lnSpc>
              <a:buNone/>
            </a:pPr>
            <a:r>
              <a:rPr lang="en-US" sz="1730" dirty="0">
                <a:solidFill>
                  <a:srgbClr val="8FD9B6"/>
                </a:solidFill>
                <a:latin typeface="Courier New" pitchFamily="34" charset="0"/>
                <a:ea typeface="Courier New" pitchFamily="34" charset="-122"/>
                <a:cs typeface="Courier New" pitchFamily="34" charset="-120"/>
              </a:rPr>
              <a:t>  + resource "fabric_workspace" "bronze_dev" {</a:t>
            </a:r>
            <a:endParaRPr lang="en-US" sz="1730" dirty="0"/>
          </a:p>
          <a:p>
            <a:pPr algn="l" indent="0" marL="0">
              <a:lnSpc>
                <a:spcPct val="125000"/>
              </a:lnSpc>
              <a:buNone/>
            </a:pPr>
            <a:r>
              <a:rPr lang="en-US" sz="1730" dirty="0">
                <a:solidFill>
                  <a:srgbClr val="8FD9B6"/>
                </a:solidFill>
                <a:latin typeface="Courier New" pitchFamily="34" charset="0"/>
                <a:ea typeface="Courier New" pitchFamily="34" charset="-122"/>
                <a:cs typeface="Courier New" pitchFamily="34" charset="-120"/>
              </a:rPr>
              <a:t>      + display_name = "Bronze-DEV"</a:t>
            </a:r>
            <a:endParaRPr lang="en-US" sz="1730" dirty="0"/>
          </a:p>
          <a:p>
            <a:pPr algn="l" indent="0" marL="0">
              <a:lnSpc>
                <a:spcPct val="125000"/>
              </a:lnSpc>
              <a:buNone/>
            </a:pPr>
            <a:r>
              <a:rPr lang="en-US" sz="1730" dirty="0">
                <a:solidFill>
                  <a:srgbClr val="8FD9B6"/>
                </a:solidFill>
                <a:latin typeface="Courier New" pitchFamily="34" charset="0"/>
                <a:ea typeface="Courier New" pitchFamily="34" charset="-122"/>
                <a:cs typeface="Courier New" pitchFamily="34" charset="-120"/>
              </a:rPr>
              <a:t>      + capacity_id  = "f1a2b3c4-..."</a:t>
            </a:r>
            <a:endParaRPr lang="en-US" sz="1730" dirty="0"/>
          </a:p>
          <a:p>
            <a:pPr algn="l" indent="0" marL="0">
              <a:lnSpc>
                <a:spcPct val="125000"/>
              </a:lnSpc>
              <a:buNone/>
            </a:pPr>
            <a:r>
              <a:rPr lang="en-US" sz="1730" dirty="0">
                <a:solidFill>
                  <a:srgbClr val="8FD9B6"/>
                </a:solidFill>
                <a:latin typeface="Courier New" pitchFamily="34" charset="0"/>
                <a:ea typeface="Courier New" pitchFamily="34" charset="-122"/>
                <a:cs typeface="Courier New" pitchFamily="34" charset="-120"/>
              </a:rPr>
              <a:t>      + id           = (known after apply)</a:t>
            </a:r>
            <a:endParaRPr lang="en-US" sz="1730" dirty="0"/>
          </a:p>
          <a:p>
            <a:pPr algn="l" indent="0" marL="0">
              <a:lnSpc>
                <a:spcPct val="125000"/>
              </a:lnSpc>
              <a:buNone/>
            </a:pPr>
            <a:r>
              <a:rPr lang="en-US" sz="1730" dirty="0">
                <a:solidFill>
                  <a:srgbClr val="8FD9B6"/>
                </a:solidFill>
                <a:latin typeface="Courier New" pitchFamily="34" charset="0"/>
                <a:ea typeface="Courier New" pitchFamily="34" charset="-122"/>
                <a:cs typeface="Courier New" pitchFamily="34" charset="-120"/>
              </a:rPr>
              <a:t>    }</a:t>
            </a:r>
            <a:endParaRPr lang="en-US" sz="1730" dirty="0"/>
          </a:p>
          <a:p>
            <a:pPr algn="l" indent="0" marL="0">
              <a:lnSpc>
                <a:spcPct val="125000"/>
              </a:lnSpc>
              <a:buNone/>
            </a:pPr>
            <a:endParaRPr lang="en-US" sz="1730" dirty="0"/>
          </a:p>
          <a:p>
            <a:pPr algn="l" indent="0" marL="0">
              <a:lnSpc>
                <a:spcPct val="125000"/>
              </a:lnSpc>
              <a:buNone/>
            </a:pPr>
            <a:r>
              <a:rPr lang="en-US" sz="1730" b="1" dirty="0">
                <a:solidFill>
                  <a:srgbClr val="F59120"/>
                </a:solidFill>
                <a:latin typeface="Courier New" pitchFamily="34" charset="0"/>
                <a:ea typeface="Courier New" pitchFamily="34" charset="-122"/>
                <a:cs typeface="Courier New" pitchFamily="34" charset="-120"/>
              </a:rPr>
              <a:t>Plan: 12 to add, 0 to change, 0 to destroy.</a:t>
            </a:r>
            <a:endParaRPr lang="en-US" sz="1730" dirty="0"/>
          </a:p>
        </p:txBody>
      </p:sp>
      <p:sp>
        <p:nvSpPr>
          <p:cNvPr id="7" name="Shape 4"/>
          <p:cNvSpPr/>
          <p:nvPr/>
        </p:nvSpPr>
        <p:spPr>
          <a:xfrm>
            <a:off x="12109399" y="3206801"/>
            <a:ext cx="567842" cy="567842"/>
          </a:xfrm>
          <a:prstGeom prst="ellipse">
            <a:avLst/>
          </a:prstGeom>
          <a:solidFill>
            <a:srgbClr val="692179"/>
          </a:solidFill>
          <a:ln w="12700">
            <a:solidFill>
              <a:srgbClr val="692179"/>
            </a:solidFill>
            <a:prstDash val="solid"/>
          </a:ln>
        </p:spPr>
      </p:sp>
      <p:sp>
        <p:nvSpPr>
          <p:cNvPr id="8" name="Text 5"/>
          <p:cNvSpPr txBox="1"/>
          <p:nvPr/>
        </p:nvSpPr>
        <p:spPr>
          <a:xfrm>
            <a:off x="12109399" y="3206801"/>
            <a:ext cx="567842" cy="567842"/>
          </a:xfrm>
          <a:prstGeom prst="rect">
            <a:avLst/>
          </a:prstGeom>
          <a:noFill/>
          <a:ln/>
        </p:spPr>
        <p:txBody>
          <a:bodyPr wrap="square" lIns="0" tIns="0" rIns="0" bIns="0" rtlCol="0" anchor="ctr"/>
          <a:lstStyle/>
          <a:p>
            <a:pPr algn="ctr" indent="0" marL="0">
              <a:buNone/>
            </a:pPr>
            <a:r>
              <a:rPr lang="en-US" sz="1930" b="1" dirty="0">
                <a:solidFill>
                  <a:srgbClr val="FFFFFF"/>
                </a:solidFill>
                <a:latin typeface="Arial" pitchFamily="34" charset="0"/>
                <a:ea typeface="Arial" pitchFamily="34" charset="-122"/>
                <a:cs typeface="Arial" pitchFamily="34" charset="-120"/>
              </a:rPr>
              <a:t>1</a:t>
            </a:r>
            <a:endParaRPr lang="en-US" sz="1930" dirty="0"/>
          </a:p>
        </p:txBody>
      </p:sp>
      <p:sp>
        <p:nvSpPr>
          <p:cNvPr id="9" name="Text 6"/>
          <p:cNvSpPr txBox="1"/>
          <p:nvPr/>
        </p:nvSpPr>
        <p:spPr>
          <a:xfrm>
            <a:off x="12866522" y="3143707"/>
            <a:ext cx="3911803" cy="530352"/>
          </a:xfrm>
          <a:prstGeom prst="rect">
            <a:avLst/>
          </a:prstGeom>
          <a:noFill/>
          <a:ln/>
        </p:spPr>
        <p:txBody>
          <a:bodyPr wrap="square" lIns="0" tIns="0" rIns="0" bIns="0" rtlCol="0" anchor="ctr"/>
          <a:lstStyle/>
          <a:p>
            <a:pPr indent="0" marL="0">
              <a:buNone/>
            </a:pPr>
            <a:r>
              <a:rPr lang="en-US" sz="2000" b="1" dirty="0">
                <a:solidFill>
                  <a:srgbClr val="241028"/>
                </a:solidFill>
                <a:latin typeface="Arial" pitchFamily="34" charset="0"/>
                <a:ea typeface="Arial" pitchFamily="34" charset="-122"/>
                <a:cs typeface="Arial" pitchFamily="34" charset="-120"/>
              </a:rPr>
              <a:t>Nada se ha tocado todavía</a:t>
            </a:r>
            <a:endParaRPr lang="en-US" sz="2000" dirty="0"/>
          </a:p>
        </p:txBody>
      </p:sp>
      <p:sp>
        <p:nvSpPr>
          <p:cNvPr id="10" name="Text 7"/>
          <p:cNvSpPr txBox="1"/>
          <p:nvPr/>
        </p:nvSpPr>
        <p:spPr>
          <a:xfrm>
            <a:off x="12866522" y="3686861"/>
            <a:ext cx="3911803" cy="1072591"/>
          </a:xfrm>
          <a:prstGeom prst="rect">
            <a:avLst/>
          </a:prstGeom>
          <a:noFill/>
          <a:ln/>
        </p:spPr>
        <p:txBody>
          <a:bodyPr wrap="square" lIns="0" tIns="0" rIns="0" bIns="0" rtlCol="0" anchor="t"/>
          <a:lstStyle/>
          <a:p>
            <a:pPr indent="0" marL="0">
              <a:lnSpc>
                <a:spcPct val="110000"/>
              </a:lnSpc>
              <a:buNone/>
            </a:pPr>
            <a:r>
              <a:rPr lang="en-US" sz="1730" dirty="0">
                <a:solidFill>
                  <a:srgbClr val="6E5C73"/>
                </a:solidFill>
                <a:latin typeface="Calibri" pitchFamily="34" charset="0"/>
                <a:ea typeface="Calibri" pitchFamily="34" charset="-122"/>
                <a:cs typeface="Calibri" pitchFamily="34" charset="-120"/>
              </a:rPr>
              <a:t>plan es de solo lectura. Puedes ejecutarlo mil veces.</a:t>
            </a:r>
            <a:endParaRPr lang="en-US" sz="1730" dirty="0"/>
          </a:p>
        </p:txBody>
      </p:sp>
      <p:sp>
        <p:nvSpPr>
          <p:cNvPr id="11" name="Shape 8"/>
          <p:cNvSpPr/>
          <p:nvPr/>
        </p:nvSpPr>
        <p:spPr>
          <a:xfrm>
            <a:off x="12109399" y="4872838"/>
            <a:ext cx="567842" cy="567842"/>
          </a:xfrm>
          <a:prstGeom prst="ellipse">
            <a:avLst/>
          </a:prstGeom>
          <a:solidFill>
            <a:srgbClr val="692179"/>
          </a:solidFill>
          <a:ln w="12700">
            <a:solidFill>
              <a:srgbClr val="692179"/>
            </a:solidFill>
            <a:prstDash val="solid"/>
          </a:ln>
        </p:spPr>
      </p:sp>
      <p:sp>
        <p:nvSpPr>
          <p:cNvPr id="12" name="Text 9"/>
          <p:cNvSpPr txBox="1"/>
          <p:nvPr/>
        </p:nvSpPr>
        <p:spPr>
          <a:xfrm>
            <a:off x="12109399" y="4872838"/>
            <a:ext cx="567842" cy="567842"/>
          </a:xfrm>
          <a:prstGeom prst="rect">
            <a:avLst/>
          </a:prstGeom>
          <a:noFill/>
          <a:ln/>
        </p:spPr>
        <p:txBody>
          <a:bodyPr wrap="square" lIns="0" tIns="0" rIns="0" bIns="0" rtlCol="0" anchor="ctr"/>
          <a:lstStyle/>
          <a:p>
            <a:pPr algn="ctr" indent="0" marL="0">
              <a:buNone/>
            </a:pPr>
            <a:r>
              <a:rPr lang="en-US" sz="1930" b="1" dirty="0">
                <a:solidFill>
                  <a:srgbClr val="FFFFFF"/>
                </a:solidFill>
                <a:latin typeface="Arial" pitchFamily="34" charset="0"/>
                <a:ea typeface="Arial" pitchFamily="34" charset="-122"/>
                <a:cs typeface="Arial" pitchFamily="34" charset="-120"/>
              </a:rPr>
              <a:t>2</a:t>
            </a:r>
            <a:endParaRPr lang="en-US" sz="1930" dirty="0"/>
          </a:p>
        </p:txBody>
      </p:sp>
      <p:sp>
        <p:nvSpPr>
          <p:cNvPr id="13" name="Text 10"/>
          <p:cNvSpPr txBox="1"/>
          <p:nvPr/>
        </p:nvSpPr>
        <p:spPr>
          <a:xfrm>
            <a:off x="12866522" y="4809744"/>
            <a:ext cx="3911803" cy="530352"/>
          </a:xfrm>
          <a:prstGeom prst="rect">
            <a:avLst/>
          </a:prstGeom>
          <a:noFill/>
          <a:ln/>
        </p:spPr>
        <p:txBody>
          <a:bodyPr wrap="square" lIns="0" tIns="0" rIns="0" bIns="0" rtlCol="0" anchor="ctr"/>
          <a:lstStyle/>
          <a:p>
            <a:pPr indent="0" marL="0">
              <a:buNone/>
            </a:pPr>
            <a:r>
              <a:rPr lang="en-US" sz="2000" b="1" dirty="0">
                <a:solidFill>
                  <a:srgbClr val="241028"/>
                </a:solidFill>
                <a:latin typeface="Arial" pitchFamily="34" charset="0"/>
                <a:ea typeface="Arial" pitchFamily="34" charset="-122"/>
                <a:cs typeface="Arial" pitchFamily="34" charset="-120"/>
              </a:rPr>
              <a:t>Lee siempre la última línea</a:t>
            </a:r>
            <a:endParaRPr lang="en-US" sz="2000" dirty="0"/>
          </a:p>
        </p:txBody>
      </p:sp>
      <p:sp>
        <p:nvSpPr>
          <p:cNvPr id="14" name="Text 11"/>
          <p:cNvSpPr txBox="1"/>
          <p:nvPr/>
        </p:nvSpPr>
        <p:spPr>
          <a:xfrm>
            <a:off x="12866522" y="5351983"/>
            <a:ext cx="3911803" cy="1072591"/>
          </a:xfrm>
          <a:prstGeom prst="rect">
            <a:avLst/>
          </a:prstGeom>
          <a:noFill/>
          <a:ln/>
        </p:spPr>
        <p:txBody>
          <a:bodyPr wrap="square" lIns="0" tIns="0" rIns="0" bIns="0" rtlCol="0" anchor="t"/>
          <a:lstStyle/>
          <a:p>
            <a:pPr indent="0" marL="0">
              <a:lnSpc>
                <a:spcPct val="110000"/>
              </a:lnSpc>
              <a:buNone/>
            </a:pPr>
            <a:r>
              <a:rPr lang="en-US" sz="1730" dirty="0">
                <a:solidFill>
                  <a:srgbClr val="6E5C73"/>
                </a:solidFill>
                <a:latin typeface="Calibri" pitchFamily="34" charset="0"/>
                <a:ea typeface="Calibri" pitchFamily="34" charset="-122"/>
                <a:cs typeface="Calibri" pitchFamily="34" charset="-120"/>
              </a:rPr>
              <a:t>"to destroy" en un número mayor que cero es una señal de parar.</a:t>
            </a:r>
            <a:endParaRPr lang="en-US" sz="1730" dirty="0"/>
          </a:p>
        </p:txBody>
      </p:sp>
      <p:sp>
        <p:nvSpPr>
          <p:cNvPr id="15" name="Shape 12"/>
          <p:cNvSpPr/>
          <p:nvPr/>
        </p:nvSpPr>
        <p:spPr>
          <a:xfrm>
            <a:off x="12109399" y="6538874"/>
            <a:ext cx="567842" cy="567842"/>
          </a:xfrm>
          <a:prstGeom prst="ellipse">
            <a:avLst/>
          </a:prstGeom>
          <a:solidFill>
            <a:srgbClr val="692179"/>
          </a:solidFill>
          <a:ln w="12700">
            <a:solidFill>
              <a:srgbClr val="692179"/>
            </a:solidFill>
            <a:prstDash val="solid"/>
          </a:ln>
        </p:spPr>
      </p:sp>
      <p:sp>
        <p:nvSpPr>
          <p:cNvPr id="16" name="Text 13"/>
          <p:cNvSpPr txBox="1"/>
          <p:nvPr/>
        </p:nvSpPr>
        <p:spPr>
          <a:xfrm>
            <a:off x="12109399" y="6538874"/>
            <a:ext cx="567842" cy="567842"/>
          </a:xfrm>
          <a:prstGeom prst="rect">
            <a:avLst/>
          </a:prstGeom>
          <a:noFill/>
          <a:ln/>
        </p:spPr>
        <p:txBody>
          <a:bodyPr wrap="square" lIns="0" tIns="0" rIns="0" bIns="0" rtlCol="0" anchor="ctr"/>
          <a:lstStyle/>
          <a:p>
            <a:pPr algn="ctr" indent="0" marL="0">
              <a:buNone/>
            </a:pPr>
            <a:r>
              <a:rPr lang="en-US" sz="1930" b="1" dirty="0">
                <a:solidFill>
                  <a:srgbClr val="FFFFFF"/>
                </a:solidFill>
                <a:latin typeface="Arial" pitchFamily="34" charset="0"/>
                <a:ea typeface="Arial" pitchFamily="34" charset="-122"/>
                <a:cs typeface="Arial" pitchFamily="34" charset="-120"/>
              </a:rPr>
              <a:t>3</a:t>
            </a:r>
            <a:endParaRPr lang="en-US" sz="1930" dirty="0"/>
          </a:p>
        </p:txBody>
      </p:sp>
      <p:sp>
        <p:nvSpPr>
          <p:cNvPr id="17" name="Text 14"/>
          <p:cNvSpPr txBox="1"/>
          <p:nvPr/>
        </p:nvSpPr>
        <p:spPr>
          <a:xfrm>
            <a:off x="12866522" y="6475781"/>
            <a:ext cx="3911803" cy="530352"/>
          </a:xfrm>
          <a:prstGeom prst="rect">
            <a:avLst/>
          </a:prstGeom>
          <a:noFill/>
          <a:ln/>
        </p:spPr>
        <p:txBody>
          <a:bodyPr wrap="square" lIns="0" tIns="0" rIns="0" bIns="0" rtlCol="0" anchor="ctr"/>
          <a:lstStyle/>
          <a:p>
            <a:pPr indent="0" marL="0">
              <a:buNone/>
            </a:pPr>
            <a:r>
              <a:rPr lang="en-US" sz="2000" b="1" dirty="0">
                <a:solidFill>
                  <a:srgbClr val="241028"/>
                </a:solidFill>
                <a:latin typeface="Arial" pitchFamily="34" charset="0"/>
                <a:ea typeface="Arial" pitchFamily="34" charset="-122"/>
                <a:cs typeface="Arial" pitchFamily="34" charset="-120"/>
              </a:rPr>
              <a:t>(known after apply)</a:t>
            </a:r>
            <a:endParaRPr lang="en-US" sz="2000" dirty="0"/>
          </a:p>
        </p:txBody>
      </p:sp>
      <p:sp>
        <p:nvSpPr>
          <p:cNvPr id="18" name="Text 15"/>
          <p:cNvSpPr txBox="1"/>
          <p:nvPr/>
        </p:nvSpPr>
        <p:spPr>
          <a:xfrm>
            <a:off x="12866522" y="7018020"/>
            <a:ext cx="3911803" cy="1072591"/>
          </a:xfrm>
          <a:prstGeom prst="rect">
            <a:avLst/>
          </a:prstGeom>
          <a:noFill/>
          <a:ln/>
        </p:spPr>
        <p:txBody>
          <a:bodyPr wrap="square" lIns="0" tIns="0" rIns="0" bIns="0" rtlCol="0" anchor="t"/>
          <a:lstStyle/>
          <a:p>
            <a:pPr indent="0" marL="0">
              <a:lnSpc>
                <a:spcPct val="110000"/>
              </a:lnSpc>
              <a:buNone/>
            </a:pPr>
            <a:r>
              <a:rPr lang="en-US" sz="1730" dirty="0">
                <a:solidFill>
                  <a:srgbClr val="6E5C73"/>
                </a:solidFill>
                <a:latin typeface="Calibri" pitchFamily="34" charset="0"/>
                <a:ea typeface="Calibri" pitchFamily="34" charset="-122"/>
                <a:cs typeface="Calibri" pitchFamily="34" charset="-120"/>
              </a:rPr>
              <a:t>Valores que aún no existen porque los genera Fabric. Es normal.</a:t>
            </a:r>
            <a:endParaRPr lang="en-US" sz="173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pic>
        <p:nvPicPr>
          <p:cNvPr id="2" name="Image 0" descr="/home/claude/bg-white.jpg">    </p:cNvPr>
          <p:cNvPicPr>
            <a:picLocks noChangeAspect="1"/>
          </p:cNvPicPr>
          <p:nvPr/>
        </p:nvPicPr>
        <p:blipFill>
          <a:blip r:embed="rId1"/>
          <a:stretch>
            <a:fillRect/>
          </a:stretch>
        </p:blipFill>
        <p:spPr>
          <a:xfrm>
            <a:off x="0" y="0"/>
            <a:ext cx="18288000" cy="10287000"/>
          </a:xfrm>
          <a:prstGeom prst="rect">
            <a:avLst/>
          </a:prstGeom>
        </p:spPr>
      </p:pic>
      <p:sp>
        <p:nvSpPr>
          <p:cNvPr id="3" name="Text 0"/>
          <p:cNvSpPr txBox="1"/>
          <p:nvPr/>
        </p:nvSpPr>
        <p:spPr>
          <a:xfrm>
            <a:off x="1572768" y="1024128"/>
            <a:ext cx="15142464" cy="404165"/>
          </a:xfrm>
          <a:prstGeom prst="rect">
            <a:avLst/>
          </a:prstGeom>
          <a:noFill/>
          <a:ln/>
        </p:spPr>
        <p:txBody>
          <a:bodyPr wrap="square" lIns="0" tIns="0" rIns="0" bIns="0" rtlCol="0" anchor="ctr"/>
          <a:lstStyle/>
          <a:p>
            <a:pPr indent="0" marL="0">
              <a:buNone/>
            </a:pPr>
            <a:r>
              <a:rPr lang="en-US" sz="1660" b="1" spc="345" kern="0" dirty="0">
                <a:solidFill>
                  <a:srgbClr val="692179"/>
                </a:solidFill>
                <a:latin typeface="Calibri" pitchFamily="34" charset="0"/>
                <a:ea typeface="Calibri" pitchFamily="34" charset="-122"/>
                <a:cs typeface="Calibri" pitchFamily="34" charset="-120"/>
              </a:rPr>
              <a:t>BLOQUE 3 · CÓMO FUNCIONA</a:t>
            </a:r>
            <a:endParaRPr lang="en-US" sz="1660" dirty="0"/>
          </a:p>
        </p:txBody>
      </p:sp>
      <p:sp>
        <p:nvSpPr>
          <p:cNvPr id="4" name="Text 1"/>
          <p:cNvSpPr txBox="1"/>
          <p:nvPr/>
        </p:nvSpPr>
        <p:spPr>
          <a:xfrm>
            <a:off x="1572768" y="1440180"/>
            <a:ext cx="15142464" cy="1072591"/>
          </a:xfrm>
          <a:prstGeom prst="rect">
            <a:avLst/>
          </a:prstGeom>
          <a:noFill/>
          <a:ln/>
        </p:spPr>
        <p:txBody>
          <a:bodyPr wrap="square" lIns="0" tIns="0" rIns="0" bIns="0" rtlCol="0" anchor="ctr"/>
          <a:lstStyle/>
          <a:p>
            <a:pPr algn="l" indent="0" marL="0">
              <a:buNone/>
            </a:pPr>
            <a:r>
              <a:rPr lang="en-US" sz="4690" b="1" dirty="0">
                <a:solidFill>
                  <a:srgbClr val="241028"/>
                </a:solidFill>
                <a:latin typeface="Arial" pitchFamily="34" charset="0"/>
                <a:ea typeface="Arial" pitchFamily="34" charset="-122"/>
                <a:cs typeface="Arial" pitchFamily="34" charset="-120"/>
              </a:rPr>
              <a:t>apply es un MERGE, no un INSERT</a:t>
            </a:r>
            <a:endParaRPr lang="en-US" sz="4690" dirty="0"/>
          </a:p>
        </p:txBody>
      </p:sp>
      <p:sp>
        <p:nvSpPr>
          <p:cNvPr id="5" name="Shape 2"/>
          <p:cNvSpPr/>
          <p:nvPr/>
        </p:nvSpPr>
        <p:spPr>
          <a:xfrm>
            <a:off x="1572768" y="3143707"/>
            <a:ext cx="7381951" cy="3154680"/>
          </a:xfrm>
          <a:prstGeom prst="roundRect">
            <a:avLst>
              <a:gd name="adj" fmla="val 4000"/>
            </a:avLst>
          </a:prstGeom>
          <a:solidFill>
            <a:srgbClr val="FFFFFF"/>
          </a:solidFill>
          <a:ln w="12700">
            <a:solidFill>
              <a:srgbClr val="FFFFFF"/>
            </a:solidFill>
            <a:prstDash val="solid"/>
          </a:ln>
        </p:spPr>
      </p:sp>
      <p:sp>
        <p:nvSpPr>
          <p:cNvPr id="6" name="Text 3"/>
          <p:cNvSpPr txBox="1"/>
          <p:nvPr/>
        </p:nvSpPr>
        <p:spPr>
          <a:xfrm>
            <a:off x="2014423" y="3396082"/>
            <a:ext cx="6498641" cy="567842"/>
          </a:xfrm>
          <a:prstGeom prst="rect">
            <a:avLst/>
          </a:prstGeom>
          <a:noFill/>
          <a:ln/>
        </p:spPr>
        <p:txBody>
          <a:bodyPr wrap="square" lIns="0" tIns="0" rIns="0" bIns="0" rtlCol="0" anchor="ctr"/>
          <a:lstStyle/>
          <a:p>
            <a:pPr indent="0" marL="0">
              <a:buNone/>
            </a:pPr>
            <a:r>
              <a:rPr lang="en-US" sz="2760" b="1" dirty="0">
                <a:solidFill>
                  <a:srgbClr val="E8553F"/>
                </a:solidFill>
                <a:latin typeface="Courier New" pitchFamily="34" charset="0"/>
                <a:ea typeface="Courier New" pitchFamily="34" charset="-122"/>
                <a:cs typeface="Courier New" pitchFamily="34" charset="-120"/>
              </a:rPr>
              <a:t>INSERT</a:t>
            </a:r>
            <a:endParaRPr lang="en-US" sz="2760" dirty="0"/>
          </a:p>
        </p:txBody>
      </p:sp>
      <p:sp>
        <p:nvSpPr>
          <p:cNvPr id="7" name="Text 4"/>
          <p:cNvSpPr txBox="1"/>
          <p:nvPr/>
        </p:nvSpPr>
        <p:spPr>
          <a:xfrm>
            <a:off x="2014423" y="4090111"/>
            <a:ext cx="6498641" cy="1892808"/>
          </a:xfrm>
          <a:prstGeom prst="rect">
            <a:avLst/>
          </a:prstGeom>
          <a:noFill/>
          <a:ln/>
        </p:spPr>
        <p:txBody>
          <a:bodyPr wrap="square" lIns="0" tIns="0" rIns="0" bIns="0" rtlCol="0" anchor="t"/>
          <a:lstStyle/>
          <a:p>
            <a:pPr indent="0" marL="0">
              <a:lnSpc>
                <a:spcPct val="120000"/>
              </a:lnSpc>
              <a:buNone/>
            </a:pPr>
            <a:r>
              <a:rPr lang="en-US" sz="2070" dirty="0">
                <a:solidFill>
                  <a:srgbClr val="6E5C73"/>
                </a:solidFill>
                <a:latin typeface="Calibri" pitchFamily="34" charset="0"/>
                <a:ea typeface="Calibri" pitchFamily="34" charset="-122"/>
                <a:cs typeface="Calibri" pitchFamily="34" charset="-120"/>
              </a:rPr>
              <a:t>Lo ejecutas diez veces y tienes diez filas duplicadas. El script imperativo se comporta así si no lo blindas tú.</a:t>
            </a:r>
            <a:endParaRPr lang="en-US" sz="2070" dirty="0"/>
          </a:p>
        </p:txBody>
      </p:sp>
      <p:sp>
        <p:nvSpPr>
          <p:cNvPr id="8" name="Shape 5"/>
          <p:cNvSpPr/>
          <p:nvPr/>
        </p:nvSpPr>
        <p:spPr>
          <a:xfrm>
            <a:off x="9396374" y="3143707"/>
            <a:ext cx="7318858" cy="3154680"/>
          </a:xfrm>
          <a:prstGeom prst="roundRect">
            <a:avLst>
              <a:gd name="adj" fmla="val 4000"/>
            </a:avLst>
          </a:prstGeom>
          <a:solidFill>
            <a:srgbClr val="FFFFFF"/>
          </a:solidFill>
          <a:ln w="12700">
            <a:solidFill>
              <a:srgbClr val="FFFFFF"/>
            </a:solidFill>
            <a:prstDash val="solid"/>
          </a:ln>
        </p:spPr>
      </p:sp>
      <p:sp>
        <p:nvSpPr>
          <p:cNvPr id="9" name="Text 6"/>
          <p:cNvSpPr txBox="1"/>
          <p:nvPr/>
        </p:nvSpPr>
        <p:spPr>
          <a:xfrm>
            <a:off x="9838030" y="3396082"/>
            <a:ext cx="6435547" cy="567842"/>
          </a:xfrm>
          <a:prstGeom prst="rect">
            <a:avLst/>
          </a:prstGeom>
          <a:noFill/>
          <a:ln/>
        </p:spPr>
        <p:txBody>
          <a:bodyPr wrap="square" lIns="0" tIns="0" rIns="0" bIns="0" rtlCol="0" anchor="ctr"/>
          <a:lstStyle/>
          <a:p>
            <a:pPr indent="0" marL="0">
              <a:buNone/>
            </a:pPr>
            <a:r>
              <a:rPr lang="en-US" sz="2760" b="1" dirty="0">
                <a:solidFill>
                  <a:srgbClr val="2BB5A0"/>
                </a:solidFill>
                <a:latin typeface="Courier New" pitchFamily="34" charset="0"/>
                <a:ea typeface="Courier New" pitchFamily="34" charset="-122"/>
                <a:cs typeface="Courier New" pitchFamily="34" charset="-120"/>
              </a:rPr>
              <a:t>MERGE</a:t>
            </a:r>
            <a:endParaRPr lang="en-US" sz="2760" dirty="0"/>
          </a:p>
        </p:txBody>
      </p:sp>
      <p:sp>
        <p:nvSpPr>
          <p:cNvPr id="10" name="Text 7"/>
          <p:cNvSpPr txBox="1"/>
          <p:nvPr/>
        </p:nvSpPr>
        <p:spPr>
          <a:xfrm>
            <a:off x="9838030" y="4090111"/>
            <a:ext cx="6435547" cy="1892808"/>
          </a:xfrm>
          <a:prstGeom prst="rect">
            <a:avLst/>
          </a:prstGeom>
          <a:noFill/>
          <a:ln/>
        </p:spPr>
        <p:txBody>
          <a:bodyPr wrap="square" lIns="0" tIns="0" rIns="0" bIns="0" rtlCol="0" anchor="t"/>
          <a:lstStyle/>
          <a:p>
            <a:pPr indent="0" marL="0">
              <a:lnSpc>
                <a:spcPct val="120000"/>
              </a:lnSpc>
              <a:buNone/>
            </a:pPr>
            <a:r>
              <a:rPr lang="en-US" sz="2070" dirty="0">
                <a:solidFill>
                  <a:srgbClr val="6E5C73"/>
                </a:solidFill>
                <a:latin typeface="Calibri" pitchFamily="34" charset="0"/>
                <a:ea typeface="Calibri" pitchFamily="34" charset="-122"/>
                <a:cs typeface="Calibri" pitchFamily="34" charset="-120"/>
              </a:rPr>
              <a:t>Lo ejecutas diez veces y el resultado es idéntico. Terraform funciona así de fábrica: se llama idempotencia.</a:t>
            </a:r>
            <a:endParaRPr lang="en-US" sz="2070" dirty="0"/>
          </a:p>
        </p:txBody>
      </p:sp>
      <p:sp>
        <p:nvSpPr>
          <p:cNvPr id="11" name="Shape 8"/>
          <p:cNvSpPr/>
          <p:nvPr/>
        </p:nvSpPr>
        <p:spPr>
          <a:xfrm>
            <a:off x="1572768" y="6613855"/>
            <a:ext cx="15142464" cy="2397557"/>
          </a:xfrm>
          <a:prstGeom prst="roundRect">
            <a:avLst>
              <a:gd name="adj" fmla="val 5263"/>
            </a:avLst>
          </a:prstGeom>
          <a:solidFill>
            <a:srgbClr val="2A0E33"/>
          </a:solidFill>
          <a:ln w="12700">
            <a:solidFill>
              <a:srgbClr val="2A0E33"/>
            </a:solidFill>
            <a:prstDash val="solid"/>
          </a:ln>
        </p:spPr>
      </p:sp>
      <p:sp>
        <p:nvSpPr>
          <p:cNvPr id="12" name="Text 9"/>
          <p:cNvSpPr txBox="1"/>
          <p:nvPr/>
        </p:nvSpPr>
        <p:spPr>
          <a:xfrm>
            <a:off x="2140610" y="6929323"/>
            <a:ext cx="14006779" cy="630936"/>
          </a:xfrm>
          <a:prstGeom prst="rect">
            <a:avLst/>
          </a:prstGeom>
          <a:noFill/>
          <a:ln/>
        </p:spPr>
        <p:txBody>
          <a:bodyPr wrap="square" lIns="0" tIns="0" rIns="0" bIns="0" rtlCol="0" anchor="ctr"/>
          <a:lstStyle/>
          <a:p>
            <a:pPr indent="0" marL="0">
              <a:buNone/>
            </a:pPr>
            <a:r>
              <a:rPr lang="en-US" sz="3040" b="1" dirty="0">
                <a:solidFill>
                  <a:srgbClr val="FFFFFF"/>
                </a:solidFill>
                <a:latin typeface="Arial" pitchFamily="34" charset="0"/>
                <a:ea typeface="Arial" pitchFamily="34" charset="-122"/>
                <a:cs typeface="Arial" pitchFamily="34" charset="-120"/>
              </a:rPr>
              <a:t>Lanza apply diez veces seguidas.</a:t>
            </a:r>
            <a:endParaRPr lang="en-US" sz="3040" dirty="0"/>
          </a:p>
        </p:txBody>
      </p:sp>
      <p:sp>
        <p:nvSpPr>
          <p:cNvPr id="13" name="Text 10"/>
          <p:cNvSpPr txBox="1"/>
          <p:nvPr/>
        </p:nvSpPr>
        <p:spPr>
          <a:xfrm>
            <a:off x="2140610" y="7623353"/>
            <a:ext cx="14006779" cy="694030"/>
          </a:xfrm>
          <a:prstGeom prst="rect">
            <a:avLst/>
          </a:prstGeom>
          <a:noFill/>
          <a:ln/>
        </p:spPr>
        <p:txBody>
          <a:bodyPr wrap="square" lIns="0" tIns="0" rIns="0" bIns="0" rtlCol="0" anchor="ctr"/>
          <a:lstStyle/>
          <a:p>
            <a:pPr indent="0" marL="0">
              <a:buNone/>
            </a:pPr>
            <a:r>
              <a:rPr lang="en-US" sz="3590" b="1" dirty="0">
                <a:solidFill>
                  <a:srgbClr val="F59120"/>
                </a:solidFill>
                <a:latin typeface="Arial" pitchFamily="34" charset="0"/>
                <a:ea typeface="Arial" pitchFamily="34" charset="-122"/>
                <a:cs typeface="Arial" pitchFamily="34" charset="-120"/>
              </a:rPr>
              <a:t>Sigues teniendo 12 workspaces. No 120.</a:t>
            </a:r>
            <a:endParaRPr lang="en-US" sz="3590" dirty="0"/>
          </a:p>
        </p:txBody>
      </p:sp>
      <p:sp>
        <p:nvSpPr>
          <p:cNvPr id="14" name="Text 11"/>
          <p:cNvSpPr txBox="1"/>
          <p:nvPr/>
        </p:nvSpPr>
        <p:spPr>
          <a:xfrm>
            <a:off x="2140610" y="8342986"/>
            <a:ext cx="14006779" cy="504749"/>
          </a:xfrm>
          <a:prstGeom prst="rect">
            <a:avLst/>
          </a:prstGeom>
          <a:noFill/>
          <a:ln/>
        </p:spPr>
        <p:txBody>
          <a:bodyPr wrap="square" lIns="0" tIns="0" rIns="0" bIns="0" rtlCol="0" anchor="ctr"/>
          <a:lstStyle/>
          <a:p>
            <a:pPr indent="0" marL="0">
              <a:buNone/>
            </a:pPr>
            <a:r>
              <a:rPr lang="en-US" sz="1930" i="1" dirty="0">
                <a:solidFill>
                  <a:srgbClr val="C77BD6"/>
                </a:solidFill>
                <a:latin typeface="Calibri" pitchFamily="34" charset="0"/>
                <a:ea typeface="Calibri" pitchFamily="34" charset="-122"/>
                <a:cs typeface="Calibri" pitchFamily="34" charset="-120"/>
              </a:rPr>
              <a:t>Esto es lo que te deja dormir: el apply no acumula, converge.</a:t>
            </a:r>
            <a:endParaRPr lang="en-US" sz="193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pic>
        <p:nvPicPr>
          <p:cNvPr id="2" name="Image 0" descr="/home/claude/bg-white.jpg">    </p:cNvPr>
          <p:cNvPicPr>
            <a:picLocks noChangeAspect="1"/>
          </p:cNvPicPr>
          <p:nvPr/>
        </p:nvPicPr>
        <p:blipFill>
          <a:blip r:embed="rId1"/>
          <a:stretch>
            <a:fillRect/>
          </a:stretch>
        </p:blipFill>
        <p:spPr>
          <a:xfrm>
            <a:off x="0" y="0"/>
            <a:ext cx="18288000" cy="10287000"/>
          </a:xfrm>
          <a:prstGeom prst="rect">
            <a:avLst/>
          </a:prstGeom>
        </p:spPr>
      </p:pic>
      <p:sp>
        <p:nvSpPr>
          <p:cNvPr id="3" name="Text 0"/>
          <p:cNvSpPr txBox="1"/>
          <p:nvPr/>
        </p:nvSpPr>
        <p:spPr>
          <a:xfrm>
            <a:off x="1572768" y="1024128"/>
            <a:ext cx="15142464" cy="404165"/>
          </a:xfrm>
          <a:prstGeom prst="rect">
            <a:avLst/>
          </a:prstGeom>
          <a:noFill/>
          <a:ln/>
        </p:spPr>
        <p:txBody>
          <a:bodyPr wrap="square" lIns="0" tIns="0" rIns="0" bIns="0" rtlCol="0" anchor="ctr"/>
          <a:lstStyle/>
          <a:p>
            <a:pPr indent="0" marL="0">
              <a:buNone/>
            </a:pPr>
            <a:r>
              <a:rPr lang="en-US" sz="1660" b="1" spc="345" kern="0" dirty="0">
                <a:solidFill>
                  <a:srgbClr val="692179"/>
                </a:solidFill>
                <a:latin typeface="Calibri" pitchFamily="34" charset="0"/>
                <a:ea typeface="Calibri" pitchFamily="34" charset="-122"/>
                <a:cs typeface="Calibri" pitchFamily="34" charset="-120"/>
              </a:rPr>
              <a:t>BLOQUE 3 · CÓMO FUNCIONA</a:t>
            </a:r>
            <a:endParaRPr lang="en-US" sz="1660" dirty="0"/>
          </a:p>
        </p:txBody>
      </p:sp>
      <p:sp>
        <p:nvSpPr>
          <p:cNvPr id="4" name="Text 1"/>
          <p:cNvSpPr txBox="1"/>
          <p:nvPr/>
        </p:nvSpPr>
        <p:spPr>
          <a:xfrm>
            <a:off x="1572768" y="1440180"/>
            <a:ext cx="15142464" cy="1072591"/>
          </a:xfrm>
          <a:prstGeom prst="rect">
            <a:avLst/>
          </a:prstGeom>
          <a:noFill/>
          <a:ln/>
        </p:spPr>
        <p:txBody>
          <a:bodyPr wrap="square" lIns="0" tIns="0" rIns="0" bIns="0" rtlCol="0" anchor="ctr"/>
          <a:lstStyle/>
          <a:p>
            <a:pPr algn="l" indent="0" marL="0">
              <a:buNone/>
            </a:pPr>
            <a:r>
              <a:rPr lang="en-US" sz="4690" b="1" dirty="0">
                <a:solidFill>
                  <a:srgbClr val="241028"/>
                </a:solidFill>
                <a:latin typeface="Arial" pitchFamily="34" charset="0"/>
                <a:ea typeface="Arial" pitchFamily="34" charset="-122"/>
                <a:cs typeface="Arial" pitchFamily="34" charset="-120"/>
              </a:rPr>
              <a:t>El ciclo completo: cuatro comandos</a:t>
            </a:r>
            <a:endParaRPr lang="en-US" sz="4690" dirty="0"/>
          </a:p>
        </p:txBody>
      </p:sp>
      <p:sp>
        <p:nvSpPr>
          <p:cNvPr id="5" name="Shape 2"/>
          <p:cNvSpPr/>
          <p:nvPr/>
        </p:nvSpPr>
        <p:spPr>
          <a:xfrm>
            <a:off x="1572768" y="3143707"/>
            <a:ext cx="15142464" cy="1261872"/>
          </a:xfrm>
          <a:prstGeom prst="roundRect">
            <a:avLst>
              <a:gd name="adj" fmla="val 10000"/>
            </a:avLst>
          </a:prstGeom>
          <a:solidFill>
            <a:srgbClr val="F5ECF7"/>
          </a:solidFill>
          <a:ln w="12700">
            <a:solidFill>
              <a:srgbClr val="F5ECF7"/>
            </a:solidFill>
            <a:prstDash val="solid"/>
          </a:ln>
        </p:spPr>
      </p:sp>
      <p:sp>
        <p:nvSpPr>
          <p:cNvPr id="6" name="Shape 3"/>
          <p:cNvSpPr/>
          <p:nvPr/>
        </p:nvSpPr>
        <p:spPr>
          <a:xfrm>
            <a:off x="1825142" y="3371393"/>
            <a:ext cx="3217774" cy="807415"/>
          </a:xfrm>
          <a:prstGeom prst="roundRect">
            <a:avLst>
              <a:gd name="adj" fmla="val 12458"/>
            </a:avLst>
          </a:prstGeom>
          <a:solidFill>
            <a:srgbClr val="692179"/>
          </a:solidFill>
          <a:ln w="12700">
            <a:solidFill>
              <a:srgbClr val="692179"/>
            </a:solidFill>
            <a:prstDash val="solid"/>
          </a:ln>
        </p:spPr>
      </p:sp>
      <p:sp>
        <p:nvSpPr>
          <p:cNvPr id="7" name="Text 4"/>
          <p:cNvSpPr txBox="1"/>
          <p:nvPr/>
        </p:nvSpPr>
        <p:spPr>
          <a:xfrm>
            <a:off x="1825142" y="3371393"/>
            <a:ext cx="3217774" cy="807415"/>
          </a:xfrm>
          <a:prstGeom prst="rect">
            <a:avLst/>
          </a:prstGeom>
          <a:noFill/>
          <a:ln/>
        </p:spPr>
        <p:txBody>
          <a:bodyPr wrap="square" lIns="0" tIns="0" rIns="0" bIns="0" rtlCol="0" anchor="ctr"/>
          <a:lstStyle/>
          <a:p>
            <a:pPr algn="ctr" indent="0" marL="0">
              <a:buNone/>
            </a:pPr>
            <a:r>
              <a:rPr lang="en-US" sz="1730" b="1" dirty="0">
                <a:solidFill>
                  <a:srgbClr val="FFFFFF"/>
                </a:solidFill>
                <a:latin typeface="Courier New" pitchFamily="34" charset="0"/>
                <a:ea typeface="Courier New" pitchFamily="34" charset="-122"/>
                <a:cs typeface="Courier New" pitchFamily="34" charset="-120"/>
              </a:rPr>
              <a:t>terraform init</a:t>
            </a:r>
            <a:endParaRPr lang="en-US" sz="1730" dirty="0"/>
          </a:p>
        </p:txBody>
      </p:sp>
      <p:sp>
        <p:nvSpPr>
          <p:cNvPr id="8" name="Text 5"/>
          <p:cNvSpPr txBox="1"/>
          <p:nvPr/>
        </p:nvSpPr>
        <p:spPr>
          <a:xfrm>
            <a:off x="5295290" y="3308299"/>
            <a:ext cx="11104474" cy="479146"/>
          </a:xfrm>
          <a:prstGeom prst="rect">
            <a:avLst/>
          </a:prstGeom>
          <a:noFill/>
          <a:ln/>
        </p:spPr>
        <p:txBody>
          <a:bodyPr wrap="square" lIns="0" tIns="0" rIns="0" bIns="0" rtlCol="0" anchor="ctr"/>
          <a:lstStyle/>
          <a:p>
            <a:pPr indent="0" marL="0">
              <a:buNone/>
            </a:pPr>
            <a:r>
              <a:rPr lang="en-US" sz="2210" b="1" dirty="0">
                <a:solidFill>
                  <a:srgbClr val="241028"/>
                </a:solidFill>
                <a:latin typeface="Arial" pitchFamily="34" charset="0"/>
                <a:ea typeface="Arial" pitchFamily="34" charset="-122"/>
                <a:cs typeface="Arial" pitchFamily="34" charset="-120"/>
              </a:rPr>
              <a:t>Preparar</a:t>
            </a:r>
            <a:endParaRPr lang="en-US" sz="2210" dirty="0"/>
          </a:p>
        </p:txBody>
      </p:sp>
      <p:sp>
        <p:nvSpPr>
          <p:cNvPr id="9" name="Text 6"/>
          <p:cNvSpPr txBox="1"/>
          <p:nvPr/>
        </p:nvSpPr>
        <p:spPr>
          <a:xfrm>
            <a:off x="5295290" y="3774643"/>
            <a:ext cx="11104474" cy="530352"/>
          </a:xfrm>
          <a:prstGeom prst="rect">
            <a:avLst/>
          </a:prstGeom>
          <a:noFill/>
          <a:ln/>
        </p:spPr>
        <p:txBody>
          <a:bodyPr wrap="square" lIns="0" tIns="0" rIns="0" bIns="0" rtlCol="0" anchor="ctr"/>
          <a:lstStyle/>
          <a:p>
            <a:pPr indent="0" marL="0">
              <a:buNone/>
            </a:pPr>
            <a:r>
              <a:rPr lang="en-US" sz="1790" dirty="0">
                <a:solidFill>
                  <a:srgbClr val="6E5C73"/>
                </a:solidFill>
                <a:latin typeface="Calibri" pitchFamily="34" charset="0"/>
                <a:ea typeface="Calibri" pitchFamily="34" charset="-122"/>
                <a:cs typeface="Calibri" pitchFamily="34" charset="-120"/>
              </a:rPr>
              <a:t>Descarga los providers que has declarado. Se ejecuta una vez por proyecto (y cada vez que cambies versiones).</a:t>
            </a:r>
            <a:endParaRPr lang="en-US" sz="1790" dirty="0"/>
          </a:p>
        </p:txBody>
      </p:sp>
      <p:sp>
        <p:nvSpPr>
          <p:cNvPr id="10" name="Shape 7"/>
          <p:cNvSpPr/>
          <p:nvPr/>
        </p:nvSpPr>
        <p:spPr>
          <a:xfrm>
            <a:off x="1572768" y="4633265"/>
            <a:ext cx="15142464" cy="1261872"/>
          </a:xfrm>
          <a:prstGeom prst="roundRect">
            <a:avLst>
              <a:gd name="adj" fmla="val 10000"/>
            </a:avLst>
          </a:prstGeom>
          <a:solidFill>
            <a:srgbClr val="F5ECF7"/>
          </a:solidFill>
          <a:ln w="12700">
            <a:solidFill>
              <a:srgbClr val="F5ECF7"/>
            </a:solidFill>
            <a:prstDash val="solid"/>
          </a:ln>
        </p:spPr>
      </p:sp>
      <p:sp>
        <p:nvSpPr>
          <p:cNvPr id="11" name="Shape 8"/>
          <p:cNvSpPr/>
          <p:nvPr/>
        </p:nvSpPr>
        <p:spPr>
          <a:xfrm>
            <a:off x="1825142" y="4860036"/>
            <a:ext cx="3217774" cy="807415"/>
          </a:xfrm>
          <a:prstGeom prst="roundRect">
            <a:avLst>
              <a:gd name="adj" fmla="val 12458"/>
            </a:avLst>
          </a:prstGeom>
          <a:solidFill>
            <a:srgbClr val="2BB5A0"/>
          </a:solidFill>
          <a:ln w="12700">
            <a:solidFill>
              <a:srgbClr val="2BB5A0"/>
            </a:solidFill>
            <a:prstDash val="solid"/>
          </a:ln>
        </p:spPr>
      </p:sp>
      <p:sp>
        <p:nvSpPr>
          <p:cNvPr id="12" name="Text 9"/>
          <p:cNvSpPr txBox="1"/>
          <p:nvPr/>
        </p:nvSpPr>
        <p:spPr>
          <a:xfrm>
            <a:off x="1825142" y="4860036"/>
            <a:ext cx="3217774" cy="807415"/>
          </a:xfrm>
          <a:prstGeom prst="rect">
            <a:avLst/>
          </a:prstGeom>
          <a:noFill/>
          <a:ln/>
        </p:spPr>
        <p:txBody>
          <a:bodyPr wrap="square" lIns="0" tIns="0" rIns="0" bIns="0" rtlCol="0" anchor="ctr"/>
          <a:lstStyle/>
          <a:p>
            <a:pPr algn="ctr" indent="0" marL="0">
              <a:buNone/>
            </a:pPr>
            <a:r>
              <a:rPr lang="en-US" sz="1730" b="1" dirty="0">
                <a:solidFill>
                  <a:srgbClr val="FFFFFF"/>
                </a:solidFill>
                <a:latin typeface="Courier New" pitchFamily="34" charset="0"/>
                <a:ea typeface="Courier New" pitchFamily="34" charset="-122"/>
                <a:cs typeface="Courier New" pitchFamily="34" charset="-120"/>
              </a:rPr>
              <a:t>terraform plan</a:t>
            </a:r>
            <a:endParaRPr lang="en-US" sz="1730" dirty="0"/>
          </a:p>
        </p:txBody>
      </p:sp>
      <p:sp>
        <p:nvSpPr>
          <p:cNvPr id="13" name="Text 10"/>
          <p:cNvSpPr txBox="1"/>
          <p:nvPr/>
        </p:nvSpPr>
        <p:spPr>
          <a:xfrm>
            <a:off x="5295290" y="4796942"/>
            <a:ext cx="11104474" cy="479146"/>
          </a:xfrm>
          <a:prstGeom prst="rect">
            <a:avLst/>
          </a:prstGeom>
          <a:noFill/>
          <a:ln/>
        </p:spPr>
        <p:txBody>
          <a:bodyPr wrap="square" lIns="0" tIns="0" rIns="0" bIns="0" rtlCol="0" anchor="ctr"/>
          <a:lstStyle/>
          <a:p>
            <a:pPr indent="0" marL="0">
              <a:buNone/>
            </a:pPr>
            <a:r>
              <a:rPr lang="en-US" sz="2210" b="1" dirty="0">
                <a:solidFill>
                  <a:srgbClr val="241028"/>
                </a:solidFill>
                <a:latin typeface="Arial" pitchFamily="34" charset="0"/>
                <a:ea typeface="Arial" pitchFamily="34" charset="-122"/>
                <a:cs typeface="Arial" pitchFamily="34" charset="-120"/>
              </a:rPr>
              <a:t>Mirar</a:t>
            </a:r>
            <a:endParaRPr lang="en-US" sz="2210" dirty="0"/>
          </a:p>
        </p:txBody>
      </p:sp>
      <p:sp>
        <p:nvSpPr>
          <p:cNvPr id="14" name="Text 11"/>
          <p:cNvSpPr txBox="1"/>
          <p:nvPr/>
        </p:nvSpPr>
        <p:spPr>
          <a:xfrm>
            <a:off x="5295290" y="5264201"/>
            <a:ext cx="11104474" cy="530352"/>
          </a:xfrm>
          <a:prstGeom prst="rect">
            <a:avLst/>
          </a:prstGeom>
          <a:noFill/>
          <a:ln/>
        </p:spPr>
        <p:txBody>
          <a:bodyPr wrap="square" lIns="0" tIns="0" rIns="0" bIns="0" rtlCol="0" anchor="ctr"/>
          <a:lstStyle/>
          <a:p>
            <a:pPr indent="0" marL="0">
              <a:buNone/>
            </a:pPr>
            <a:r>
              <a:rPr lang="en-US" sz="1790" dirty="0">
                <a:solidFill>
                  <a:srgbClr val="6E5C73"/>
                </a:solidFill>
                <a:latin typeface="Calibri" pitchFamily="34" charset="0"/>
                <a:ea typeface="Calibri" pitchFamily="34" charset="-122"/>
                <a:cs typeface="Calibri" pitchFamily="34" charset="-120"/>
              </a:rPr>
              <a:t>Calcula la diferencia y te la enseña. No toca nada. Ejecútalo todas las veces que quieras.</a:t>
            </a:r>
            <a:endParaRPr lang="en-US" sz="1790" dirty="0"/>
          </a:p>
        </p:txBody>
      </p:sp>
      <p:sp>
        <p:nvSpPr>
          <p:cNvPr id="15" name="Shape 12"/>
          <p:cNvSpPr/>
          <p:nvPr/>
        </p:nvSpPr>
        <p:spPr>
          <a:xfrm>
            <a:off x="1572768" y="6121908"/>
            <a:ext cx="15142464" cy="1261872"/>
          </a:xfrm>
          <a:prstGeom prst="roundRect">
            <a:avLst>
              <a:gd name="adj" fmla="val 10000"/>
            </a:avLst>
          </a:prstGeom>
          <a:solidFill>
            <a:srgbClr val="F5ECF7"/>
          </a:solidFill>
          <a:ln w="12700">
            <a:solidFill>
              <a:srgbClr val="F5ECF7"/>
            </a:solidFill>
            <a:prstDash val="solid"/>
          </a:ln>
        </p:spPr>
      </p:sp>
      <p:sp>
        <p:nvSpPr>
          <p:cNvPr id="16" name="Shape 13"/>
          <p:cNvSpPr/>
          <p:nvPr/>
        </p:nvSpPr>
        <p:spPr>
          <a:xfrm>
            <a:off x="1825142" y="6349594"/>
            <a:ext cx="3217774" cy="807415"/>
          </a:xfrm>
          <a:prstGeom prst="roundRect">
            <a:avLst>
              <a:gd name="adj" fmla="val 12458"/>
            </a:avLst>
          </a:prstGeom>
          <a:solidFill>
            <a:srgbClr val="F59120"/>
          </a:solidFill>
          <a:ln w="12700">
            <a:solidFill>
              <a:srgbClr val="F59120"/>
            </a:solidFill>
            <a:prstDash val="solid"/>
          </a:ln>
        </p:spPr>
      </p:sp>
      <p:sp>
        <p:nvSpPr>
          <p:cNvPr id="17" name="Text 14"/>
          <p:cNvSpPr txBox="1"/>
          <p:nvPr/>
        </p:nvSpPr>
        <p:spPr>
          <a:xfrm>
            <a:off x="1825142" y="6349594"/>
            <a:ext cx="3217774" cy="807415"/>
          </a:xfrm>
          <a:prstGeom prst="rect">
            <a:avLst/>
          </a:prstGeom>
          <a:noFill/>
          <a:ln/>
        </p:spPr>
        <p:txBody>
          <a:bodyPr wrap="square" lIns="0" tIns="0" rIns="0" bIns="0" rtlCol="0" anchor="ctr"/>
          <a:lstStyle/>
          <a:p>
            <a:pPr algn="ctr" indent="0" marL="0">
              <a:buNone/>
            </a:pPr>
            <a:r>
              <a:rPr lang="en-US" sz="1730" b="1" dirty="0">
                <a:solidFill>
                  <a:srgbClr val="2A0E33"/>
                </a:solidFill>
                <a:latin typeface="Courier New" pitchFamily="34" charset="0"/>
                <a:ea typeface="Courier New" pitchFamily="34" charset="-122"/>
                <a:cs typeface="Courier New" pitchFamily="34" charset="-120"/>
              </a:rPr>
              <a:t>terraform apply</a:t>
            </a:r>
            <a:endParaRPr lang="en-US" sz="1730" dirty="0"/>
          </a:p>
        </p:txBody>
      </p:sp>
      <p:sp>
        <p:nvSpPr>
          <p:cNvPr id="18" name="Text 15"/>
          <p:cNvSpPr txBox="1"/>
          <p:nvPr/>
        </p:nvSpPr>
        <p:spPr>
          <a:xfrm>
            <a:off x="5295290" y="6286500"/>
            <a:ext cx="11104474" cy="479146"/>
          </a:xfrm>
          <a:prstGeom prst="rect">
            <a:avLst/>
          </a:prstGeom>
          <a:noFill/>
          <a:ln/>
        </p:spPr>
        <p:txBody>
          <a:bodyPr wrap="square" lIns="0" tIns="0" rIns="0" bIns="0" rtlCol="0" anchor="ctr"/>
          <a:lstStyle/>
          <a:p>
            <a:pPr indent="0" marL="0">
              <a:buNone/>
            </a:pPr>
            <a:r>
              <a:rPr lang="en-US" sz="2210" b="1" dirty="0">
                <a:solidFill>
                  <a:srgbClr val="241028"/>
                </a:solidFill>
                <a:latin typeface="Arial" pitchFamily="34" charset="0"/>
                <a:ea typeface="Arial" pitchFamily="34" charset="-122"/>
                <a:cs typeface="Arial" pitchFamily="34" charset="-120"/>
              </a:rPr>
              <a:t>Aplicar</a:t>
            </a:r>
            <a:endParaRPr lang="en-US" sz="2210" dirty="0"/>
          </a:p>
        </p:txBody>
      </p:sp>
      <p:sp>
        <p:nvSpPr>
          <p:cNvPr id="19" name="Text 16"/>
          <p:cNvSpPr txBox="1"/>
          <p:nvPr/>
        </p:nvSpPr>
        <p:spPr>
          <a:xfrm>
            <a:off x="5295290" y="6752844"/>
            <a:ext cx="11104474" cy="530352"/>
          </a:xfrm>
          <a:prstGeom prst="rect">
            <a:avLst/>
          </a:prstGeom>
          <a:noFill/>
          <a:ln/>
        </p:spPr>
        <p:txBody>
          <a:bodyPr wrap="square" lIns="0" tIns="0" rIns="0" bIns="0" rtlCol="0" anchor="ctr"/>
          <a:lstStyle/>
          <a:p>
            <a:pPr indent="0" marL="0">
              <a:buNone/>
            </a:pPr>
            <a:r>
              <a:rPr lang="en-US" sz="1790" dirty="0">
                <a:solidFill>
                  <a:srgbClr val="6E5C73"/>
                </a:solidFill>
                <a:latin typeface="Calibri" pitchFamily="34" charset="0"/>
                <a:ea typeface="Calibri" pitchFamily="34" charset="-122"/>
                <a:cs typeface="Calibri" pitchFamily="34" charset="-120"/>
              </a:rPr>
              <a:t>Vuelve a calcular el plan, te pide confirmación y lo ejecuta. Luego actualiza el estado.</a:t>
            </a:r>
            <a:endParaRPr lang="en-US" sz="1790" dirty="0"/>
          </a:p>
        </p:txBody>
      </p:sp>
      <p:sp>
        <p:nvSpPr>
          <p:cNvPr id="20" name="Shape 17"/>
          <p:cNvSpPr/>
          <p:nvPr/>
        </p:nvSpPr>
        <p:spPr>
          <a:xfrm>
            <a:off x="1572768" y="7611466"/>
            <a:ext cx="15142464" cy="1261872"/>
          </a:xfrm>
          <a:prstGeom prst="roundRect">
            <a:avLst>
              <a:gd name="adj" fmla="val 10000"/>
            </a:avLst>
          </a:prstGeom>
          <a:solidFill>
            <a:srgbClr val="F5ECF7"/>
          </a:solidFill>
          <a:ln w="12700">
            <a:solidFill>
              <a:srgbClr val="F5ECF7"/>
            </a:solidFill>
            <a:prstDash val="solid"/>
          </a:ln>
        </p:spPr>
      </p:sp>
      <p:sp>
        <p:nvSpPr>
          <p:cNvPr id="21" name="Shape 18"/>
          <p:cNvSpPr/>
          <p:nvPr/>
        </p:nvSpPr>
        <p:spPr>
          <a:xfrm>
            <a:off x="1825142" y="7838237"/>
            <a:ext cx="3217774" cy="807415"/>
          </a:xfrm>
          <a:prstGeom prst="roundRect">
            <a:avLst>
              <a:gd name="adj" fmla="val 12458"/>
            </a:avLst>
          </a:prstGeom>
          <a:solidFill>
            <a:srgbClr val="E8553F"/>
          </a:solidFill>
          <a:ln w="12700">
            <a:solidFill>
              <a:srgbClr val="E8553F"/>
            </a:solidFill>
            <a:prstDash val="solid"/>
          </a:ln>
        </p:spPr>
      </p:sp>
      <p:sp>
        <p:nvSpPr>
          <p:cNvPr id="22" name="Text 19"/>
          <p:cNvSpPr txBox="1"/>
          <p:nvPr/>
        </p:nvSpPr>
        <p:spPr>
          <a:xfrm>
            <a:off x="1825142" y="7838237"/>
            <a:ext cx="3217774" cy="807415"/>
          </a:xfrm>
          <a:prstGeom prst="rect">
            <a:avLst/>
          </a:prstGeom>
          <a:noFill/>
          <a:ln/>
        </p:spPr>
        <p:txBody>
          <a:bodyPr wrap="square" lIns="0" tIns="0" rIns="0" bIns="0" rtlCol="0" anchor="ctr"/>
          <a:lstStyle/>
          <a:p>
            <a:pPr algn="ctr" indent="0" marL="0">
              <a:buNone/>
            </a:pPr>
            <a:r>
              <a:rPr lang="en-US" sz="1730" b="1" dirty="0">
                <a:solidFill>
                  <a:srgbClr val="FFFFFF"/>
                </a:solidFill>
                <a:latin typeface="Courier New" pitchFamily="34" charset="0"/>
                <a:ea typeface="Courier New" pitchFamily="34" charset="-122"/>
                <a:cs typeface="Courier New" pitchFamily="34" charset="-120"/>
              </a:rPr>
              <a:t>terraform destroy</a:t>
            </a:r>
            <a:endParaRPr lang="en-US" sz="1730" dirty="0"/>
          </a:p>
        </p:txBody>
      </p:sp>
      <p:sp>
        <p:nvSpPr>
          <p:cNvPr id="23" name="Text 20"/>
          <p:cNvSpPr txBox="1"/>
          <p:nvPr/>
        </p:nvSpPr>
        <p:spPr>
          <a:xfrm>
            <a:off x="5295290" y="7775143"/>
            <a:ext cx="11104474" cy="479146"/>
          </a:xfrm>
          <a:prstGeom prst="rect">
            <a:avLst/>
          </a:prstGeom>
          <a:noFill/>
          <a:ln/>
        </p:spPr>
        <p:txBody>
          <a:bodyPr wrap="square" lIns="0" tIns="0" rIns="0" bIns="0" rtlCol="0" anchor="ctr"/>
          <a:lstStyle/>
          <a:p>
            <a:pPr indent="0" marL="0">
              <a:buNone/>
            </a:pPr>
            <a:r>
              <a:rPr lang="en-US" sz="2210" b="1" dirty="0">
                <a:solidFill>
                  <a:srgbClr val="241028"/>
                </a:solidFill>
                <a:latin typeface="Arial" pitchFamily="34" charset="0"/>
                <a:ea typeface="Arial" pitchFamily="34" charset="-122"/>
                <a:cs typeface="Arial" pitchFamily="34" charset="-120"/>
              </a:rPr>
              <a:t>Borrar</a:t>
            </a:r>
            <a:endParaRPr lang="en-US" sz="2210" dirty="0"/>
          </a:p>
        </p:txBody>
      </p:sp>
      <p:sp>
        <p:nvSpPr>
          <p:cNvPr id="24" name="Text 21"/>
          <p:cNvSpPr txBox="1"/>
          <p:nvPr/>
        </p:nvSpPr>
        <p:spPr>
          <a:xfrm>
            <a:off x="5295290" y="8242402"/>
            <a:ext cx="11104474" cy="530352"/>
          </a:xfrm>
          <a:prstGeom prst="rect">
            <a:avLst/>
          </a:prstGeom>
          <a:noFill/>
          <a:ln/>
        </p:spPr>
        <p:txBody>
          <a:bodyPr wrap="square" lIns="0" tIns="0" rIns="0" bIns="0" rtlCol="0" anchor="ctr"/>
          <a:lstStyle/>
          <a:p>
            <a:pPr indent="0" marL="0">
              <a:buNone/>
            </a:pPr>
            <a:r>
              <a:rPr lang="en-US" sz="1790" dirty="0">
                <a:solidFill>
                  <a:srgbClr val="6E5C73"/>
                </a:solidFill>
                <a:latin typeface="Calibri" pitchFamily="34" charset="0"/>
                <a:ea typeface="Calibri" pitchFamily="34" charset="-122"/>
                <a:cs typeface="Calibri" pitchFamily="34" charset="-120"/>
              </a:rPr>
              <a:t>Elimina todo lo que gestiona. Perfecto para entornos de demo y para tu bolsillo.</a:t>
            </a:r>
            <a:endParaRPr lang="en-US" sz="1790" dirty="0"/>
          </a:p>
        </p:txBody>
      </p:sp>
      <p:sp>
        <p:nvSpPr>
          <p:cNvPr id="25" name="Text 22"/>
          <p:cNvSpPr txBox="1"/>
          <p:nvPr/>
        </p:nvSpPr>
        <p:spPr>
          <a:xfrm>
            <a:off x="1572768" y="9074506"/>
            <a:ext cx="15142464" cy="567842"/>
          </a:xfrm>
          <a:prstGeom prst="rect">
            <a:avLst/>
          </a:prstGeom>
          <a:noFill/>
          <a:ln/>
        </p:spPr>
        <p:txBody>
          <a:bodyPr wrap="square" lIns="0" tIns="0" rIns="0" bIns="0" rtlCol="0" anchor="ctr"/>
          <a:lstStyle/>
          <a:p>
            <a:pPr indent="0" marL="0">
              <a:buNone/>
            </a:pPr>
            <a:r>
              <a:rPr lang="en-US" sz="1930" i="1" dirty="0">
                <a:solidFill>
                  <a:srgbClr val="692179"/>
                </a:solidFill>
                <a:latin typeface="Calibri" pitchFamily="34" charset="0"/>
                <a:ea typeface="Calibri" pitchFamily="34" charset="-122"/>
                <a:cs typeface="Calibri" pitchFamily="34" charset="-120"/>
              </a:rPr>
              <a:t>En el día a día son dos: plan y apply. Los otros dos casi nunca.</a:t>
            </a:r>
            <a:endParaRPr lang="en-US" sz="193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pic>
        <p:nvPicPr>
          <p:cNvPr id="2" name="Image 0" descr="/home/claude/bg-dark.jpg">    </p:cNvPr>
          <p:cNvPicPr>
            <a:picLocks noChangeAspect="1"/>
          </p:cNvPicPr>
          <p:nvPr/>
        </p:nvPicPr>
        <p:blipFill>
          <a:blip r:embed="rId1"/>
          <a:stretch>
            <a:fillRect/>
          </a:stretch>
        </p:blipFill>
        <p:spPr>
          <a:xfrm>
            <a:off x="0" y="0"/>
            <a:ext cx="18288000" cy="10287000"/>
          </a:xfrm>
          <a:prstGeom prst="rect">
            <a:avLst/>
          </a:prstGeom>
        </p:spPr>
      </p:pic>
      <p:sp>
        <p:nvSpPr>
          <p:cNvPr id="3" name="Text 0"/>
          <p:cNvSpPr txBox="1"/>
          <p:nvPr/>
        </p:nvSpPr>
        <p:spPr>
          <a:xfrm>
            <a:off x="1572768" y="1024128"/>
            <a:ext cx="15142464" cy="404165"/>
          </a:xfrm>
          <a:prstGeom prst="rect">
            <a:avLst/>
          </a:prstGeom>
          <a:noFill/>
          <a:ln/>
        </p:spPr>
        <p:txBody>
          <a:bodyPr wrap="square" lIns="0" tIns="0" rIns="0" bIns="0" rtlCol="0" anchor="ctr"/>
          <a:lstStyle/>
          <a:p>
            <a:pPr indent="0" marL="0">
              <a:buNone/>
            </a:pPr>
            <a:r>
              <a:rPr lang="en-US" sz="1660" b="1" spc="345" kern="0" dirty="0">
                <a:solidFill>
                  <a:srgbClr val="F59120"/>
                </a:solidFill>
                <a:latin typeface="Calibri" pitchFamily="34" charset="0"/>
                <a:ea typeface="Calibri" pitchFamily="34" charset="-122"/>
                <a:cs typeface="Calibri" pitchFamily="34" charset="-120"/>
              </a:rPr>
              <a:t>BLOQUE 3 · CÓMO FUNCIONA</a:t>
            </a:r>
            <a:endParaRPr lang="en-US" sz="1660" dirty="0"/>
          </a:p>
        </p:txBody>
      </p:sp>
      <p:sp>
        <p:nvSpPr>
          <p:cNvPr id="4" name="Text 1"/>
          <p:cNvSpPr txBox="1"/>
          <p:nvPr/>
        </p:nvSpPr>
        <p:spPr>
          <a:xfrm>
            <a:off x="1572768" y="1440180"/>
            <a:ext cx="15142464" cy="1072591"/>
          </a:xfrm>
          <a:prstGeom prst="rect">
            <a:avLst/>
          </a:prstGeom>
          <a:noFill/>
          <a:ln/>
        </p:spPr>
        <p:txBody>
          <a:bodyPr wrap="square" lIns="0" tIns="0" rIns="0" bIns="0" rtlCol="0" anchor="ctr"/>
          <a:lstStyle/>
          <a:p>
            <a:pPr algn="l" indent="0" marL="0">
              <a:buNone/>
            </a:pPr>
            <a:r>
              <a:rPr lang="en-US" sz="4690" b="1" dirty="0">
                <a:solidFill>
                  <a:srgbClr val="FFFFFF"/>
                </a:solidFill>
                <a:latin typeface="Arial" pitchFamily="34" charset="0"/>
                <a:ea typeface="Arial" pitchFamily="34" charset="-122"/>
                <a:cs typeface="Arial" pitchFamily="34" charset="-120"/>
              </a:rPr>
              <a:t>¿Y si alguien toca el portal a mano?</a:t>
            </a:r>
            <a:endParaRPr lang="en-US" sz="4690" dirty="0"/>
          </a:p>
        </p:txBody>
      </p:sp>
      <p:sp>
        <p:nvSpPr>
          <p:cNvPr id="5" name="Shape 2"/>
          <p:cNvSpPr/>
          <p:nvPr/>
        </p:nvSpPr>
        <p:spPr>
          <a:xfrm>
            <a:off x="1572768" y="3143707"/>
            <a:ext cx="4845406" cy="3028493"/>
          </a:xfrm>
          <a:prstGeom prst="roundRect">
            <a:avLst>
              <a:gd name="adj" fmla="val 4167"/>
            </a:avLst>
          </a:prstGeom>
          <a:solidFill>
            <a:srgbClr val="1E0A2B"/>
          </a:solidFill>
          <a:ln w="12700">
            <a:solidFill>
              <a:srgbClr val="1E0A2B"/>
            </a:solidFill>
            <a:prstDash val="solid"/>
          </a:ln>
        </p:spPr>
      </p:sp>
      <p:sp>
        <p:nvSpPr>
          <p:cNvPr id="6" name="Shape 3"/>
          <p:cNvSpPr/>
          <p:nvPr/>
        </p:nvSpPr>
        <p:spPr>
          <a:xfrm>
            <a:off x="1976933" y="3522269"/>
            <a:ext cx="656539" cy="656539"/>
          </a:xfrm>
          <a:prstGeom prst="ellipse">
            <a:avLst/>
          </a:prstGeom>
          <a:solidFill>
            <a:srgbClr val="F59120"/>
          </a:solidFill>
          <a:ln w="12700">
            <a:solidFill>
              <a:srgbClr val="F59120"/>
            </a:solidFill>
            <a:prstDash val="solid"/>
          </a:ln>
        </p:spPr>
      </p:sp>
      <p:sp>
        <p:nvSpPr>
          <p:cNvPr id="7" name="Text 4"/>
          <p:cNvSpPr txBox="1"/>
          <p:nvPr/>
        </p:nvSpPr>
        <p:spPr>
          <a:xfrm>
            <a:off x="1976933" y="3522269"/>
            <a:ext cx="656539" cy="656539"/>
          </a:xfrm>
          <a:prstGeom prst="rect">
            <a:avLst/>
          </a:prstGeom>
          <a:noFill/>
          <a:ln/>
        </p:spPr>
        <p:txBody>
          <a:bodyPr wrap="square" lIns="0" tIns="0" rIns="0" bIns="0" rtlCol="0" anchor="ctr"/>
          <a:lstStyle/>
          <a:p>
            <a:pPr algn="ctr" indent="0" marL="0">
              <a:buNone/>
            </a:pPr>
            <a:r>
              <a:rPr lang="en-US" sz="2210" b="1" dirty="0">
                <a:solidFill>
                  <a:srgbClr val="2A0E33"/>
                </a:solidFill>
                <a:latin typeface="Arial" pitchFamily="34" charset="0"/>
                <a:ea typeface="Arial" pitchFamily="34" charset="-122"/>
                <a:cs typeface="Arial" pitchFamily="34" charset="-120"/>
              </a:rPr>
              <a:t>1</a:t>
            </a:r>
            <a:endParaRPr lang="en-US" sz="2210" dirty="0"/>
          </a:p>
        </p:txBody>
      </p:sp>
      <p:sp>
        <p:nvSpPr>
          <p:cNvPr id="8" name="Text 5"/>
          <p:cNvSpPr txBox="1"/>
          <p:nvPr/>
        </p:nvSpPr>
        <p:spPr>
          <a:xfrm>
            <a:off x="1976933" y="4380890"/>
            <a:ext cx="4037990" cy="946404"/>
          </a:xfrm>
          <a:prstGeom prst="rect">
            <a:avLst/>
          </a:prstGeom>
          <a:noFill/>
          <a:ln/>
        </p:spPr>
        <p:txBody>
          <a:bodyPr wrap="square" lIns="0" tIns="0" rIns="0" bIns="0" rtlCol="0" anchor="t"/>
          <a:lstStyle/>
          <a:p>
            <a:pPr indent="0" marL="0">
              <a:lnSpc>
                <a:spcPct val="105000"/>
              </a:lnSpc>
              <a:buNone/>
            </a:pPr>
            <a:r>
              <a:rPr lang="en-US" sz="2210" b="1" dirty="0">
                <a:solidFill>
                  <a:srgbClr val="FFFFFF"/>
                </a:solidFill>
                <a:latin typeface="Arial" pitchFamily="34" charset="0"/>
                <a:ea typeface="Arial" pitchFamily="34" charset="-122"/>
                <a:cs typeface="Arial" pitchFamily="34" charset="-120"/>
              </a:rPr>
              <a:t>Alguien entra al portal</a:t>
            </a:r>
            <a:endParaRPr lang="en-US" sz="2210" dirty="0"/>
          </a:p>
        </p:txBody>
      </p:sp>
      <p:sp>
        <p:nvSpPr>
          <p:cNvPr id="9" name="Text 6"/>
          <p:cNvSpPr txBox="1"/>
          <p:nvPr/>
        </p:nvSpPr>
        <p:spPr>
          <a:xfrm>
            <a:off x="1976933" y="5162702"/>
            <a:ext cx="4037990" cy="946404"/>
          </a:xfrm>
          <a:prstGeom prst="rect">
            <a:avLst/>
          </a:prstGeom>
          <a:noFill/>
          <a:ln/>
        </p:spPr>
        <p:txBody>
          <a:bodyPr wrap="square" lIns="0" tIns="0" rIns="0" bIns="0" rtlCol="0" anchor="t"/>
          <a:lstStyle/>
          <a:p>
            <a:pPr indent="0" marL="0">
              <a:lnSpc>
                <a:spcPct val="112000"/>
              </a:lnSpc>
              <a:buNone/>
            </a:pPr>
            <a:r>
              <a:rPr lang="en-US" sz="1790" dirty="0">
                <a:solidFill>
                  <a:srgbClr val="C77BD6"/>
                </a:solidFill>
                <a:latin typeface="Calibri" pitchFamily="34" charset="0"/>
                <a:ea typeface="Calibri" pitchFamily="34" charset="-122"/>
                <a:cs typeface="Calibri" pitchFamily="34" charset="-120"/>
              </a:rPr>
              <a:t>y quita un rol "un momentito, para probar"</a:t>
            </a:r>
            <a:endParaRPr lang="en-US" sz="1790" dirty="0"/>
          </a:p>
        </p:txBody>
      </p:sp>
      <p:sp>
        <p:nvSpPr>
          <p:cNvPr id="10" name="Shape 7"/>
          <p:cNvSpPr/>
          <p:nvPr/>
        </p:nvSpPr>
        <p:spPr>
          <a:xfrm>
            <a:off x="6720840" y="3143707"/>
            <a:ext cx="4845406" cy="3028493"/>
          </a:xfrm>
          <a:prstGeom prst="roundRect">
            <a:avLst>
              <a:gd name="adj" fmla="val 4167"/>
            </a:avLst>
          </a:prstGeom>
          <a:solidFill>
            <a:srgbClr val="1E0A2B"/>
          </a:solidFill>
          <a:ln w="12700">
            <a:solidFill>
              <a:srgbClr val="1E0A2B"/>
            </a:solidFill>
            <a:prstDash val="solid"/>
          </a:ln>
        </p:spPr>
      </p:sp>
      <p:sp>
        <p:nvSpPr>
          <p:cNvPr id="11" name="Shape 8"/>
          <p:cNvSpPr/>
          <p:nvPr/>
        </p:nvSpPr>
        <p:spPr>
          <a:xfrm>
            <a:off x="7125005" y="3522269"/>
            <a:ext cx="656539" cy="656539"/>
          </a:xfrm>
          <a:prstGeom prst="ellipse">
            <a:avLst/>
          </a:prstGeom>
          <a:solidFill>
            <a:srgbClr val="F59120"/>
          </a:solidFill>
          <a:ln w="12700">
            <a:solidFill>
              <a:srgbClr val="F59120"/>
            </a:solidFill>
            <a:prstDash val="solid"/>
          </a:ln>
        </p:spPr>
      </p:sp>
      <p:sp>
        <p:nvSpPr>
          <p:cNvPr id="12" name="Text 9"/>
          <p:cNvSpPr txBox="1"/>
          <p:nvPr/>
        </p:nvSpPr>
        <p:spPr>
          <a:xfrm>
            <a:off x="7125005" y="3522269"/>
            <a:ext cx="656539" cy="656539"/>
          </a:xfrm>
          <a:prstGeom prst="rect">
            <a:avLst/>
          </a:prstGeom>
          <a:noFill/>
          <a:ln/>
        </p:spPr>
        <p:txBody>
          <a:bodyPr wrap="square" lIns="0" tIns="0" rIns="0" bIns="0" rtlCol="0" anchor="ctr"/>
          <a:lstStyle/>
          <a:p>
            <a:pPr algn="ctr" indent="0" marL="0">
              <a:buNone/>
            </a:pPr>
            <a:r>
              <a:rPr lang="en-US" sz="2210" b="1" dirty="0">
                <a:solidFill>
                  <a:srgbClr val="2A0E33"/>
                </a:solidFill>
                <a:latin typeface="Arial" pitchFamily="34" charset="0"/>
                <a:ea typeface="Arial" pitchFamily="34" charset="-122"/>
                <a:cs typeface="Arial" pitchFamily="34" charset="-120"/>
              </a:rPr>
              <a:t>2</a:t>
            </a:r>
            <a:endParaRPr lang="en-US" sz="2210" dirty="0"/>
          </a:p>
        </p:txBody>
      </p:sp>
      <p:sp>
        <p:nvSpPr>
          <p:cNvPr id="13" name="Text 10"/>
          <p:cNvSpPr txBox="1"/>
          <p:nvPr/>
        </p:nvSpPr>
        <p:spPr>
          <a:xfrm>
            <a:off x="7125005" y="4380890"/>
            <a:ext cx="4037990" cy="946404"/>
          </a:xfrm>
          <a:prstGeom prst="rect">
            <a:avLst/>
          </a:prstGeom>
          <a:noFill/>
          <a:ln/>
        </p:spPr>
        <p:txBody>
          <a:bodyPr wrap="square" lIns="0" tIns="0" rIns="0" bIns="0" rtlCol="0" anchor="t"/>
          <a:lstStyle/>
          <a:p>
            <a:pPr indent="0" marL="0">
              <a:lnSpc>
                <a:spcPct val="105000"/>
              </a:lnSpc>
              <a:buNone/>
            </a:pPr>
            <a:r>
              <a:rPr lang="en-US" sz="2210" b="1" dirty="0">
                <a:solidFill>
                  <a:srgbClr val="FFFFFF"/>
                </a:solidFill>
                <a:latin typeface="Arial" pitchFamily="34" charset="0"/>
                <a:ea typeface="Arial" pitchFamily="34" charset="-122"/>
                <a:cs typeface="Arial" pitchFamily="34" charset="-120"/>
              </a:rPr>
              <a:t>El lunes tú haces plan</a:t>
            </a:r>
            <a:endParaRPr lang="en-US" sz="2210" dirty="0"/>
          </a:p>
        </p:txBody>
      </p:sp>
      <p:sp>
        <p:nvSpPr>
          <p:cNvPr id="14" name="Text 11"/>
          <p:cNvSpPr txBox="1"/>
          <p:nvPr/>
        </p:nvSpPr>
        <p:spPr>
          <a:xfrm>
            <a:off x="7125005" y="5162702"/>
            <a:ext cx="4037990" cy="946404"/>
          </a:xfrm>
          <a:prstGeom prst="rect">
            <a:avLst/>
          </a:prstGeom>
          <a:noFill/>
          <a:ln/>
        </p:spPr>
        <p:txBody>
          <a:bodyPr wrap="square" lIns="0" tIns="0" rIns="0" bIns="0" rtlCol="0" anchor="t"/>
          <a:lstStyle/>
          <a:p>
            <a:pPr indent="0" marL="0">
              <a:lnSpc>
                <a:spcPct val="112000"/>
              </a:lnSpc>
              <a:buNone/>
            </a:pPr>
            <a:r>
              <a:rPr lang="en-US" sz="1790" dirty="0">
                <a:solidFill>
                  <a:srgbClr val="C77BD6"/>
                </a:solidFill>
                <a:latin typeface="Calibri" pitchFamily="34" charset="0"/>
                <a:ea typeface="Calibri" pitchFamily="34" charset="-122"/>
                <a:cs typeface="Calibri" pitchFamily="34" charset="-120"/>
              </a:rPr>
              <a:t>Terraform consulta la realidad y la compara con el estado</a:t>
            </a:r>
            <a:endParaRPr lang="en-US" sz="1790" dirty="0"/>
          </a:p>
        </p:txBody>
      </p:sp>
      <p:sp>
        <p:nvSpPr>
          <p:cNvPr id="15" name="Shape 12"/>
          <p:cNvSpPr/>
          <p:nvPr/>
        </p:nvSpPr>
        <p:spPr>
          <a:xfrm>
            <a:off x="11869826" y="3143707"/>
            <a:ext cx="4845406" cy="3028493"/>
          </a:xfrm>
          <a:prstGeom prst="roundRect">
            <a:avLst>
              <a:gd name="adj" fmla="val 4167"/>
            </a:avLst>
          </a:prstGeom>
          <a:solidFill>
            <a:srgbClr val="1E0A2B"/>
          </a:solidFill>
          <a:ln w="12700">
            <a:solidFill>
              <a:srgbClr val="1E0A2B"/>
            </a:solidFill>
            <a:prstDash val="solid"/>
          </a:ln>
        </p:spPr>
      </p:sp>
      <p:sp>
        <p:nvSpPr>
          <p:cNvPr id="16" name="Shape 13"/>
          <p:cNvSpPr/>
          <p:nvPr/>
        </p:nvSpPr>
        <p:spPr>
          <a:xfrm>
            <a:off x="12273077" y="3522269"/>
            <a:ext cx="656539" cy="656539"/>
          </a:xfrm>
          <a:prstGeom prst="ellipse">
            <a:avLst/>
          </a:prstGeom>
          <a:solidFill>
            <a:srgbClr val="F59120"/>
          </a:solidFill>
          <a:ln w="12700">
            <a:solidFill>
              <a:srgbClr val="F59120"/>
            </a:solidFill>
            <a:prstDash val="solid"/>
          </a:ln>
        </p:spPr>
      </p:sp>
      <p:sp>
        <p:nvSpPr>
          <p:cNvPr id="17" name="Text 14"/>
          <p:cNvSpPr txBox="1"/>
          <p:nvPr/>
        </p:nvSpPr>
        <p:spPr>
          <a:xfrm>
            <a:off x="12273077" y="3522269"/>
            <a:ext cx="656539" cy="656539"/>
          </a:xfrm>
          <a:prstGeom prst="rect">
            <a:avLst/>
          </a:prstGeom>
          <a:noFill/>
          <a:ln/>
        </p:spPr>
        <p:txBody>
          <a:bodyPr wrap="square" lIns="0" tIns="0" rIns="0" bIns="0" rtlCol="0" anchor="ctr"/>
          <a:lstStyle/>
          <a:p>
            <a:pPr algn="ctr" indent="0" marL="0">
              <a:buNone/>
            </a:pPr>
            <a:r>
              <a:rPr lang="en-US" sz="2210" b="1" dirty="0">
                <a:solidFill>
                  <a:srgbClr val="2A0E33"/>
                </a:solidFill>
                <a:latin typeface="Arial" pitchFamily="34" charset="0"/>
                <a:ea typeface="Arial" pitchFamily="34" charset="-122"/>
                <a:cs typeface="Arial" pitchFamily="34" charset="-120"/>
              </a:rPr>
              <a:t>3</a:t>
            </a:r>
            <a:endParaRPr lang="en-US" sz="2210" dirty="0"/>
          </a:p>
        </p:txBody>
      </p:sp>
      <p:sp>
        <p:nvSpPr>
          <p:cNvPr id="18" name="Text 15"/>
          <p:cNvSpPr txBox="1"/>
          <p:nvPr/>
        </p:nvSpPr>
        <p:spPr>
          <a:xfrm>
            <a:off x="12273077" y="4380890"/>
            <a:ext cx="4037990" cy="946404"/>
          </a:xfrm>
          <a:prstGeom prst="rect">
            <a:avLst/>
          </a:prstGeom>
          <a:noFill/>
          <a:ln/>
        </p:spPr>
        <p:txBody>
          <a:bodyPr wrap="square" lIns="0" tIns="0" rIns="0" bIns="0" rtlCol="0" anchor="t"/>
          <a:lstStyle/>
          <a:p>
            <a:pPr indent="0" marL="0">
              <a:lnSpc>
                <a:spcPct val="105000"/>
              </a:lnSpc>
              <a:buNone/>
            </a:pPr>
            <a:r>
              <a:rPr lang="en-US" sz="2210" b="1" dirty="0">
                <a:solidFill>
                  <a:srgbClr val="FFFFFF"/>
                </a:solidFill>
                <a:latin typeface="Arial" pitchFamily="34" charset="0"/>
                <a:ea typeface="Arial" pitchFamily="34" charset="-122"/>
                <a:cs typeface="Arial" pitchFamily="34" charset="-120"/>
              </a:rPr>
              <a:t>Te lo chiva</a:t>
            </a:r>
            <a:endParaRPr lang="en-US" sz="2210" dirty="0"/>
          </a:p>
        </p:txBody>
      </p:sp>
      <p:sp>
        <p:nvSpPr>
          <p:cNvPr id="19" name="Text 16"/>
          <p:cNvSpPr txBox="1"/>
          <p:nvPr/>
        </p:nvSpPr>
        <p:spPr>
          <a:xfrm>
            <a:off x="12273077" y="5162702"/>
            <a:ext cx="4037990" cy="946404"/>
          </a:xfrm>
          <a:prstGeom prst="rect">
            <a:avLst/>
          </a:prstGeom>
          <a:noFill/>
          <a:ln/>
        </p:spPr>
        <p:txBody>
          <a:bodyPr wrap="square" lIns="0" tIns="0" rIns="0" bIns="0" rtlCol="0" anchor="t"/>
          <a:lstStyle/>
          <a:p>
            <a:pPr indent="0" marL="0">
              <a:lnSpc>
                <a:spcPct val="112000"/>
              </a:lnSpc>
              <a:buNone/>
            </a:pPr>
            <a:r>
              <a:rPr lang="en-US" sz="1790" dirty="0">
                <a:solidFill>
                  <a:srgbClr val="C77BD6"/>
                </a:solidFill>
                <a:latin typeface="Calibri" pitchFamily="34" charset="0"/>
                <a:ea typeface="Calibri" pitchFamily="34" charset="-122"/>
                <a:cs typeface="Calibri" pitchFamily="34" charset="-120"/>
              </a:rPr>
              <a:t>"esto ha cambiado fuera de Terraform, lo voy a devolver a su sitio"</a:t>
            </a:r>
            <a:endParaRPr lang="en-US" sz="1790" dirty="0"/>
          </a:p>
        </p:txBody>
      </p:sp>
      <p:sp>
        <p:nvSpPr>
          <p:cNvPr id="20" name="Shape 17"/>
          <p:cNvSpPr/>
          <p:nvPr/>
        </p:nvSpPr>
        <p:spPr>
          <a:xfrm>
            <a:off x="1572768" y="6550762"/>
            <a:ext cx="15142464" cy="2334463"/>
          </a:xfrm>
          <a:prstGeom prst="roundRect">
            <a:avLst>
              <a:gd name="adj" fmla="val 5405"/>
            </a:avLst>
          </a:prstGeom>
          <a:solidFill>
            <a:srgbClr val="692179"/>
          </a:solidFill>
          <a:ln w="12700">
            <a:solidFill>
              <a:srgbClr val="692179"/>
            </a:solidFill>
            <a:prstDash val="solid"/>
          </a:ln>
        </p:spPr>
      </p:sp>
      <p:sp>
        <p:nvSpPr>
          <p:cNvPr id="21" name="Text 18"/>
          <p:cNvSpPr txBox="1"/>
          <p:nvPr/>
        </p:nvSpPr>
        <p:spPr>
          <a:xfrm>
            <a:off x="2140610" y="6866230"/>
            <a:ext cx="14006779" cy="630936"/>
          </a:xfrm>
          <a:prstGeom prst="rect">
            <a:avLst/>
          </a:prstGeom>
          <a:noFill/>
          <a:ln/>
        </p:spPr>
        <p:txBody>
          <a:bodyPr wrap="square" lIns="0" tIns="0" rIns="0" bIns="0" rtlCol="0" anchor="ctr"/>
          <a:lstStyle/>
          <a:p>
            <a:pPr indent="0" marL="0">
              <a:buNone/>
            </a:pPr>
            <a:r>
              <a:rPr lang="en-US" sz="3040" b="1" dirty="0">
                <a:solidFill>
                  <a:srgbClr val="FFFFFF"/>
                </a:solidFill>
                <a:latin typeface="Arial" pitchFamily="34" charset="0"/>
                <a:ea typeface="Arial" pitchFamily="34" charset="-122"/>
                <a:cs typeface="Arial" pitchFamily="34" charset="-120"/>
              </a:rPr>
              <a:t>Eso se llama drift, y detectarlo es medio superpoder.</a:t>
            </a:r>
            <a:endParaRPr lang="en-US" sz="3040" dirty="0"/>
          </a:p>
        </p:txBody>
      </p:sp>
      <p:sp>
        <p:nvSpPr>
          <p:cNvPr id="22" name="Text 19"/>
          <p:cNvSpPr txBox="1"/>
          <p:nvPr/>
        </p:nvSpPr>
        <p:spPr>
          <a:xfrm>
            <a:off x="2140610" y="7560259"/>
            <a:ext cx="14006779" cy="1135685"/>
          </a:xfrm>
          <a:prstGeom prst="rect">
            <a:avLst/>
          </a:prstGeom>
          <a:noFill/>
          <a:ln/>
        </p:spPr>
        <p:txBody>
          <a:bodyPr wrap="square" lIns="0" tIns="0" rIns="0" bIns="0" rtlCol="0" anchor="t"/>
          <a:lstStyle/>
          <a:p>
            <a:pPr indent="0" marL="0">
              <a:lnSpc>
                <a:spcPct val="115000"/>
              </a:lnSpc>
              <a:buNone/>
            </a:pPr>
            <a:r>
              <a:rPr lang="en-US" sz="2070" dirty="0">
                <a:solidFill>
                  <a:srgbClr val="FFFFFF"/>
                </a:solidFill>
                <a:latin typeface="Calibri" pitchFamily="34" charset="0"/>
                <a:ea typeface="Calibri" pitchFamily="34" charset="-122"/>
                <a:cs typeface="Calibri" pitchFamily="34" charset="-120"/>
              </a:rPr>
              <a:t>En ClickOps ese cambio no existe para nadie hasta que algo se rompe en producción</a:t>
            </a:r>
            <a:endParaRPr lang="en-US" sz="2070" dirty="0"/>
          </a:p>
          <a:p>
            <a:pPr indent="0" marL="0">
              <a:lnSpc>
                <a:spcPct val="115000"/>
              </a:lnSpc>
              <a:buNone/>
            </a:pPr>
            <a:r>
              <a:rPr lang="en-US" sz="2070" dirty="0">
                <a:solidFill>
                  <a:srgbClr val="FFFFFF"/>
                </a:solidFill>
                <a:latin typeface="Calibri" pitchFamily="34" charset="0"/>
                <a:ea typeface="Calibri" pitchFamily="34" charset="-122"/>
                <a:cs typeface="Calibri" pitchFamily="34" charset="-120"/>
              </a:rPr>
              <a:t>y pasas dos días buscando quién tocó qué.</a:t>
            </a:r>
            <a:endParaRPr lang="en-US" sz="207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pic>
        <p:nvPicPr>
          <p:cNvPr id="2" name="Image 0" descr="/home/claude/bg-white.jpg">    </p:cNvPr>
          <p:cNvPicPr>
            <a:picLocks noChangeAspect="1"/>
          </p:cNvPicPr>
          <p:nvPr/>
        </p:nvPicPr>
        <p:blipFill>
          <a:blip r:embed="rId1"/>
          <a:stretch>
            <a:fillRect/>
          </a:stretch>
        </p:blipFill>
        <p:spPr>
          <a:xfrm>
            <a:off x="0" y="0"/>
            <a:ext cx="18288000" cy="10287000"/>
          </a:xfrm>
          <a:prstGeom prst="rect">
            <a:avLst/>
          </a:prstGeom>
        </p:spPr>
      </p:pic>
      <p:sp>
        <p:nvSpPr>
          <p:cNvPr id="3" name="Text 0"/>
          <p:cNvSpPr txBox="1"/>
          <p:nvPr/>
        </p:nvSpPr>
        <p:spPr>
          <a:xfrm>
            <a:off x="1572768" y="1024128"/>
            <a:ext cx="15142464" cy="404165"/>
          </a:xfrm>
          <a:prstGeom prst="rect">
            <a:avLst/>
          </a:prstGeom>
          <a:noFill/>
          <a:ln/>
        </p:spPr>
        <p:txBody>
          <a:bodyPr wrap="square" lIns="0" tIns="0" rIns="0" bIns="0" rtlCol="0" anchor="ctr"/>
          <a:lstStyle/>
          <a:p>
            <a:pPr indent="0" marL="0">
              <a:buNone/>
            </a:pPr>
            <a:r>
              <a:rPr lang="en-US" sz="1660" b="1" spc="345" kern="0" dirty="0">
                <a:solidFill>
                  <a:srgbClr val="E8553F"/>
                </a:solidFill>
                <a:latin typeface="Calibri" pitchFamily="34" charset="0"/>
                <a:ea typeface="Calibri" pitchFamily="34" charset="-122"/>
                <a:cs typeface="Calibri" pitchFamily="34" charset="-120"/>
              </a:rPr>
              <a:t>BLOQUE 3 · CÓMO FUNCIONA</a:t>
            </a:r>
            <a:endParaRPr lang="en-US" sz="1660" dirty="0"/>
          </a:p>
        </p:txBody>
      </p:sp>
      <p:sp>
        <p:nvSpPr>
          <p:cNvPr id="4" name="Text 1"/>
          <p:cNvSpPr txBox="1"/>
          <p:nvPr/>
        </p:nvSpPr>
        <p:spPr>
          <a:xfrm>
            <a:off x="1572768" y="1440180"/>
            <a:ext cx="15142464" cy="1072591"/>
          </a:xfrm>
          <a:prstGeom prst="rect">
            <a:avLst/>
          </a:prstGeom>
          <a:noFill/>
          <a:ln/>
        </p:spPr>
        <p:txBody>
          <a:bodyPr wrap="square" lIns="0" tIns="0" rIns="0" bIns="0" rtlCol="0" anchor="ctr"/>
          <a:lstStyle/>
          <a:p>
            <a:pPr algn="l" indent="0" marL="0">
              <a:buNone/>
            </a:pPr>
            <a:r>
              <a:rPr lang="en-US" sz="4690" b="1" dirty="0">
                <a:solidFill>
                  <a:srgbClr val="241028"/>
                </a:solidFill>
                <a:latin typeface="Arial" pitchFamily="34" charset="0"/>
                <a:ea typeface="Arial" pitchFamily="34" charset="-122"/>
                <a:cs typeface="Arial" pitchFamily="34" charset="-120"/>
              </a:rPr>
              <a:t>Tres reglas sobre el estado. No negociables.</a:t>
            </a:r>
            <a:endParaRPr lang="en-US" sz="4690" dirty="0"/>
          </a:p>
        </p:txBody>
      </p:sp>
      <p:sp>
        <p:nvSpPr>
          <p:cNvPr id="5" name="Shape 2"/>
          <p:cNvSpPr/>
          <p:nvPr/>
        </p:nvSpPr>
        <p:spPr>
          <a:xfrm>
            <a:off x="1572768" y="3143707"/>
            <a:ext cx="9337853" cy="1236269"/>
          </a:xfrm>
          <a:prstGeom prst="roundRect">
            <a:avLst>
              <a:gd name="adj" fmla="val 10207"/>
            </a:avLst>
          </a:prstGeom>
          <a:solidFill>
            <a:srgbClr val="FFFFFF"/>
          </a:solidFill>
          <a:ln w="12700">
            <a:solidFill>
              <a:srgbClr val="FFFFFF"/>
            </a:solidFill>
            <a:prstDash val="solid"/>
          </a:ln>
        </p:spPr>
      </p:sp>
      <p:sp>
        <p:nvSpPr>
          <p:cNvPr id="6" name="Shape 3"/>
          <p:cNvSpPr/>
          <p:nvPr/>
        </p:nvSpPr>
        <p:spPr>
          <a:xfrm>
            <a:off x="1888236" y="3447288"/>
            <a:ext cx="630936" cy="630936"/>
          </a:xfrm>
          <a:prstGeom prst="ellipse">
            <a:avLst/>
          </a:prstGeom>
          <a:solidFill>
            <a:srgbClr val="E8553F"/>
          </a:solidFill>
          <a:ln w="12700">
            <a:solidFill>
              <a:srgbClr val="E8553F"/>
            </a:solidFill>
            <a:prstDash val="solid"/>
          </a:ln>
        </p:spPr>
      </p:sp>
      <p:sp>
        <p:nvSpPr>
          <p:cNvPr id="7" name="Text 4"/>
          <p:cNvSpPr txBox="1"/>
          <p:nvPr/>
        </p:nvSpPr>
        <p:spPr>
          <a:xfrm>
            <a:off x="1888236" y="3447288"/>
            <a:ext cx="630936" cy="630936"/>
          </a:xfrm>
          <a:prstGeom prst="rect">
            <a:avLst/>
          </a:prstGeom>
          <a:noFill/>
          <a:ln/>
        </p:spPr>
        <p:txBody>
          <a:bodyPr wrap="square" lIns="0" tIns="0" rIns="0" bIns="0" rtlCol="0" anchor="ctr"/>
          <a:lstStyle/>
          <a:p>
            <a:pPr algn="ctr" indent="0" marL="0">
              <a:buNone/>
            </a:pPr>
            <a:r>
              <a:rPr lang="en-US" sz="2210" b="1" dirty="0">
                <a:solidFill>
                  <a:srgbClr val="FFFFFF"/>
                </a:solidFill>
                <a:latin typeface="Arial" pitchFamily="34" charset="0"/>
                <a:ea typeface="Arial" pitchFamily="34" charset="-122"/>
                <a:cs typeface="Arial" pitchFamily="34" charset="-120"/>
              </a:rPr>
              <a:t>1</a:t>
            </a:r>
            <a:endParaRPr lang="en-US" sz="2210" dirty="0"/>
          </a:p>
        </p:txBody>
      </p:sp>
      <p:sp>
        <p:nvSpPr>
          <p:cNvPr id="8" name="Text 5"/>
          <p:cNvSpPr txBox="1"/>
          <p:nvPr/>
        </p:nvSpPr>
        <p:spPr>
          <a:xfrm>
            <a:off x="2771546" y="3269894"/>
            <a:ext cx="7886700" cy="479146"/>
          </a:xfrm>
          <a:prstGeom prst="rect">
            <a:avLst/>
          </a:prstGeom>
          <a:noFill/>
          <a:ln/>
        </p:spPr>
        <p:txBody>
          <a:bodyPr wrap="square" lIns="0" tIns="0" rIns="0" bIns="0" rtlCol="0" anchor="ctr"/>
          <a:lstStyle/>
          <a:p>
            <a:pPr indent="0" marL="0">
              <a:buNone/>
            </a:pPr>
            <a:r>
              <a:rPr lang="en-US" sz="2070" b="1" dirty="0">
                <a:solidFill>
                  <a:srgbClr val="241028"/>
                </a:solidFill>
                <a:latin typeface="Arial" pitchFamily="34" charset="0"/>
                <a:ea typeface="Arial" pitchFamily="34" charset="-122"/>
                <a:cs typeface="Arial" pitchFamily="34" charset="-120"/>
              </a:rPr>
              <a:t>Nunca lo subas a git</a:t>
            </a:r>
            <a:endParaRPr lang="en-US" sz="2070" dirty="0"/>
          </a:p>
        </p:txBody>
      </p:sp>
      <p:sp>
        <p:nvSpPr>
          <p:cNvPr id="9" name="Text 6"/>
          <p:cNvSpPr txBox="1"/>
          <p:nvPr/>
        </p:nvSpPr>
        <p:spPr>
          <a:xfrm>
            <a:off x="2771546" y="3711550"/>
            <a:ext cx="7886700" cy="605333"/>
          </a:xfrm>
          <a:prstGeom prst="rect">
            <a:avLst/>
          </a:prstGeom>
          <a:noFill/>
          <a:ln/>
        </p:spPr>
        <p:txBody>
          <a:bodyPr wrap="square" lIns="0" tIns="0" rIns="0" bIns="0" rtlCol="0" anchor="t"/>
          <a:lstStyle/>
          <a:p>
            <a:pPr indent="0" marL="0">
              <a:lnSpc>
                <a:spcPct val="105000"/>
              </a:lnSpc>
              <a:buNone/>
            </a:pPr>
            <a:r>
              <a:rPr lang="en-US" sz="1730" dirty="0">
                <a:solidFill>
                  <a:srgbClr val="6E5C73"/>
                </a:solidFill>
                <a:latin typeface="Calibri" pitchFamily="34" charset="0"/>
                <a:ea typeface="Calibri" pitchFamily="34" charset="-122"/>
                <a:cs typeface="Calibri" pitchFamily="34" charset="-120"/>
              </a:rPr>
              <a:t>Contiene valores en claro, incluidos secretos. Añade *.tfstate al .gitignore el minuto uno.</a:t>
            </a:r>
            <a:endParaRPr lang="en-US" sz="1730" dirty="0"/>
          </a:p>
        </p:txBody>
      </p:sp>
      <p:sp>
        <p:nvSpPr>
          <p:cNvPr id="10" name="Shape 7"/>
          <p:cNvSpPr/>
          <p:nvPr/>
        </p:nvSpPr>
        <p:spPr>
          <a:xfrm>
            <a:off x="1572768" y="4557370"/>
            <a:ext cx="9337853" cy="1236269"/>
          </a:xfrm>
          <a:prstGeom prst="roundRect">
            <a:avLst>
              <a:gd name="adj" fmla="val 10207"/>
            </a:avLst>
          </a:prstGeom>
          <a:solidFill>
            <a:srgbClr val="FFFFFF"/>
          </a:solidFill>
          <a:ln w="12700">
            <a:solidFill>
              <a:srgbClr val="FFFFFF"/>
            </a:solidFill>
            <a:prstDash val="solid"/>
          </a:ln>
        </p:spPr>
      </p:sp>
      <p:sp>
        <p:nvSpPr>
          <p:cNvPr id="11" name="Shape 8"/>
          <p:cNvSpPr/>
          <p:nvPr/>
        </p:nvSpPr>
        <p:spPr>
          <a:xfrm>
            <a:off x="1888236" y="4860036"/>
            <a:ext cx="630936" cy="630936"/>
          </a:xfrm>
          <a:prstGeom prst="ellipse">
            <a:avLst/>
          </a:prstGeom>
          <a:solidFill>
            <a:srgbClr val="E8553F"/>
          </a:solidFill>
          <a:ln w="12700">
            <a:solidFill>
              <a:srgbClr val="E8553F"/>
            </a:solidFill>
            <a:prstDash val="solid"/>
          </a:ln>
        </p:spPr>
      </p:sp>
      <p:sp>
        <p:nvSpPr>
          <p:cNvPr id="12" name="Text 9"/>
          <p:cNvSpPr txBox="1"/>
          <p:nvPr/>
        </p:nvSpPr>
        <p:spPr>
          <a:xfrm>
            <a:off x="1888236" y="4860036"/>
            <a:ext cx="630936" cy="630936"/>
          </a:xfrm>
          <a:prstGeom prst="rect">
            <a:avLst/>
          </a:prstGeom>
          <a:noFill/>
          <a:ln/>
        </p:spPr>
        <p:txBody>
          <a:bodyPr wrap="square" lIns="0" tIns="0" rIns="0" bIns="0" rtlCol="0" anchor="ctr"/>
          <a:lstStyle/>
          <a:p>
            <a:pPr algn="ctr" indent="0" marL="0">
              <a:buNone/>
            </a:pPr>
            <a:r>
              <a:rPr lang="en-US" sz="2210" b="1" dirty="0">
                <a:solidFill>
                  <a:srgbClr val="FFFFFF"/>
                </a:solidFill>
                <a:latin typeface="Arial" pitchFamily="34" charset="0"/>
                <a:ea typeface="Arial" pitchFamily="34" charset="-122"/>
                <a:cs typeface="Arial" pitchFamily="34" charset="-120"/>
              </a:rPr>
              <a:t>2</a:t>
            </a:r>
            <a:endParaRPr lang="en-US" sz="2210" dirty="0"/>
          </a:p>
        </p:txBody>
      </p:sp>
      <p:sp>
        <p:nvSpPr>
          <p:cNvPr id="13" name="Text 10"/>
          <p:cNvSpPr txBox="1"/>
          <p:nvPr/>
        </p:nvSpPr>
        <p:spPr>
          <a:xfrm>
            <a:off x="2771546" y="4683557"/>
            <a:ext cx="7886700" cy="479146"/>
          </a:xfrm>
          <a:prstGeom prst="rect">
            <a:avLst/>
          </a:prstGeom>
          <a:noFill/>
          <a:ln/>
        </p:spPr>
        <p:txBody>
          <a:bodyPr wrap="square" lIns="0" tIns="0" rIns="0" bIns="0" rtlCol="0" anchor="ctr"/>
          <a:lstStyle/>
          <a:p>
            <a:pPr indent="0" marL="0">
              <a:buNone/>
            </a:pPr>
            <a:r>
              <a:rPr lang="en-US" sz="2070" b="1" dirty="0">
                <a:solidFill>
                  <a:srgbClr val="241028"/>
                </a:solidFill>
                <a:latin typeface="Arial" pitchFamily="34" charset="0"/>
                <a:ea typeface="Arial" pitchFamily="34" charset="-122"/>
                <a:cs typeface="Arial" pitchFamily="34" charset="-120"/>
              </a:rPr>
              <a:t>Nunca lo dejes solo en tu portátil</a:t>
            </a:r>
            <a:endParaRPr lang="en-US" sz="2070" dirty="0"/>
          </a:p>
        </p:txBody>
      </p:sp>
      <p:sp>
        <p:nvSpPr>
          <p:cNvPr id="14" name="Text 11"/>
          <p:cNvSpPr txBox="1"/>
          <p:nvPr/>
        </p:nvSpPr>
        <p:spPr>
          <a:xfrm>
            <a:off x="2771546" y="5125212"/>
            <a:ext cx="7886700" cy="605333"/>
          </a:xfrm>
          <a:prstGeom prst="rect">
            <a:avLst/>
          </a:prstGeom>
          <a:noFill/>
          <a:ln/>
        </p:spPr>
        <p:txBody>
          <a:bodyPr wrap="square" lIns="0" tIns="0" rIns="0" bIns="0" rtlCol="0" anchor="t"/>
          <a:lstStyle/>
          <a:p>
            <a:pPr indent="0" marL="0">
              <a:lnSpc>
                <a:spcPct val="105000"/>
              </a:lnSpc>
              <a:buNone/>
            </a:pPr>
            <a:r>
              <a:rPr lang="en-US" sz="1730" dirty="0">
                <a:solidFill>
                  <a:srgbClr val="6E5C73"/>
                </a:solidFill>
                <a:latin typeface="Calibri" pitchFamily="34" charset="0"/>
                <a:ea typeface="Calibri" pitchFamily="34" charset="-122"/>
                <a:cs typeface="Calibri" pitchFamily="34" charset="-120"/>
              </a:rPr>
              <a:t>Si se pierde, Terraform olvida que esos 12 workspaces son suyos e intentará crearlos otra vez.</a:t>
            </a:r>
            <a:endParaRPr lang="en-US" sz="1730" dirty="0"/>
          </a:p>
        </p:txBody>
      </p:sp>
      <p:sp>
        <p:nvSpPr>
          <p:cNvPr id="15" name="Shape 12"/>
          <p:cNvSpPr/>
          <p:nvPr/>
        </p:nvSpPr>
        <p:spPr>
          <a:xfrm>
            <a:off x="1572768" y="5971032"/>
            <a:ext cx="9337853" cy="1236269"/>
          </a:xfrm>
          <a:prstGeom prst="roundRect">
            <a:avLst>
              <a:gd name="adj" fmla="val 10207"/>
            </a:avLst>
          </a:prstGeom>
          <a:solidFill>
            <a:srgbClr val="FFFFFF"/>
          </a:solidFill>
          <a:ln w="12700">
            <a:solidFill>
              <a:srgbClr val="FFFFFF"/>
            </a:solidFill>
            <a:prstDash val="solid"/>
          </a:ln>
        </p:spPr>
      </p:sp>
      <p:sp>
        <p:nvSpPr>
          <p:cNvPr id="16" name="Shape 13"/>
          <p:cNvSpPr/>
          <p:nvPr/>
        </p:nvSpPr>
        <p:spPr>
          <a:xfrm>
            <a:off x="1888236" y="6273698"/>
            <a:ext cx="630936" cy="630936"/>
          </a:xfrm>
          <a:prstGeom prst="ellipse">
            <a:avLst/>
          </a:prstGeom>
          <a:solidFill>
            <a:srgbClr val="2BB5A0"/>
          </a:solidFill>
          <a:ln w="12700">
            <a:solidFill>
              <a:srgbClr val="2BB5A0"/>
            </a:solidFill>
            <a:prstDash val="solid"/>
          </a:ln>
        </p:spPr>
      </p:sp>
      <p:sp>
        <p:nvSpPr>
          <p:cNvPr id="17" name="Text 14"/>
          <p:cNvSpPr txBox="1"/>
          <p:nvPr/>
        </p:nvSpPr>
        <p:spPr>
          <a:xfrm>
            <a:off x="1888236" y="6273698"/>
            <a:ext cx="630936" cy="630936"/>
          </a:xfrm>
          <a:prstGeom prst="rect">
            <a:avLst/>
          </a:prstGeom>
          <a:noFill/>
          <a:ln/>
        </p:spPr>
        <p:txBody>
          <a:bodyPr wrap="square" lIns="0" tIns="0" rIns="0" bIns="0" rtlCol="0" anchor="ctr"/>
          <a:lstStyle/>
          <a:p>
            <a:pPr algn="ctr" indent="0" marL="0">
              <a:buNone/>
            </a:pPr>
            <a:r>
              <a:rPr lang="en-US" sz="2210" b="1" dirty="0">
                <a:solidFill>
                  <a:srgbClr val="FFFFFF"/>
                </a:solidFill>
                <a:latin typeface="Arial" pitchFamily="34" charset="0"/>
                <a:ea typeface="Arial" pitchFamily="34" charset="-122"/>
                <a:cs typeface="Arial" pitchFamily="34" charset="-120"/>
              </a:rPr>
              <a:t>3</a:t>
            </a:r>
            <a:endParaRPr lang="en-US" sz="2210" dirty="0"/>
          </a:p>
        </p:txBody>
      </p:sp>
      <p:sp>
        <p:nvSpPr>
          <p:cNvPr id="18" name="Text 15"/>
          <p:cNvSpPr txBox="1"/>
          <p:nvPr/>
        </p:nvSpPr>
        <p:spPr>
          <a:xfrm>
            <a:off x="2771546" y="6097219"/>
            <a:ext cx="7886700" cy="479146"/>
          </a:xfrm>
          <a:prstGeom prst="rect">
            <a:avLst/>
          </a:prstGeom>
          <a:noFill/>
          <a:ln/>
        </p:spPr>
        <p:txBody>
          <a:bodyPr wrap="square" lIns="0" tIns="0" rIns="0" bIns="0" rtlCol="0" anchor="ctr"/>
          <a:lstStyle/>
          <a:p>
            <a:pPr indent="0" marL="0">
              <a:buNone/>
            </a:pPr>
            <a:r>
              <a:rPr lang="en-US" sz="2070" b="1" dirty="0">
                <a:solidFill>
                  <a:srgbClr val="241028"/>
                </a:solidFill>
                <a:latin typeface="Arial" pitchFamily="34" charset="0"/>
                <a:ea typeface="Arial" pitchFamily="34" charset="-122"/>
                <a:cs typeface="Arial" pitchFamily="34" charset="-120"/>
              </a:rPr>
              <a:t>Ponlo en un backend remoto con bloqueo</a:t>
            </a:r>
            <a:endParaRPr lang="en-US" sz="2070" dirty="0"/>
          </a:p>
        </p:txBody>
      </p:sp>
      <p:sp>
        <p:nvSpPr>
          <p:cNvPr id="19" name="Text 16"/>
          <p:cNvSpPr txBox="1"/>
          <p:nvPr/>
        </p:nvSpPr>
        <p:spPr>
          <a:xfrm>
            <a:off x="2771546" y="6538874"/>
            <a:ext cx="7886700" cy="605333"/>
          </a:xfrm>
          <a:prstGeom prst="rect">
            <a:avLst/>
          </a:prstGeom>
          <a:noFill/>
          <a:ln/>
        </p:spPr>
        <p:txBody>
          <a:bodyPr wrap="square" lIns="0" tIns="0" rIns="0" bIns="0" rtlCol="0" anchor="t"/>
          <a:lstStyle/>
          <a:p>
            <a:pPr indent="0" marL="0">
              <a:lnSpc>
                <a:spcPct val="105000"/>
              </a:lnSpc>
              <a:buNone/>
            </a:pPr>
            <a:r>
              <a:rPr lang="en-US" sz="1730" dirty="0">
                <a:solidFill>
                  <a:srgbClr val="6E5C73"/>
                </a:solidFill>
                <a:latin typeface="Calibri" pitchFamily="34" charset="0"/>
                <a:ea typeface="Calibri" pitchFamily="34" charset="-122"/>
                <a:cs typeface="Calibri" pitchFamily="34" charset="-120"/>
              </a:rPr>
              <a:t>Una storage account de Azure. Así el equipo comparte estado y dos apply simultáneos no se pisan.</a:t>
            </a:r>
            <a:endParaRPr lang="en-US" sz="1730" dirty="0"/>
          </a:p>
        </p:txBody>
      </p:sp>
      <p:sp>
        <p:nvSpPr>
          <p:cNvPr id="20" name="Text 17"/>
          <p:cNvSpPr txBox="1"/>
          <p:nvPr/>
        </p:nvSpPr>
        <p:spPr>
          <a:xfrm>
            <a:off x="11289182" y="3143707"/>
            <a:ext cx="5426050" cy="441655"/>
          </a:xfrm>
          <a:prstGeom prst="rect">
            <a:avLst/>
          </a:prstGeom>
          <a:noFill/>
          <a:ln/>
        </p:spPr>
        <p:txBody>
          <a:bodyPr wrap="square" lIns="0" tIns="0" rIns="0" bIns="0" rtlCol="0" anchor="ctr"/>
          <a:lstStyle/>
          <a:p>
            <a:pPr indent="0" marL="0">
              <a:buNone/>
            </a:pPr>
            <a:r>
              <a:rPr lang="en-US" sz="1790" b="1" dirty="0">
                <a:solidFill>
                  <a:srgbClr val="692179"/>
                </a:solidFill>
                <a:latin typeface="Calibri" pitchFamily="34" charset="0"/>
                <a:ea typeface="Calibri" pitchFamily="34" charset="-122"/>
                <a:cs typeface="Calibri" pitchFamily="34" charset="-120"/>
              </a:rPr>
              <a:t>Así de fácil es el backend remoto:</a:t>
            </a:r>
            <a:endParaRPr lang="en-US" sz="1790" dirty="0"/>
          </a:p>
        </p:txBody>
      </p:sp>
      <p:sp>
        <p:nvSpPr>
          <p:cNvPr id="21" name="Shape 18"/>
          <p:cNvSpPr/>
          <p:nvPr/>
        </p:nvSpPr>
        <p:spPr>
          <a:xfrm>
            <a:off x="11289182" y="3648456"/>
            <a:ext cx="5426050" cy="3407054"/>
          </a:xfrm>
          <a:prstGeom prst="roundRect">
            <a:avLst>
              <a:gd name="adj" fmla="val 2952"/>
            </a:avLst>
          </a:prstGeom>
          <a:solidFill>
            <a:srgbClr val="2A0E38"/>
          </a:solidFill>
          <a:ln w="12700">
            <a:solidFill>
              <a:srgbClr val="2A0E38"/>
            </a:solidFill>
            <a:prstDash val="solid"/>
          </a:ln>
        </p:spPr>
      </p:sp>
      <p:sp>
        <p:nvSpPr>
          <p:cNvPr id="22" name="Text 19"/>
          <p:cNvSpPr txBox="1"/>
          <p:nvPr/>
        </p:nvSpPr>
        <p:spPr>
          <a:xfrm>
            <a:off x="11567160" y="3850538"/>
            <a:ext cx="4871009" cy="3002890"/>
          </a:xfrm>
          <a:prstGeom prst="rect">
            <a:avLst/>
          </a:prstGeom>
          <a:noFill/>
          <a:ln/>
        </p:spPr>
        <p:txBody>
          <a:bodyPr wrap="square" lIns="0" tIns="0" rIns="0" bIns="0" rtlCol="0" anchor="t"/>
          <a:lstStyle/>
          <a:p>
            <a:pPr algn="l" indent="0" marL="0">
              <a:lnSpc>
                <a:spcPct val="120000"/>
              </a:lnSpc>
              <a:buNone/>
            </a:pPr>
            <a:r>
              <a:rPr lang="en-US" sz="1450" b="1" dirty="0">
                <a:solidFill>
                  <a:srgbClr val="DFA0EC"/>
                </a:solidFill>
                <a:latin typeface="Courier New" pitchFamily="34" charset="0"/>
                <a:ea typeface="Courier New" pitchFamily="34" charset="-122"/>
                <a:cs typeface="Courier New" pitchFamily="34" charset="-120"/>
              </a:rPr>
              <a:t>terraform</a:t>
            </a:r>
            <a:pPr algn="l" indent="0" marL="0">
              <a:lnSpc>
                <a:spcPct val="120000"/>
              </a:lnSpc>
              <a:buNone/>
            </a:pPr>
            <a:r>
              <a:rPr lang="en-US" sz="1450" dirty="0">
                <a:solidFill>
                  <a:srgbClr val="C77BD6"/>
                </a:solidFill>
                <a:latin typeface="Courier New" pitchFamily="34" charset="0"/>
                <a:ea typeface="Courier New" pitchFamily="34" charset="-122"/>
                <a:cs typeface="Courier New" pitchFamily="34" charset="-120"/>
              </a:rPr>
              <a:t> </a:t>
            </a:r>
            <a:pPr algn="l" indent="0" marL="0">
              <a:lnSpc>
                <a:spcPct val="120000"/>
              </a:lnSpc>
              <a:buNone/>
            </a:pPr>
            <a:r>
              <a:rPr lang="en-US" sz="1450" dirty="0">
                <a:solidFill>
                  <a:srgbClr val="C77BD6"/>
                </a:solidFill>
                <a:latin typeface="Courier New" pitchFamily="34" charset="0"/>
                <a:ea typeface="Courier New" pitchFamily="34" charset="-122"/>
                <a:cs typeface="Courier New" pitchFamily="34" charset="-120"/>
              </a:rPr>
              <a:t>{</a:t>
            </a:r>
            <a:endParaRPr lang="en-US" sz="1450" dirty="0"/>
          </a:p>
          <a:p>
            <a:pPr algn="l" indent="0" marL="0">
              <a:lnSpc>
                <a:spcPct val="120000"/>
              </a:lnSpc>
              <a:buNone/>
            </a:pPr>
            <a:r>
              <a:rPr lang="en-US" sz="1450" dirty="0">
                <a:solidFill>
                  <a:srgbClr val="C77BD6"/>
                </a:solidFill>
                <a:latin typeface="Courier New" pitchFamily="34" charset="0"/>
                <a:ea typeface="Courier New" pitchFamily="34" charset="-122"/>
                <a:cs typeface="Courier New" pitchFamily="34" charset="-120"/>
              </a:rPr>
              <a:t>  </a:t>
            </a:r>
            <a:pPr algn="l" indent="0" marL="0">
              <a:lnSpc>
                <a:spcPct val="120000"/>
              </a:lnSpc>
              <a:buNone/>
            </a:pPr>
            <a:r>
              <a:rPr lang="en-US" sz="1450" b="1" dirty="0">
                <a:solidFill>
                  <a:srgbClr val="DFA0EC"/>
                </a:solidFill>
                <a:latin typeface="Courier New" pitchFamily="34" charset="0"/>
                <a:ea typeface="Courier New" pitchFamily="34" charset="-122"/>
                <a:cs typeface="Courier New" pitchFamily="34" charset="-120"/>
              </a:rPr>
              <a:t>backend</a:t>
            </a:r>
            <a:pPr algn="l" indent="0" marL="0">
              <a:lnSpc>
                <a:spcPct val="120000"/>
              </a:lnSpc>
              <a:buNone/>
            </a:pPr>
            <a:r>
              <a:rPr lang="en-US" sz="1450" dirty="0">
                <a:solidFill>
                  <a:srgbClr val="C77BD6"/>
                </a:solidFill>
                <a:latin typeface="Courier New" pitchFamily="34" charset="0"/>
                <a:ea typeface="Courier New" pitchFamily="34" charset="-122"/>
                <a:cs typeface="Courier New" pitchFamily="34" charset="-120"/>
              </a:rPr>
              <a:t> </a:t>
            </a:r>
            <a:pPr algn="l" indent="0" marL="0">
              <a:lnSpc>
                <a:spcPct val="120000"/>
              </a:lnSpc>
              <a:buNone/>
            </a:pPr>
            <a:r>
              <a:rPr lang="en-US" sz="1450" dirty="0">
                <a:solidFill>
                  <a:srgbClr val="8FD9B6"/>
                </a:solidFill>
                <a:latin typeface="Courier New" pitchFamily="34" charset="0"/>
                <a:ea typeface="Courier New" pitchFamily="34" charset="-122"/>
                <a:cs typeface="Courier New" pitchFamily="34" charset="-120"/>
              </a:rPr>
              <a:t>"azurerm"</a:t>
            </a:r>
            <a:pPr algn="l" indent="0" marL="0">
              <a:lnSpc>
                <a:spcPct val="120000"/>
              </a:lnSpc>
              <a:buNone/>
            </a:pPr>
            <a:r>
              <a:rPr lang="en-US" sz="1450" dirty="0">
                <a:solidFill>
                  <a:srgbClr val="C77BD6"/>
                </a:solidFill>
                <a:latin typeface="Courier New" pitchFamily="34" charset="0"/>
                <a:ea typeface="Courier New" pitchFamily="34" charset="-122"/>
                <a:cs typeface="Courier New" pitchFamily="34" charset="-120"/>
              </a:rPr>
              <a:t> </a:t>
            </a:r>
            <a:pPr algn="l" indent="0" marL="0">
              <a:lnSpc>
                <a:spcPct val="120000"/>
              </a:lnSpc>
              <a:buNone/>
            </a:pPr>
            <a:r>
              <a:rPr lang="en-US" sz="1450" dirty="0">
                <a:solidFill>
                  <a:srgbClr val="C77BD6"/>
                </a:solidFill>
                <a:latin typeface="Courier New" pitchFamily="34" charset="0"/>
                <a:ea typeface="Courier New" pitchFamily="34" charset="-122"/>
                <a:cs typeface="Courier New" pitchFamily="34" charset="-120"/>
              </a:rPr>
              <a:t>{</a:t>
            </a:r>
            <a:endParaRPr lang="en-US" sz="1450" dirty="0"/>
          </a:p>
          <a:p>
            <a:pPr algn="l" indent="0" marL="0">
              <a:lnSpc>
                <a:spcPct val="120000"/>
              </a:lnSpc>
              <a:buNone/>
            </a:pPr>
            <a:r>
              <a:rPr lang="en-US" sz="1450" dirty="0">
                <a:solidFill>
                  <a:srgbClr val="C77BD6"/>
                </a:solidFill>
                <a:latin typeface="Courier New" pitchFamily="34" charset="0"/>
                <a:ea typeface="Courier New" pitchFamily="34" charset="-122"/>
                <a:cs typeface="Courier New" pitchFamily="34" charset="-120"/>
              </a:rPr>
              <a:t>    </a:t>
            </a:r>
            <a:pPr algn="l" indent="0" marL="0">
              <a:lnSpc>
                <a:spcPct val="120000"/>
              </a:lnSpc>
              <a:buNone/>
            </a:pPr>
            <a:r>
              <a:rPr lang="en-US" sz="1450" dirty="0">
                <a:solidFill>
                  <a:srgbClr val="EFE6F2"/>
                </a:solidFill>
                <a:latin typeface="Courier New" pitchFamily="34" charset="0"/>
                <a:ea typeface="Courier New" pitchFamily="34" charset="-122"/>
                <a:cs typeface="Courier New" pitchFamily="34" charset="-120"/>
              </a:rPr>
              <a:t>resource_group_name</a:t>
            </a:r>
            <a:endParaRPr lang="en-US" sz="1450" dirty="0"/>
          </a:p>
          <a:p>
            <a:pPr algn="l" indent="0" marL="0">
              <a:lnSpc>
                <a:spcPct val="120000"/>
              </a:lnSpc>
              <a:buNone/>
            </a:pPr>
            <a:r>
              <a:rPr lang="en-US" sz="1450" dirty="0">
                <a:solidFill>
                  <a:srgbClr val="C77BD6"/>
                </a:solidFill>
                <a:latin typeface="Courier New" pitchFamily="34" charset="0"/>
                <a:ea typeface="Courier New" pitchFamily="34" charset="-122"/>
                <a:cs typeface="Courier New" pitchFamily="34" charset="-120"/>
              </a:rPr>
              <a:t>      </a:t>
            </a:r>
            <a:pPr algn="l" indent="0" marL="0">
              <a:lnSpc>
                <a:spcPct val="120000"/>
              </a:lnSpc>
              <a:buNone/>
            </a:pPr>
            <a:r>
              <a:rPr lang="en-US" sz="1450" dirty="0">
                <a:solidFill>
                  <a:srgbClr val="C77BD6"/>
                </a:solidFill>
                <a:latin typeface="Courier New" pitchFamily="34" charset="0"/>
                <a:ea typeface="Courier New" pitchFamily="34" charset="-122"/>
                <a:cs typeface="Courier New" pitchFamily="34" charset="-120"/>
              </a:rPr>
              <a:t>=</a:t>
            </a:r>
            <a:pPr algn="l" indent="0" marL="0">
              <a:lnSpc>
                <a:spcPct val="120000"/>
              </a:lnSpc>
              <a:buNone/>
            </a:pPr>
            <a:r>
              <a:rPr lang="en-US" sz="1450" dirty="0">
                <a:solidFill>
                  <a:srgbClr val="C77BD6"/>
                </a:solidFill>
                <a:latin typeface="Courier New" pitchFamily="34" charset="0"/>
                <a:ea typeface="Courier New" pitchFamily="34" charset="-122"/>
                <a:cs typeface="Courier New" pitchFamily="34" charset="-120"/>
              </a:rPr>
              <a:t> </a:t>
            </a:r>
            <a:pPr algn="l" indent="0" marL="0">
              <a:lnSpc>
                <a:spcPct val="120000"/>
              </a:lnSpc>
              <a:buNone/>
            </a:pPr>
            <a:r>
              <a:rPr lang="en-US" sz="1450" dirty="0">
                <a:solidFill>
                  <a:srgbClr val="8FD9B6"/>
                </a:solidFill>
                <a:latin typeface="Courier New" pitchFamily="34" charset="0"/>
                <a:ea typeface="Courier New" pitchFamily="34" charset="-122"/>
                <a:cs typeface="Courier New" pitchFamily="34" charset="-120"/>
              </a:rPr>
              <a:t>"rg-tfstate"</a:t>
            </a:r>
            <a:endParaRPr lang="en-US" sz="1450" dirty="0"/>
          </a:p>
          <a:p>
            <a:pPr algn="l" indent="0" marL="0">
              <a:lnSpc>
                <a:spcPct val="120000"/>
              </a:lnSpc>
              <a:buNone/>
            </a:pPr>
            <a:r>
              <a:rPr lang="en-US" sz="1450" dirty="0">
                <a:solidFill>
                  <a:srgbClr val="C77BD6"/>
                </a:solidFill>
                <a:latin typeface="Courier New" pitchFamily="34" charset="0"/>
                <a:ea typeface="Courier New" pitchFamily="34" charset="-122"/>
                <a:cs typeface="Courier New" pitchFamily="34" charset="-120"/>
              </a:rPr>
              <a:t>    </a:t>
            </a:r>
            <a:pPr algn="l" indent="0" marL="0">
              <a:lnSpc>
                <a:spcPct val="120000"/>
              </a:lnSpc>
              <a:buNone/>
            </a:pPr>
            <a:r>
              <a:rPr lang="en-US" sz="1450" dirty="0">
                <a:solidFill>
                  <a:srgbClr val="EFE6F2"/>
                </a:solidFill>
                <a:latin typeface="Courier New" pitchFamily="34" charset="0"/>
                <a:ea typeface="Courier New" pitchFamily="34" charset="-122"/>
                <a:cs typeface="Courier New" pitchFamily="34" charset="-120"/>
              </a:rPr>
              <a:t>storage_account_name</a:t>
            </a:r>
            <a:endParaRPr lang="en-US" sz="1450" dirty="0"/>
          </a:p>
          <a:p>
            <a:pPr algn="l" indent="0" marL="0">
              <a:lnSpc>
                <a:spcPct val="120000"/>
              </a:lnSpc>
              <a:buNone/>
            </a:pPr>
            <a:r>
              <a:rPr lang="en-US" sz="1450" dirty="0">
                <a:solidFill>
                  <a:srgbClr val="C77BD6"/>
                </a:solidFill>
                <a:latin typeface="Courier New" pitchFamily="34" charset="0"/>
                <a:ea typeface="Courier New" pitchFamily="34" charset="-122"/>
                <a:cs typeface="Courier New" pitchFamily="34" charset="-120"/>
              </a:rPr>
              <a:t>      </a:t>
            </a:r>
            <a:pPr algn="l" indent="0" marL="0">
              <a:lnSpc>
                <a:spcPct val="120000"/>
              </a:lnSpc>
              <a:buNone/>
            </a:pPr>
            <a:r>
              <a:rPr lang="en-US" sz="1450" dirty="0">
                <a:solidFill>
                  <a:srgbClr val="C77BD6"/>
                </a:solidFill>
                <a:latin typeface="Courier New" pitchFamily="34" charset="0"/>
                <a:ea typeface="Courier New" pitchFamily="34" charset="-122"/>
                <a:cs typeface="Courier New" pitchFamily="34" charset="-120"/>
              </a:rPr>
              <a:t>=</a:t>
            </a:r>
            <a:pPr algn="l" indent="0" marL="0">
              <a:lnSpc>
                <a:spcPct val="120000"/>
              </a:lnSpc>
              <a:buNone/>
            </a:pPr>
            <a:r>
              <a:rPr lang="en-US" sz="1450" dirty="0">
                <a:solidFill>
                  <a:srgbClr val="C77BD6"/>
                </a:solidFill>
                <a:latin typeface="Courier New" pitchFamily="34" charset="0"/>
                <a:ea typeface="Courier New" pitchFamily="34" charset="-122"/>
                <a:cs typeface="Courier New" pitchFamily="34" charset="-120"/>
              </a:rPr>
              <a:t> </a:t>
            </a:r>
            <a:pPr algn="l" indent="0" marL="0">
              <a:lnSpc>
                <a:spcPct val="120000"/>
              </a:lnSpc>
              <a:buNone/>
            </a:pPr>
            <a:r>
              <a:rPr lang="en-US" sz="1450" dirty="0">
                <a:solidFill>
                  <a:srgbClr val="8FD9B6"/>
                </a:solidFill>
                <a:latin typeface="Courier New" pitchFamily="34" charset="0"/>
                <a:ea typeface="Courier New" pitchFamily="34" charset="-122"/>
                <a:cs typeface="Courier New" pitchFamily="34" charset="-120"/>
              </a:rPr>
              <a:t>"sttfstate001"</a:t>
            </a:r>
            <a:endParaRPr lang="en-US" sz="1450" dirty="0"/>
          </a:p>
          <a:p>
            <a:pPr algn="l" indent="0" marL="0">
              <a:lnSpc>
                <a:spcPct val="120000"/>
              </a:lnSpc>
              <a:buNone/>
            </a:pPr>
            <a:r>
              <a:rPr lang="en-US" sz="1450" dirty="0">
                <a:solidFill>
                  <a:srgbClr val="C77BD6"/>
                </a:solidFill>
                <a:latin typeface="Courier New" pitchFamily="34" charset="0"/>
                <a:ea typeface="Courier New" pitchFamily="34" charset="-122"/>
                <a:cs typeface="Courier New" pitchFamily="34" charset="-120"/>
              </a:rPr>
              <a:t>    </a:t>
            </a:r>
            <a:pPr algn="l" indent="0" marL="0">
              <a:lnSpc>
                <a:spcPct val="120000"/>
              </a:lnSpc>
              <a:buNone/>
            </a:pPr>
            <a:r>
              <a:rPr lang="en-US" sz="1450" dirty="0">
                <a:solidFill>
                  <a:srgbClr val="EFE6F2"/>
                </a:solidFill>
                <a:latin typeface="Courier New" pitchFamily="34" charset="0"/>
                <a:ea typeface="Courier New" pitchFamily="34" charset="-122"/>
                <a:cs typeface="Courier New" pitchFamily="34" charset="-120"/>
              </a:rPr>
              <a:t>container_name</a:t>
            </a:r>
            <a:pPr algn="l" indent="0" marL="0">
              <a:lnSpc>
                <a:spcPct val="120000"/>
              </a:lnSpc>
              <a:buNone/>
            </a:pPr>
            <a:r>
              <a:rPr lang="en-US" sz="1450" dirty="0">
                <a:solidFill>
                  <a:srgbClr val="C77BD6"/>
                </a:solidFill>
                <a:latin typeface="Courier New" pitchFamily="34" charset="0"/>
                <a:ea typeface="Courier New" pitchFamily="34" charset="-122"/>
                <a:cs typeface="Courier New" pitchFamily="34" charset="-120"/>
              </a:rPr>
              <a:t> </a:t>
            </a:r>
            <a:pPr algn="l" indent="0" marL="0">
              <a:lnSpc>
                <a:spcPct val="120000"/>
              </a:lnSpc>
              <a:buNone/>
            </a:pPr>
            <a:r>
              <a:rPr lang="en-US" sz="1450" dirty="0">
                <a:solidFill>
                  <a:srgbClr val="C77BD6"/>
                </a:solidFill>
                <a:latin typeface="Courier New" pitchFamily="34" charset="0"/>
                <a:ea typeface="Courier New" pitchFamily="34" charset="-122"/>
                <a:cs typeface="Courier New" pitchFamily="34" charset="-120"/>
              </a:rPr>
              <a:t>=</a:t>
            </a:r>
            <a:pPr algn="l" indent="0" marL="0">
              <a:lnSpc>
                <a:spcPct val="120000"/>
              </a:lnSpc>
              <a:buNone/>
            </a:pPr>
            <a:r>
              <a:rPr lang="en-US" sz="1450" dirty="0">
                <a:solidFill>
                  <a:srgbClr val="C77BD6"/>
                </a:solidFill>
                <a:latin typeface="Courier New" pitchFamily="34" charset="0"/>
                <a:ea typeface="Courier New" pitchFamily="34" charset="-122"/>
                <a:cs typeface="Courier New" pitchFamily="34" charset="-120"/>
              </a:rPr>
              <a:t> </a:t>
            </a:r>
            <a:pPr algn="l" indent="0" marL="0">
              <a:lnSpc>
                <a:spcPct val="120000"/>
              </a:lnSpc>
              <a:buNone/>
            </a:pPr>
            <a:r>
              <a:rPr lang="en-US" sz="1450" dirty="0">
                <a:solidFill>
                  <a:srgbClr val="8FD9B6"/>
                </a:solidFill>
                <a:latin typeface="Courier New" pitchFamily="34" charset="0"/>
                <a:ea typeface="Courier New" pitchFamily="34" charset="-122"/>
                <a:cs typeface="Courier New" pitchFamily="34" charset="-120"/>
              </a:rPr>
              <a:t>"tfstate"</a:t>
            </a:r>
            <a:endParaRPr lang="en-US" sz="1450" dirty="0"/>
          </a:p>
          <a:p>
            <a:pPr algn="l" indent="0" marL="0">
              <a:lnSpc>
                <a:spcPct val="120000"/>
              </a:lnSpc>
              <a:buNone/>
            </a:pPr>
            <a:r>
              <a:rPr lang="en-US" sz="1450" dirty="0">
                <a:solidFill>
                  <a:srgbClr val="C77BD6"/>
                </a:solidFill>
                <a:latin typeface="Courier New" pitchFamily="34" charset="0"/>
                <a:ea typeface="Courier New" pitchFamily="34" charset="-122"/>
                <a:cs typeface="Courier New" pitchFamily="34" charset="-120"/>
              </a:rPr>
              <a:t>    </a:t>
            </a:r>
            <a:pPr algn="l" indent="0" marL="0">
              <a:lnSpc>
                <a:spcPct val="120000"/>
              </a:lnSpc>
              <a:buNone/>
            </a:pPr>
            <a:r>
              <a:rPr lang="en-US" sz="1450" dirty="0">
                <a:solidFill>
                  <a:srgbClr val="EFE6F2"/>
                </a:solidFill>
                <a:latin typeface="Courier New" pitchFamily="34" charset="0"/>
                <a:ea typeface="Courier New" pitchFamily="34" charset="-122"/>
                <a:cs typeface="Courier New" pitchFamily="34" charset="-120"/>
              </a:rPr>
              <a:t>key</a:t>
            </a:r>
            <a:pPr algn="l" indent="0" marL="0">
              <a:lnSpc>
                <a:spcPct val="120000"/>
              </a:lnSpc>
              <a:buNone/>
            </a:pPr>
            <a:r>
              <a:rPr lang="en-US" sz="1450" dirty="0">
                <a:solidFill>
                  <a:srgbClr val="C77BD6"/>
                </a:solidFill>
                <a:latin typeface="Courier New" pitchFamily="34" charset="0"/>
                <a:ea typeface="Courier New" pitchFamily="34" charset="-122"/>
                <a:cs typeface="Courier New" pitchFamily="34" charset="-120"/>
              </a:rPr>
              <a:t> </a:t>
            </a:r>
            <a:pPr algn="l" indent="0" marL="0">
              <a:lnSpc>
                <a:spcPct val="120000"/>
              </a:lnSpc>
              <a:buNone/>
            </a:pPr>
            <a:r>
              <a:rPr lang="en-US" sz="1450" dirty="0">
                <a:solidFill>
                  <a:srgbClr val="C77BD6"/>
                </a:solidFill>
                <a:latin typeface="Courier New" pitchFamily="34" charset="0"/>
                <a:ea typeface="Courier New" pitchFamily="34" charset="-122"/>
                <a:cs typeface="Courier New" pitchFamily="34" charset="-120"/>
              </a:rPr>
              <a:t>=</a:t>
            </a:r>
            <a:pPr algn="l" indent="0" marL="0">
              <a:lnSpc>
                <a:spcPct val="120000"/>
              </a:lnSpc>
              <a:buNone/>
            </a:pPr>
            <a:r>
              <a:rPr lang="en-US" sz="1450" dirty="0">
                <a:solidFill>
                  <a:srgbClr val="C77BD6"/>
                </a:solidFill>
                <a:latin typeface="Courier New" pitchFamily="34" charset="0"/>
                <a:ea typeface="Courier New" pitchFamily="34" charset="-122"/>
                <a:cs typeface="Courier New" pitchFamily="34" charset="-120"/>
              </a:rPr>
              <a:t> </a:t>
            </a:r>
            <a:pPr algn="l" indent="0" marL="0">
              <a:lnSpc>
                <a:spcPct val="120000"/>
              </a:lnSpc>
              <a:buNone/>
            </a:pPr>
            <a:r>
              <a:rPr lang="en-US" sz="1450" dirty="0">
                <a:solidFill>
                  <a:srgbClr val="8FD9B6"/>
                </a:solidFill>
                <a:latin typeface="Courier New" pitchFamily="34" charset="0"/>
                <a:ea typeface="Courier New" pitchFamily="34" charset="-122"/>
                <a:cs typeface="Courier New" pitchFamily="34" charset="-120"/>
              </a:rPr>
              <a:t>"fabric.tfstate"</a:t>
            </a:r>
            <a:endParaRPr lang="en-US" sz="1450" dirty="0"/>
          </a:p>
          <a:p>
            <a:pPr algn="l" indent="0" marL="0">
              <a:lnSpc>
                <a:spcPct val="120000"/>
              </a:lnSpc>
              <a:buNone/>
            </a:pPr>
            <a:r>
              <a:rPr lang="en-US" sz="1450" dirty="0">
                <a:solidFill>
                  <a:srgbClr val="C77BD6"/>
                </a:solidFill>
                <a:latin typeface="Courier New" pitchFamily="34" charset="0"/>
                <a:ea typeface="Courier New" pitchFamily="34" charset="-122"/>
                <a:cs typeface="Courier New" pitchFamily="34" charset="-120"/>
              </a:rPr>
              <a:t>  </a:t>
            </a:r>
            <a:pPr algn="l" indent="0" marL="0">
              <a:lnSpc>
                <a:spcPct val="120000"/>
              </a:lnSpc>
              <a:buNone/>
            </a:pPr>
            <a:r>
              <a:rPr lang="en-US" sz="1450" dirty="0">
                <a:solidFill>
                  <a:srgbClr val="C77BD6"/>
                </a:solidFill>
                <a:latin typeface="Courier New" pitchFamily="34" charset="0"/>
                <a:ea typeface="Courier New" pitchFamily="34" charset="-122"/>
                <a:cs typeface="Courier New" pitchFamily="34" charset="-120"/>
              </a:rPr>
              <a:t>}</a:t>
            </a:r>
            <a:endParaRPr lang="en-US" sz="1450" dirty="0"/>
          </a:p>
          <a:p>
            <a:pPr algn="l" indent="0" marL="0">
              <a:lnSpc>
                <a:spcPct val="120000"/>
              </a:lnSpc>
              <a:buNone/>
            </a:pPr>
            <a:r>
              <a:rPr lang="en-US" sz="1450" dirty="0">
                <a:solidFill>
                  <a:srgbClr val="C77BD6"/>
                </a:solidFill>
                <a:latin typeface="Courier New" pitchFamily="34" charset="0"/>
                <a:ea typeface="Courier New" pitchFamily="34" charset="-122"/>
                <a:cs typeface="Courier New" pitchFamily="34" charset="-120"/>
              </a:rPr>
              <a:t>}</a:t>
            </a:r>
            <a:endParaRPr lang="en-US" sz="1450" dirty="0"/>
          </a:p>
        </p:txBody>
      </p:sp>
      <p:sp>
        <p:nvSpPr>
          <p:cNvPr id="23" name="Shape 20"/>
          <p:cNvSpPr/>
          <p:nvPr/>
        </p:nvSpPr>
        <p:spPr>
          <a:xfrm>
            <a:off x="1572768" y="7623353"/>
            <a:ext cx="15142464" cy="1261872"/>
          </a:xfrm>
          <a:prstGeom prst="roundRect">
            <a:avLst>
              <a:gd name="adj" fmla="val 10000"/>
            </a:avLst>
          </a:prstGeom>
          <a:solidFill>
            <a:srgbClr val="2A0E33"/>
          </a:solidFill>
          <a:ln w="12700">
            <a:solidFill>
              <a:srgbClr val="2A0E33"/>
            </a:solidFill>
            <a:prstDash val="solid"/>
          </a:ln>
        </p:spPr>
      </p:sp>
      <p:sp>
        <p:nvSpPr>
          <p:cNvPr id="24" name="Text 21"/>
          <p:cNvSpPr txBox="1"/>
          <p:nvPr/>
        </p:nvSpPr>
        <p:spPr>
          <a:xfrm>
            <a:off x="2077517" y="7623353"/>
            <a:ext cx="14132966" cy="1261872"/>
          </a:xfrm>
          <a:prstGeom prst="rect">
            <a:avLst/>
          </a:prstGeom>
          <a:noFill/>
          <a:ln/>
        </p:spPr>
        <p:txBody>
          <a:bodyPr wrap="square" lIns="0" tIns="0" rIns="0" bIns="0" rtlCol="0" anchor="ctr"/>
          <a:lstStyle/>
          <a:p>
            <a:pPr indent="0" marL="0">
              <a:buNone/>
            </a:pPr>
            <a:r>
              <a:rPr lang="en-US" sz="2480" b="1" dirty="0">
                <a:solidFill>
                  <a:srgbClr val="FFFFFF"/>
                </a:solidFill>
                <a:latin typeface="Arial" pitchFamily="34" charset="0"/>
                <a:ea typeface="Arial" pitchFamily="34" charset="-122"/>
                <a:cs typeface="Arial" pitchFamily="34" charset="-120"/>
              </a:rPr>
              <a:t>El día que tu equipo sea más de una persona, el backend remoto deja de ser opcional.</a:t>
            </a:r>
            <a:endParaRPr lang="en-US" sz="248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pic>
        <p:nvPicPr>
          <p:cNvPr id="2" name="Image 0" descr="/home/claude/bg-dark.jpg">    </p:cNvPr>
          <p:cNvPicPr>
            <a:picLocks noChangeAspect="1"/>
          </p:cNvPicPr>
          <p:nvPr/>
        </p:nvPicPr>
        <p:blipFill>
          <a:blip r:embed="rId1"/>
          <a:stretch>
            <a:fillRect/>
          </a:stretch>
        </p:blipFill>
        <p:spPr>
          <a:xfrm>
            <a:off x="0" y="0"/>
            <a:ext cx="18288000" cy="10287000"/>
          </a:xfrm>
          <a:prstGeom prst="rect">
            <a:avLst/>
          </a:prstGeom>
        </p:spPr>
      </p:pic>
      <p:sp>
        <p:nvSpPr>
          <p:cNvPr id="3" name="Text 0"/>
          <p:cNvSpPr txBox="1"/>
          <p:nvPr/>
        </p:nvSpPr>
        <p:spPr>
          <a:xfrm>
            <a:off x="1572768" y="3459175"/>
            <a:ext cx="4037990" cy="2523744"/>
          </a:xfrm>
          <a:prstGeom prst="rect">
            <a:avLst/>
          </a:prstGeom>
          <a:noFill/>
          <a:ln/>
        </p:spPr>
        <p:txBody>
          <a:bodyPr wrap="square" lIns="0" tIns="0" rIns="0" bIns="0" rtlCol="0" anchor="ctr"/>
          <a:lstStyle/>
          <a:p>
            <a:pPr algn="l" indent="0" marL="0">
              <a:buNone/>
            </a:pPr>
            <a:r>
              <a:rPr lang="en-US" sz="14350" b="1" dirty="0">
                <a:solidFill>
                  <a:srgbClr val="F59120"/>
                </a:solidFill>
                <a:latin typeface="Arial" pitchFamily="34" charset="0"/>
                <a:ea typeface="Arial" pitchFamily="34" charset="-122"/>
                <a:cs typeface="Arial" pitchFamily="34" charset="-120"/>
              </a:rPr>
              <a:t>04</a:t>
            </a:r>
            <a:endParaRPr lang="en-US" sz="14350" dirty="0"/>
          </a:p>
        </p:txBody>
      </p:sp>
      <p:sp>
        <p:nvSpPr>
          <p:cNvPr id="4" name="Text 1"/>
          <p:cNvSpPr txBox="1"/>
          <p:nvPr/>
        </p:nvSpPr>
        <p:spPr>
          <a:xfrm>
            <a:off x="5169103" y="3837737"/>
            <a:ext cx="11230661" cy="1261872"/>
          </a:xfrm>
          <a:prstGeom prst="rect">
            <a:avLst/>
          </a:prstGeom>
          <a:noFill/>
          <a:ln/>
        </p:spPr>
        <p:txBody>
          <a:bodyPr wrap="square" lIns="0" tIns="0" rIns="0" bIns="0" rtlCol="0" anchor="ctr"/>
          <a:lstStyle/>
          <a:p>
            <a:pPr algn="l" indent="0" marL="0">
              <a:buNone/>
            </a:pPr>
            <a:r>
              <a:rPr lang="en-US" sz="5240" b="1" dirty="0">
                <a:solidFill>
                  <a:srgbClr val="FFFFFF"/>
                </a:solidFill>
                <a:latin typeface="Arial" pitchFamily="34" charset="0"/>
                <a:ea typeface="Arial" pitchFamily="34" charset="-122"/>
                <a:cs typeface="Arial" pitchFamily="34" charset="-120"/>
              </a:rPr>
              <a:t>Terraform + Fabric, en la práctica</a:t>
            </a:r>
            <a:endParaRPr lang="en-US" sz="5240" dirty="0"/>
          </a:p>
        </p:txBody>
      </p:sp>
      <p:sp>
        <p:nvSpPr>
          <p:cNvPr id="5" name="Text 2"/>
          <p:cNvSpPr txBox="1"/>
          <p:nvPr/>
        </p:nvSpPr>
        <p:spPr>
          <a:xfrm>
            <a:off x="5232197" y="5225796"/>
            <a:ext cx="11230661" cy="757123"/>
          </a:xfrm>
          <a:prstGeom prst="rect">
            <a:avLst/>
          </a:prstGeom>
          <a:noFill/>
          <a:ln/>
        </p:spPr>
        <p:txBody>
          <a:bodyPr wrap="square" lIns="0" tIns="0" rIns="0" bIns="0" rtlCol="0" anchor="t"/>
          <a:lstStyle/>
          <a:p>
            <a:pPr algn="l" indent="0" marL="0">
              <a:buNone/>
            </a:pPr>
            <a:r>
              <a:rPr lang="en-US" sz="2350" i="1" dirty="0">
                <a:solidFill>
                  <a:srgbClr val="FFFFFF"/>
                </a:solidFill>
                <a:latin typeface="Calibri" pitchFamily="34" charset="0"/>
                <a:ea typeface="Calibri" pitchFamily="34" charset="-122"/>
                <a:cs typeface="Calibri" pitchFamily="34" charset="-120"/>
              </a:rPr>
              <a:t>Ya sabes suficiente. Vamos a crear los doce workspaces.</a:t>
            </a:r>
            <a:endParaRPr lang="en-US" sz="23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pic>
        <p:nvPicPr>
          <p:cNvPr id="2" name="Image 0" descr="/home/claude/bg-white.jpg">    </p:cNvPr>
          <p:cNvPicPr>
            <a:picLocks noChangeAspect="1"/>
          </p:cNvPicPr>
          <p:nvPr/>
        </p:nvPicPr>
        <p:blipFill>
          <a:blip r:embed="rId1"/>
          <a:stretch>
            <a:fillRect/>
          </a:stretch>
        </p:blipFill>
        <p:spPr>
          <a:xfrm>
            <a:off x="0" y="0"/>
            <a:ext cx="18288000" cy="10287000"/>
          </a:xfrm>
          <a:prstGeom prst="rect">
            <a:avLst/>
          </a:prstGeom>
        </p:spPr>
      </p:pic>
      <p:sp>
        <p:nvSpPr>
          <p:cNvPr id="3" name="Text 0"/>
          <p:cNvSpPr txBox="1"/>
          <p:nvPr/>
        </p:nvSpPr>
        <p:spPr>
          <a:xfrm>
            <a:off x="1572768" y="1024128"/>
            <a:ext cx="15142464" cy="404165"/>
          </a:xfrm>
          <a:prstGeom prst="rect">
            <a:avLst/>
          </a:prstGeom>
          <a:noFill/>
          <a:ln/>
        </p:spPr>
        <p:txBody>
          <a:bodyPr wrap="square" lIns="0" tIns="0" rIns="0" bIns="0" rtlCol="0" anchor="ctr"/>
          <a:lstStyle/>
          <a:p>
            <a:pPr indent="0" marL="0">
              <a:buNone/>
            </a:pPr>
            <a:r>
              <a:rPr lang="en-US" sz="1660" b="1" spc="345" kern="0" dirty="0">
                <a:solidFill>
                  <a:srgbClr val="692179"/>
                </a:solidFill>
                <a:latin typeface="Calibri" pitchFamily="34" charset="0"/>
                <a:ea typeface="Calibri" pitchFamily="34" charset="-122"/>
                <a:cs typeface="Calibri" pitchFamily="34" charset="-120"/>
              </a:rPr>
              <a:t>BLOQUE 4 · FABRIC</a:t>
            </a:r>
            <a:endParaRPr lang="en-US" sz="1660" dirty="0"/>
          </a:p>
        </p:txBody>
      </p:sp>
      <p:sp>
        <p:nvSpPr>
          <p:cNvPr id="4" name="Text 1"/>
          <p:cNvSpPr txBox="1"/>
          <p:nvPr/>
        </p:nvSpPr>
        <p:spPr>
          <a:xfrm>
            <a:off x="1572768" y="1440180"/>
            <a:ext cx="15142464" cy="1072591"/>
          </a:xfrm>
          <a:prstGeom prst="rect">
            <a:avLst/>
          </a:prstGeom>
          <a:noFill/>
          <a:ln/>
        </p:spPr>
        <p:txBody>
          <a:bodyPr wrap="square" lIns="0" tIns="0" rIns="0" bIns="0" rtlCol="0" anchor="ctr"/>
          <a:lstStyle/>
          <a:p>
            <a:pPr algn="l" indent="0" marL="0">
              <a:buNone/>
            </a:pPr>
            <a:r>
              <a:rPr lang="en-US" sz="4690" b="1" dirty="0">
                <a:solidFill>
                  <a:srgbClr val="241028"/>
                </a:solidFill>
                <a:latin typeface="Arial" pitchFamily="34" charset="0"/>
                <a:ea typeface="Arial" pitchFamily="34" charset="-122"/>
                <a:cs typeface="Arial" pitchFamily="34" charset="-120"/>
              </a:rPr>
              <a:t>El provider oficial de Microsoft</a:t>
            </a:r>
            <a:endParaRPr lang="en-US" sz="4690" dirty="0"/>
          </a:p>
        </p:txBody>
      </p:sp>
      <p:sp>
        <p:nvSpPr>
          <p:cNvPr id="5" name="Shape 2"/>
          <p:cNvSpPr/>
          <p:nvPr/>
        </p:nvSpPr>
        <p:spPr>
          <a:xfrm>
            <a:off x="1572768" y="3143707"/>
            <a:ext cx="3609137" cy="2460650"/>
          </a:xfrm>
          <a:prstGeom prst="roundRect">
            <a:avLst>
              <a:gd name="adj" fmla="val 5128"/>
            </a:avLst>
          </a:prstGeom>
          <a:solidFill>
            <a:srgbClr val="F5ECF7"/>
          </a:solidFill>
          <a:ln w="12700">
            <a:solidFill>
              <a:srgbClr val="F5ECF7"/>
            </a:solidFill>
            <a:prstDash val="solid"/>
          </a:ln>
        </p:spPr>
      </p:sp>
      <p:sp>
        <p:nvSpPr>
          <p:cNvPr id="6" name="Text 3"/>
          <p:cNvSpPr txBox="1"/>
          <p:nvPr/>
        </p:nvSpPr>
        <p:spPr>
          <a:xfrm>
            <a:off x="1572768" y="3332988"/>
            <a:ext cx="3609137" cy="1009498"/>
          </a:xfrm>
          <a:prstGeom prst="rect">
            <a:avLst/>
          </a:prstGeom>
          <a:noFill/>
          <a:ln/>
        </p:spPr>
        <p:txBody>
          <a:bodyPr wrap="square" lIns="0" tIns="0" rIns="0" bIns="0" rtlCol="0" anchor="ctr"/>
          <a:lstStyle/>
          <a:p>
            <a:pPr algn="ctr" indent="0" marL="0">
              <a:buNone/>
            </a:pPr>
            <a:r>
              <a:rPr lang="en-US" sz="5240" b="1" dirty="0">
                <a:solidFill>
                  <a:srgbClr val="692179"/>
                </a:solidFill>
                <a:latin typeface="Arial" pitchFamily="34" charset="0"/>
                <a:ea typeface="Arial" pitchFamily="34" charset="-122"/>
                <a:cs typeface="Arial" pitchFamily="34" charset="-120"/>
              </a:rPr>
              <a:t>GA</a:t>
            </a:r>
            <a:endParaRPr lang="en-US" sz="5240" dirty="0"/>
          </a:p>
        </p:txBody>
      </p:sp>
      <p:sp>
        <p:nvSpPr>
          <p:cNvPr id="7" name="Text 4"/>
          <p:cNvSpPr txBox="1"/>
          <p:nvPr/>
        </p:nvSpPr>
        <p:spPr>
          <a:xfrm>
            <a:off x="1724558" y="4380890"/>
            <a:ext cx="3306470" cy="479146"/>
          </a:xfrm>
          <a:prstGeom prst="rect">
            <a:avLst/>
          </a:prstGeom>
          <a:noFill/>
          <a:ln/>
        </p:spPr>
        <p:txBody>
          <a:bodyPr wrap="square" lIns="0" tIns="0" rIns="0" bIns="0" rtlCol="0" anchor="ctr"/>
          <a:lstStyle/>
          <a:p>
            <a:pPr algn="ctr" indent="0" marL="0">
              <a:buNone/>
            </a:pPr>
            <a:r>
              <a:rPr lang="en-US" sz="1790" b="1" dirty="0">
                <a:solidFill>
                  <a:srgbClr val="241028"/>
                </a:solidFill>
                <a:latin typeface="Arial" pitchFamily="34" charset="0"/>
                <a:ea typeface="Arial" pitchFamily="34" charset="-122"/>
                <a:cs typeface="Arial" pitchFamily="34" charset="-120"/>
              </a:rPr>
              <a:t>Generalmente disponible</a:t>
            </a:r>
            <a:endParaRPr lang="en-US" sz="1790" dirty="0"/>
          </a:p>
        </p:txBody>
      </p:sp>
      <p:sp>
        <p:nvSpPr>
          <p:cNvPr id="8" name="Text 5"/>
          <p:cNvSpPr txBox="1"/>
          <p:nvPr/>
        </p:nvSpPr>
        <p:spPr>
          <a:xfrm>
            <a:off x="1724558" y="4847234"/>
            <a:ext cx="3306470" cy="530352"/>
          </a:xfrm>
          <a:prstGeom prst="rect">
            <a:avLst/>
          </a:prstGeom>
          <a:noFill/>
          <a:ln/>
        </p:spPr>
        <p:txBody>
          <a:bodyPr wrap="square" lIns="0" tIns="0" rIns="0" bIns="0" rtlCol="0" anchor="t"/>
          <a:lstStyle/>
          <a:p>
            <a:pPr algn="ctr" indent="0" marL="0">
              <a:buNone/>
            </a:pPr>
            <a:r>
              <a:rPr lang="en-US" sz="1590" dirty="0">
                <a:solidFill>
                  <a:srgbClr val="6E5C73"/>
                </a:solidFill>
                <a:latin typeface="Calibri" pitchFamily="34" charset="0"/>
                <a:ea typeface="Calibri" pitchFamily="34" charset="-122"/>
                <a:cs typeface="Calibri" pitchFamily="34" charset="-120"/>
              </a:rPr>
              <a:t>Ya no es preview</a:t>
            </a:r>
            <a:endParaRPr lang="en-US" sz="1590" dirty="0"/>
          </a:p>
        </p:txBody>
      </p:sp>
      <p:sp>
        <p:nvSpPr>
          <p:cNvPr id="9" name="Shape 6"/>
          <p:cNvSpPr/>
          <p:nvPr/>
        </p:nvSpPr>
        <p:spPr>
          <a:xfrm>
            <a:off x="5497373" y="3143707"/>
            <a:ext cx="3609137" cy="2460650"/>
          </a:xfrm>
          <a:prstGeom prst="roundRect">
            <a:avLst>
              <a:gd name="adj" fmla="val 5128"/>
            </a:avLst>
          </a:prstGeom>
          <a:solidFill>
            <a:srgbClr val="F5ECF7"/>
          </a:solidFill>
          <a:ln w="12700">
            <a:solidFill>
              <a:srgbClr val="F5ECF7"/>
            </a:solidFill>
            <a:prstDash val="solid"/>
          </a:ln>
        </p:spPr>
      </p:sp>
      <p:sp>
        <p:nvSpPr>
          <p:cNvPr id="10" name="Text 7"/>
          <p:cNvSpPr txBox="1"/>
          <p:nvPr/>
        </p:nvSpPr>
        <p:spPr>
          <a:xfrm>
            <a:off x="5497373" y="3332988"/>
            <a:ext cx="3609137" cy="1009498"/>
          </a:xfrm>
          <a:prstGeom prst="rect">
            <a:avLst/>
          </a:prstGeom>
          <a:noFill/>
          <a:ln/>
        </p:spPr>
        <p:txBody>
          <a:bodyPr wrap="square" lIns="0" tIns="0" rIns="0" bIns="0" rtlCol="0" anchor="ctr"/>
          <a:lstStyle/>
          <a:p>
            <a:pPr algn="ctr" indent="0" marL="0">
              <a:buNone/>
            </a:pPr>
            <a:r>
              <a:rPr lang="en-US" sz="5240" b="1" dirty="0">
                <a:solidFill>
                  <a:srgbClr val="692179"/>
                </a:solidFill>
                <a:latin typeface="Arial" pitchFamily="34" charset="0"/>
                <a:ea typeface="Arial" pitchFamily="34" charset="-122"/>
                <a:cs typeface="Arial" pitchFamily="34" charset="-120"/>
              </a:rPr>
              <a:t>1.13</a:t>
            </a:r>
            <a:endParaRPr lang="en-US" sz="5240" dirty="0"/>
          </a:p>
        </p:txBody>
      </p:sp>
      <p:sp>
        <p:nvSpPr>
          <p:cNvPr id="11" name="Text 8"/>
          <p:cNvSpPr txBox="1"/>
          <p:nvPr/>
        </p:nvSpPr>
        <p:spPr>
          <a:xfrm>
            <a:off x="5648249" y="4380890"/>
            <a:ext cx="3306470" cy="479146"/>
          </a:xfrm>
          <a:prstGeom prst="rect">
            <a:avLst/>
          </a:prstGeom>
          <a:noFill/>
          <a:ln/>
        </p:spPr>
        <p:txBody>
          <a:bodyPr wrap="square" lIns="0" tIns="0" rIns="0" bIns="0" rtlCol="0" anchor="ctr"/>
          <a:lstStyle/>
          <a:p>
            <a:pPr algn="ctr" indent="0" marL="0">
              <a:buNone/>
            </a:pPr>
            <a:r>
              <a:rPr lang="en-US" sz="1790" b="1" dirty="0">
                <a:solidFill>
                  <a:srgbClr val="241028"/>
                </a:solidFill>
                <a:latin typeface="Arial" pitchFamily="34" charset="0"/>
                <a:ea typeface="Arial" pitchFamily="34" charset="-122"/>
                <a:cs typeface="Arial" pitchFamily="34" charset="-120"/>
              </a:rPr>
              <a:t>Última versión</a:t>
            </a:r>
            <a:endParaRPr lang="en-US" sz="1790" dirty="0"/>
          </a:p>
        </p:txBody>
      </p:sp>
      <p:sp>
        <p:nvSpPr>
          <p:cNvPr id="12" name="Text 9"/>
          <p:cNvSpPr txBox="1"/>
          <p:nvPr/>
        </p:nvSpPr>
        <p:spPr>
          <a:xfrm>
            <a:off x="5648249" y="4847234"/>
            <a:ext cx="3306470" cy="530352"/>
          </a:xfrm>
          <a:prstGeom prst="rect">
            <a:avLst/>
          </a:prstGeom>
          <a:noFill/>
          <a:ln/>
        </p:spPr>
        <p:txBody>
          <a:bodyPr wrap="square" lIns="0" tIns="0" rIns="0" bIns="0" rtlCol="0" anchor="t"/>
          <a:lstStyle/>
          <a:p>
            <a:pPr algn="ctr" indent="0" marL="0">
              <a:buNone/>
            </a:pPr>
            <a:r>
              <a:rPr lang="en-US" sz="1590" dirty="0">
                <a:solidFill>
                  <a:srgbClr val="6E5C73"/>
                </a:solidFill>
                <a:latin typeface="Calibri" pitchFamily="34" charset="0"/>
                <a:ea typeface="Calibri" pitchFamily="34" charset="-122"/>
                <a:cs typeface="Calibri" pitchFamily="34" charset="-120"/>
              </a:rPr>
              <a:t>agosto de 2026</a:t>
            </a:r>
            <a:endParaRPr lang="en-US" sz="1590" dirty="0"/>
          </a:p>
        </p:txBody>
      </p:sp>
      <p:sp>
        <p:nvSpPr>
          <p:cNvPr id="13" name="Shape 10"/>
          <p:cNvSpPr/>
          <p:nvPr/>
        </p:nvSpPr>
        <p:spPr>
          <a:xfrm>
            <a:off x="9421978" y="3143707"/>
            <a:ext cx="3609137" cy="2460650"/>
          </a:xfrm>
          <a:prstGeom prst="roundRect">
            <a:avLst>
              <a:gd name="adj" fmla="val 5128"/>
            </a:avLst>
          </a:prstGeom>
          <a:solidFill>
            <a:srgbClr val="F5ECF7"/>
          </a:solidFill>
          <a:ln w="12700">
            <a:solidFill>
              <a:srgbClr val="F5ECF7"/>
            </a:solidFill>
            <a:prstDash val="solid"/>
          </a:ln>
        </p:spPr>
      </p:sp>
      <p:sp>
        <p:nvSpPr>
          <p:cNvPr id="14" name="Text 11"/>
          <p:cNvSpPr txBox="1"/>
          <p:nvPr/>
        </p:nvSpPr>
        <p:spPr>
          <a:xfrm>
            <a:off x="9421978" y="3332988"/>
            <a:ext cx="3609137" cy="1009498"/>
          </a:xfrm>
          <a:prstGeom prst="rect">
            <a:avLst/>
          </a:prstGeom>
          <a:noFill/>
          <a:ln/>
        </p:spPr>
        <p:txBody>
          <a:bodyPr wrap="square" lIns="0" tIns="0" rIns="0" bIns="0" rtlCol="0" anchor="ctr"/>
          <a:lstStyle/>
          <a:p>
            <a:pPr algn="ctr" indent="0" marL="0">
              <a:buNone/>
            </a:pPr>
            <a:r>
              <a:rPr lang="en-US" sz="5240" b="1" dirty="0">
                <a:solidFill>
                  <a:srgbClr val="692179"/>
                </a:solidFill>
                <a:latin typeface="Arial" pitchFamily="34" charset="0"/>
                <a:ea typeface="Arial" pitchFamily="34" charset="-122"/>
                <a:cs typeface="Arial" pitchFamily="34" charset="-120"/>
              </a:rPr>
              <a:t>~2</a:t>
            </a:r>
            <a:endParaRPr lang="en-US" sz="5240" dirty="0"/>
          </a:p>
        </p:txBody>
      </p:sp>
      <p:sp>
        <p:nvSpPr>
          <p:cNvPr id="15" name="Text 12"/>
          <p:cNvSpPr txBox="1"/>
          <p:nvPr/>
        </p:nvSpPr>
        <p:spPr>
          <a:xfrm>
            <a:off x="9572854" y="4380890"/>
            <a:ext cx="3306470" cy="479146"/>
          </a:xfrm>
          <a:prstGeom prst="rect">
            <a:avLst/>
          </a:prstGeom>
          <a:noFill/>
          <a:ln/>
        </p:spPr>
        <p:txBody>
          <a:bodyPr wrap="square" lIns="0" tIns="0" rIns="0" bIns="0" rtlCol="0" anchor="ctr"/>
          <a:lstStyle/>
          <a:p>
            <a:pPr algn="ctr" indent="0" marL="0">
              <a:buNone/>
            </a:pPr>
            <a:r>
              <a:rPr lang="en-US" sz="1790" b="1" dirty="0">
                <a:solidFill>
                  <a:srgbClr val="241028"/>
                </a:solidFill>
                <a:latin typeface="Arial" pitchFamily="34" charset="0"/>
                <a:ea typeface="Arial" pitchFamily="34" charset="-122"/>
                <a:cs typeface="Arial" pitchFamily="34" charset="-120"/>
              </a:rPr>
              <a:t>Semanas entre releases</a:t>
            </a:r>
            <a:endParaRPr lang="en-US" sz="1790" dirty="0"/>
          </a:p>
        </p:txBody>
      </p:sp>
      <p:sp>
        <p:nvSpPr>
          <p:cNvPr id="16" name="Text 13"/>
          <p:cNvSpPr txBox="1"/>
          <p:nvPr/>
        </p:nvSpPr>
        <p:spPr>
          <a:xfrm>
            <a:off x="9572854" y="4847234"/>
            <a:ext cx="3306470" cy="530352"/>
          </a:xfrm>
          <a:prstGeom prst="rect">
            <a:avLst/>
          </a:prstGeom>
          <a:noFill/>
          <a:ln/>
        </p:spPr>
        <p:txBody>
          <a:bodyPr wrap="square" lIns="0" tIns="0" rIns="0" bIns="0" rtlCol="0" anchor="t"/>
          <a:lstStyle/>
          <a:p>
            <a:pPr algn="ctr" indent="0" marL="0">
              <a:buNone/>
            </a:pPr>
            <a:r>
              <a:rPr lang="en-US" sz="1590" dirty="0">
                <a:solidFill>
                  <a:srgbClr val="6E5C73"/>
                </a:solidFill>
                <a:latin typeface="Calibri" pitchFamily="34" charset="0"/>
                <a:ea typeface="Calibri" pitchFamily="34" charset="-122"/>
                <a:cs typeface="Calibri" pitchFamily="34" charset="-120"/>
              </a:rPr>
              <a:t>fija la versión en tu código</a:t>
            </a:r>
            <a:endParaRPr lang="en-US" sz="1590" dirty="0"/>
          </a:p>
        </p:txBody>
      </p:sp>
      <p:sp>
        <p:nvSpPr>
          <p:cNvPr id="17" name="Shape 14"/>
          <p:cNvSpPr/>
          <p:nvPr/>
        </p:nvSpPr>
        <p:spPr>
          <a:xfrm>
            <a:off x="13345668" y="3143707"/>
            <a:ext cx="3609137" cy="2460650"/>
          </a:xfrm>
          <a:prstGeom prst="roundRect">
            <a:avLst>
              <a:gd name="adj" fmla="val 5128"/>
            </a:avLst>
          </a:prstGeom>
          <a:solidFill>
            <a:srgbClr val="F5ECF7"/>
          </a:solidFill>
          <a:ln w="12700">
            <a:solidFill>
              <a:srgbClr val="F5ECF7"/>
            </a:solidFill>
            <a:prstDash val="solid"/>
          </a:ln>
        </p:spPr>
      </p:sp>
      <p:sp>
        <p:nvSpPr>
          <p:cNvPr id="18" name="Text 15"/>
          <p:cNvSpPr txBox="1"/>
          <p:nvPr/>
        </p:nvSpPr>
        <p:spPr>
          <a:xfrm>
            <a:off x="13345668" y="3332988"/>
            <a:ext cx="3609137" cy="1009498"/>
          </a:xfrm>
          <a:prstGeom prst="rect">
            <a:avLst/>
          </a:prstGeom>
          <a:noFill/>
          <a:ln/>
        </p:spPr>
        <p:txBody>
          <a:bodyPr wrap="square" lIns="0" tIns="0" rIns="0" bIns="0" rtlCol="0" anchor="ctr"/>
          <a:lstStyle/>
          <a:p>
            <a:pPr algn="ctr" indent="0" marL="0">
              <a:buNone/>
            </a:pPr>
            <a:r>
              <a:rPr lang="en-US" sz="5240" b="1" dirty="0">
                <a:solidFill>
                  <a:srgbClr val="692179"/>
                </a:solidFill>
                <a:latin typeface="Arial" pitchFamily="34" charset="0"/>
                <a:ea typeface="Arial" pitchFamily="34" charset="-122"/>
                <a:cs typeface="Arial" pitchFamily="34" charset="-120"/>
              </a:rPr>
              <a:t>OSS</a:t>
            </a:r>
            <a:endParaRPr lang="en-US" sz="5240" dirty="0"/>
          </a:p>
        </p:txBody>
      </p:sp>
      <p:sp>
        <p:nvSpPr>
          <p:cNvPr id="19" name="Text 16"/>
          <p:cNvSpPr txBox="1"/>
          <p:nvPr/>
        </p:nvSpPr>
        <p:spPr>
          <a:xfrm>
            <a:off x="13497458" y="4380890"/>
            <a:ext cx="3306470" cy="479146"/>
          </a:xfrm>
          <a:prstGeom prst="rect">
            <a:avLst/>
          </a:prstGeom>
          <a:noFill/>
          <a:ln/>
        </p:spPr>
        <p:txBody>
          <a:bodyPr wrap="square" lIns="0" tIns="0" rIns="0" bIns="0" rtlCol="0" anchor="ctr"/>
          <a:lstStyle/>
          <a:p>
            <a:pPr algn="ctr" indent="0" marL="0">
              <a:buNone/>
            </a:pPr>
            <a:r>
              <a:rPr lang="en-US" sz="1790" b="1" dirty="0">
                <a:solidFill>
                  <a:srgbClr val="241028"/>
                </a:solidFill>
                <a:latin typeface="Arial" pitchFamily="34" charset="0"/>
                <a:ea typeface="Arial" pitchFamily="34" charset="-122"/>
                <a:cs typeface="Arial" pitchFamily="34" charset="-120"/>
              </a:rPr>
              <a:t>Código abierto</a:t>
            </a:r>
            <a:endParaRPr lang="en-US" sz="1790" dirty="0"/>
          </a:p>
        </p:txBody>
      </p:sp>
      <p:sp>
        <p:nvSpPr>
          <p:cNvPr id="20" name="Text 17"/>
          <p:cNvSpPr txBox="1"/>
          <p:nvPr/>
        </p:nvSpPr>
        <p:spPr>
          <a:xfrm>
            <a:off x="13497458" y="4847234"/>
            <a:ext cx="3306470" cy="530352"/>
          </a:xfrm>
          <a:prstGeom prst="rect">
            <a:avLst/>
          </a:prstGeom>
          <a:noFill/>
          <a:ln/>
        </p:spPr>
        <p:txBody>
          <a:bodyPr wrap="square" lIns="0" tIns="0" rIns="0" bIns="0" rtlCol="0" anchor="t"/>
          <a:lstStyle/>
          <a:p>
            <a:pPr algn="ctr" indent="0" marL="0">
              <a:buNone/>
            </a:pPr>
            <a:r>
              <a:rPr lang="en-US" sz="1590" dirty="0">
                <a:solidFill>
                  <a:srgbClr val="6E5C73"/>
                </a:solidFill>
                <a:latin typeface="Calibri" pitchFamily="34" charset="0"/>
                <a:ea typeface="Calibri" pitchFamily="34" charset="-122"/>
                <a:cs typeface="Calibri" pitchFamily="34" charset="-120"/>
              </a:rPr>
              <a:t>en GitHub, con issues públicas</a:t>
            </a:r>
            <a:endParaRPr lang="en-US" sz="1590" dirty="0"/>
          </a:p>
        </p:txBody>
      </p:sp>
      <p:sp>
        <p:nvSpPr>
          <p:cNvPr id="21" name="Shape 18"/>
          <p:cNvSpPr/>
          <p:nvPr/>
        </p:nvSpPr>
        <p:spPr>
          <a:xfrm>
            <a:off x="1572768" y="5919826"/>
            <a:ext cx="7381951" cy="1703527"/>
          </a:xfrm>
          <a:prstGeom prst="roundRect">
            <a:avLst>
              <a:gd name="adj" fmla="val 7407"/>
            </a:avLst>
          </a:prstGeom>
          <a:solidFill>
            <a:srgbClr val="2A0E33"/>
          </a:solidFill>
          <a:ln w="12700">
            <a:solidFill>
              <a:srgbClr val="2A0E33"/>
            </a:solidFill>
            <a:prstDash val="solid"/>
          </a:ln>
        </p:spPr>
      </p:sp>
      <p:sp>
        <p:nvSpPr>
          <p:cNvPr id="22" name="Text 19"/>
          <p:cNvSpPr txBox="1"/>
          <p:nvPr/>
        </p:nvSpPr>
        <p:spPr>
          <a:xfrm>
            <a:off x="2014423" y="6109106"/>
            <a:ext cx="6498641" cy="441655"/>
          </a:xfrm>
          <a:prstGeom prst="rect">
            <a:avLst/>
          </a:prstGeom>
          <a:noFill/>
          <a:ln/>
        </p:spPr>
        <p:txBody>
          <a:bodyPr wrap="square" lIns="0" tIns="0" rIns="0" bIns="0" rtlCol="0" anchor="ctr"/>
          <a:lstStyle/>
          <a:p>
            <a:pPr indent="0" marL="0">
              <a:buNone/>
            </a:pPr>
            <a:r>
              <a:rPr lang="en-US" sz="2070" b="1" dirty="0">
                <a:solidFill>
                  <a:srgbClr val="F59120"/>
                </a:solidFill>
                <a:latin typeface="Arial" pitchFamily="34" charset="0"/>
                <a:ea typeface="Arial" pitchFamily="34" charset="-122"/>
                <a:cs typeface="Arial" pitchFamily="34" charset="-120"/>
              </a:rPr>
              <a:t>Recursos en preview</a:t>
            </a:r>
            <a:endParaRPr lang="en-US" sz="2070" dirty="0"/>
          </a:p>
        </p:txBody>
      </p:sp>
      <p:sp>
        <p:nvSpPr>
          <p:cNvPr id="23" name="Text 20"/>
          <p:cNvSpPr txBox="1"/>
          <p:nvPr/>
        </p:nvSpPr>
        <p:spPr>
          <a:xfrm>
            <a:off x="2014423" y="6550762"/>
            <a:ext cx="6498641" cy="908914"/>
          </a:xfrm>
          <a:prstGeom prst="rect">
            <a:avLst/>
          </a:prstGeom>
          <a:noFill/>
          <a:ln/>
        </p:spPr>
        <p:txBody>
          <a:bodyPr wrap="square" lIns="0" tIns="0" rIns="0" bIns="0" rtlCol="0" anchor="t"/>
          <a:lstStyle/>
          <a:p>
            <a:pPr indent="0" marL="0">
              <a:lnSpc>
                <a:spcPct val="110000"/>
              </a:lnSpc>
              <a:buNone/>
            </a:pPr>
            <a:r>
              <a:rPr lang="en-US" sz="1790" dirty="0">
                <a:solidFill>
                  <a:srgbClr val="EFE6F2"/>
                </a:solidFill>
                <a:latin typeface="Calibri" pitchFamily="34" charset="0"/>
                <a:ea typeface="Calibri" pitchFamily="34" charset="-122"/>
                <a:cs typeface="Calibri" pitchFamily="34" charset="-120"/>
              </a:rPr>
              <a:t>Algunos recursos siguen en vista previa: necesitan preview = true en el bloque provider.</a:t>
            </a:r>
            <a:endParaRPr lang="en-US" sz="1790" dirty="0"/>
          </a:p>
        </p:txBody>
      </p:sp>
      <p:sp>
        <p:nvSpPr>
          <p:cNvPr id="24" name="Shape 21"/>
          <p:cNvSpPr/>
          <p:nvPr/>
        </p:nvSpPr>
        <p:spPr>
          <a:xfrm>
            <a:off x="9396374" y="5919826"/>
            <a:ext cx="7318858" cy="1703527"/>
          </a:xfrm>
          <a:prstGeom prst="roundRect">
            <a:avLst>
              <a:gd name="adj" fmla="val 7407"/>
            </a:avLst>
          </a:prstGeom>
          <a:solidFill>
            <a:srgbClr val="2A0E33"/>
          </a:solidFill>
          <a:ln w="12700">
            <a:solidFill>
              <a:srgbClr val="2A0E33"/>
            </a:solidFill>
            <a:prstDash val="solid"/>
          </a:ln>
        </p:spPr>
      </p:sp>
      <p:sp>
        <p:nvSpPr>
          <p:cNvPr id="25" name="Text 22"/>
          <p:cNvSpPr txBox="1"/>
          <p:nvPr/>
        </p:nvSpPr>
        <p:spPr>
          <a:xfrm>
            <a:off x="9838030" y="6109106"/>
            <a:ext cx="6435547" cy="441655"/>
          </a:xfrm>
          <a:prstGeom prst="rect">
            <a:avLst/>
          </a:prstGeom>
          <a:noFill/>
          <a:ln/>
        </p:spPr>
        <p:txBody>
          <a:bodyPr wrap="square" lIns="0" tIns="0" rIns="0" bIns="0" rtlCol="0" anchor="ctr"/>
          <a:lstStyle/>
          <a:p>
            <a:pPr indent="0" marL="0">
              <a:buNone/>
            </a:pPr>
            <a:r>
              <a:rPr lang="en-US" sz="2070" b="1" dirty="0">
                <a:solidFill>
                  <a:srgbClr val="E8553F"/>
                </a:solidFill>
                <a:latin typeface="Arial" pitchFamily="34" charset="0"/>
                <a:ea typeface="Arial" pitchFamily="34" charset="-122"/>
                <a:cs typeface="Arial" pitchFamily="34" charset="-120"/>
              </a:rPr>
              <a:t>Soporte</a:t>
            </a:r>
            <a:endParaRPr lang="en-US" sz="2070" dirty="0"/>
          </a:p>
        </p:txBody>
      </p:sp>
      <p:sp>
        <p:nvSpPr>
          <p:cNvPr id="26" name="Text 23"/>
          <p:cNvSpPr txBox="1"/>
          <p:nvPr/>
        </p:nvSpPr>
        <p:spPr>
          <a:xfrm>
            <a:off x="9838030" y="6550762"/>
            <a:ext cx="6435547" cy="908914"/>
          </a:xfrm>
          <a:prstGeom prst="rect">
            <a:avLst/>
          </a:prstGeom>
          <a:noFill/>
          <a:ln/>
        </p:spPr>
        <p:txBody>
          <a:bodyPr wrap="square" lIns="0" tIns="0" rIns="0" bIns="0" rtlCol="0" anchor="t"/>
          <a:lstStyle/>
          <a:p>
            <a:pPr indent="0" marL="0">
              <a:lnSpc>
                <a:spcPct val="110000"/>
              </a:lnSpc>
              <a:buNone/>
            </a:pPr>
            <a:r>
              <a:rPr lang="en-US" sz="1790" dirty="0">
                <a:solidFill>
                  <a:srgbClr val="EFE6F2"/>
                </a:solidFill>
                <a:latin typeface="Calibri" pitchFamily="34" charset="0"/>
                <a:ea typeface="Calibri" pitchFamily="34" charset="-122"/>
                <a:cs typeface="Calibri" pitchFamily="34" charset="-120"/>
              </a:rPr>
              <a:t>Es un proyecto open source: NO está cubierto por el soporte de Microsoft Fabric. Los issues van a GitHub.</a:t>
            </a:r>
            <a:endParaRPr lang="en-US" sz="1790" dirty="0"/>
          </a:p>
        </p:txBody>
      </p:sp>
      <p:sp>
        <p:nvSpPr>
          <p:cNvPr id="27" name="Text 24"/>
          <p:cNvSpPr txBox="1"/>
          <p:nvPr/>
        </p:nvSpPr>
        <p:spPr>
          <a:xfrm>
            <a:off x="1572768" y="7938821"/>
            <a:ext cx="15142464" cy="567842"/>
          </a:xfrm>
          <a:prstGeom prst="rect">
            <a:avLst/>
          </a:prstGeom>
          <a:noFill/>
          <a:ln/>
        </p:spPr>
        <p:txBody>
          <a:bodyPr wrap="square" lIns="0" tIns="0" rIns="0" bIns="0" rtlCol="0" anchor="ctr"/>
          <a:lstStyle/>
          <a:p>
            <a:pPr indent="0" marL="0">
              <a:buNone/>
            </a:pPr>
            <a:r>
              <a:rPr lang="en-US" sz="1930" i="1" dirty="0">
                <a:solidFill>
                  <a:srgbClr val="692179"/>
                </a:solidFill>
                <a:latin typeface="Calibri" pitchFamily="34" charset="0"/>
                <a:ea typeface="Calibri" pitchFamily="34" charset="-122"/>
                <a:cs typeface="Calibri" pitchFamily="34" charset="-120"/>
              </a:rPr>
              <a:t>Comprueba la versión antes de dar la charla: el provider se mueve rápido.</a:t>
            </a:r>
            <a:endParaRPr lang="en-US" sz="193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pic>
        <p:nvPicPr>
          <p:cNvPr id="2" name="Image 0" descr="/home/claude/bg-white.jpg">    </p:cNvPr>
          <p:cNvPicPr>
            <a:picLocks noChangeAspect="1"/>
          </p:cNvPicPr>
          <p:nvPr/>
        </p:nvPicPr>
        <p:blipFill>
          <a:blip r:embed="rId1"/>
          <a:stretch>
            <a:fillRect/>
          </a:stretch>
        </p:blipFill>
        <p:spPr>
          <a:xfrm>
            <a:off x="0" y="0"/>
            <a:ext cx="18288000" cy="10287000"/>
          </a:xfrm>
          <a:prstGeom prst="rect">
            <a:avLst/>
          </a:prstGeom>
        </p:spPr>
      </p:pic>
      <p:sp>
        <p:nvSpPr>
          <p:cNvPr id="3" name="Text 0"/>
          <p:cNvSpPr txBox="1"/>
          <p:nvPr/>
        </p:nvSpPr>
        <p:spPr>
          <a:xfrm>
            <a:off x="1572768" y="1024128"/>
            <a:ext cx="15142464" cy="404165"/>
          </a:xfrm>
          <a:prstGeom prst="rect">
            <a:avLst/>
          </a:prstGeom>
          <a:noFill/>
          <a:ln/>
        </p:spPr>
        <p:txBody>
          <a:bodyPr wrap="square" lIns="0" tIns="0" rIns="0" bIns="0" rtlCol="0" anchor="ctr"/>
          <a:lstStyle/>
          <a:p>
            <a:pPr indent="0" marL="0">
              <a:buNone/>
            </a:pPr>
            <a:r>
              <a:rPr lang="en-US" sz="1660" b="1" spc="345" kern="0" dirty="0">
                <a:solidFill>
                  <a:srgbClr val="692179"/>
                </a:solidFill>
                <a:latin typeface="Calibri" pitchFamily="34" charset="0"/>
                <a:ea typeface="Calibri" pitchFamily="34" charset="-122"/>
                <a:cs typeface="Calibri" pitchFamily="34" charset="-120"/>
              </a:rPr>
              <a:t>BLOQUE 4 · FABRIC</a:t>
            </a:r>
            <a:endParaRPr lang="en-US" sz="1660" dirty="0"/>
          </a:p>
        </p:txBody>
      </p:sp>
      <p:sp>
        <p:nvSpPr>
          <p:cNvPr id="4" name="Text 1"/>
          <p:cNvSpPr txBox="1"/>
          <p:nvPr/>
        </p:nvSpPr>
        <p:spPr>
          <a:xfrm>
            <a:off x="1572768" y="1440180"/>
            <a:ext cx="15142464" cy="1072591"/>
          </a:xfrm>
          <a:prstGeom prst="rect">
            <a:avLst/>
          </a:prstGeom>
          <a:noFill/>
          <a:ln/>
        </p:spPr>
        <p:txBody>
          <a:bodyPr wrap="square" lIns="0" tIns="0" rIns="0" bIns="0" rtlCol="0" anchor="ctr"/>
          <a:lstStyle/>
          <a:p>
            <a:pPr algn="l" indent="0" marL="0">
              <a:buNone/>
            </a:pPr>
            <a:r>
              <a:rPr lang="en-US" sz="4690" b="1" dirty="0">
                <a:solidFill>
                  <a:srgbClr val="241028"/>
                </a:solidFill>
                <a:latin typeface="Arial" pitchFamily="34" charset="0"/>
                <a:ea typeface="Arial" pitchFamily="34" charset="-122"/>
                <a:cs typeface="Arial" pitchFamily="34" charset="-120"/>
              </a:rPr>
              <a:t>Qué puedes crear hoy con el provider</a:t>
            </a:r>
            <a:endParaRPr lang="en-US" sz="4690" dirty="0"/>
          </a:p>
        </p:txBody>
      </p:sp>
      <p:sp>
        <p:nvSpPr>
          <p:cNvPr id="5" name="Shape 2"/>
          <p:cNvSpPr/>
          <p:nvPr/>
        </p:nvSpPr>
        <p:spPr>
          <a:xfrm>
            <a:off x="1572768" y="3143707"/>
            <a:ext cx="4845406" cy="4479646"/>
          </a:xfrm>
          <a:prstGeom prst="roundRect">
            <a:avLst>
              <a:gd name="adj" fmla="val 2817"/>
            </a:avLst>
          </a:prstGeom>
          <a:solidFill>
            <a:srgbClr val="FFFFFF"/>
          </a:solidFill>
          <a:ln w="12700">
            <a:solidFill>
              <a:srgbClr val="FFFFFF"/>
            </a:solidFill>
            <a:prstDash val="solid"/>
          </a:ln>
        </p:spPr>
      </p:sp>
      <p:sp>
        <p:nvSpPr>
          <p:cNvPr id="6" name="Shape 3"/>
          <p:cNvSpPr/>
          <p:nvPr/>
        </p:nvSpPr>
        <p:spPr>
          <a:xfrm>
            <a:off x="1572768" y="3143707"/>
            <a:ext cx="4845406" cy="782726"/>
          </a:xfrm>
          <a:prstGeom prst="roundRect">
            <a:avLst>
              <a:gd name="adj" fmla="val 16122"/>
            </a:avLst>
          </a:prstGeom>
          <a:solidFill>
            <a:srgbClr val="692179"/>
          </a:solidFill>
          <a:ln w="12700">
            <a:solidFill>
              <a:srgbClr val="692179"/>
            </a:solidFill>
            <a:prstDash val="solid"/>
          </a:ln>
        </p:spPr>
      </p:sp>
      <p:sp>
        <p:nvSpPr>
          <p:cNvPr id="7" name="Text 4"/>
          <p:cNvSpPr txBox="1"/>
          <p:nvPr/>
        </p:nvSpPr>
        <p:spPr>
          <a:xfrm>
            <a:off x="1951330" y="3143707"/>
            <a:ext cx="4088282" cy="782726"/>
          </a:xfrm>
          <a:prstGeom prst="rect">
            <a:avLst/>
          </a:prstGeom>
          <a:noFill/>
          <a:ln/>
        </p:spPr>
        <p:txBody>
          <a:bodyPr wrap="square" lIns="0" tIns="0" rIns="0" bIns="0" rtlCol="0" anchor="ctr"/>
          <a:lstStyle/>
          <a:p>
            <a:pPr indent="0" marL="0">
              <a:buNone/>
            </a:pPr>
            <a:r>
              <a:rPr lang="en-US" sz="2210" b="1" dirty="0">
                <a:solidFill>
                  <a:srgbClr val="FFFFFF"/>
                </a:solidFill>
                <a:latin typeface="Arial" pitchFamily="34" charset="0"/>
                <a:ea typeface="Arial" pitchFamily="34" charset="-122"/>
                <a:cs typeface="Arial" pitchFamily="34" charset="-120"/>
              </a:rPr>
              <a:t>Estructura</a:t>
            </a:r>
            <a:endParaRPr lang="en-US" sz="2210" dirty="0"/>
          </a:p>
        </p:txBody>
      </p:sp>
      <p:sp>
        <p:nvSpPr>
          <p:cNvPr id="8" name="Text 5"/>
          <p:cNvSpPr txBox="1"/>
          <p:nvPr/>
        </p:nvSpPr>
        <p:spPr>
          <a:xfrm>
            <a:off x="1951330" y="4153205"/>
            <a:ext cx="4088282" cy="3217774"/>
          </a:xfrm>
          <a:prstGeom prst="rect">
            <a:avLst/>
          </a:prstGeom>
          <a:noFill/>
          <a:ln/>
        </p:spPr>
        <p:txBody>
          <a:bodyPr wrap="square" lIns="0" tIns="0" rIns="0" bIns="0" rtlCol="0" anchor="t"/>
          <a:lstStyle/>
          <a:p>
            <a:pPr marL="342900" indent="-342900">
              <a:spcAft>
                <a:spcPts val="1200"/>
              </a:spcAft>
              <a:buSzPct val="100000"/>
              <a:buChar char="•"/>
            </a:pPr>
            <a:r>
              <a:rPr lang="en-US" sz="1930" dirty="0">
                <a:solidFill>
                  <a:srgbClr val="241028"/>
                </a:solidFill>
                <a:latin typeface="Calibri" pitchFamily="34" charset="0"/>
                <a:ea typeface="Calibri" pitchFamily="34" charset="-122"/>
                <a:cs typeface="Calibri" pitchFamily="34" charset="-120"/>
              </a:rPr>
              <a:t>Workspace</a:t>
            </a:r>
            <a:endParaRPr lang="en-US" sz="1930" dirty="0"/>
          </a:p>
          <a:p>
            <a:pPr marL="342900" indent="-342900">
              <a:spcAft>
                <a:spcPts val="1200"/>
              </a:spcAft>
              <a:buSzPct val="100000"/>
              <a:buChar char="•"/>
            </a:pPr>
            <a:r>
              <a:rPr lang="en-US" sz="1930" dirty="0">
                <a:solidFill>
                  <a:srgbClr val="241028"/>
                </a:solidFill>
                <a:latin typeface="Calibri" pitchFamily="34" charset="0"/>
                <a:ea typeface="Calibri" pitchFamily="34" charset="-122"/>
                <a:cs typeface="Calibri" pitchFamily="34" charset="-120"/>
              </a:rPr>
              <a:t>Asignación de roles</a:t>
            </a:r>
            <a:endParaRPr lang="en-US" sz="1930" dirty="0"/>
          </a:p>
          <a:p>
            <a:pPr marL="342900" indent="-342900">
              <a:spcAft>
                <a:spcPts val="1200"/>
              </a:spcAft>
              <a:buSzPct val="100000"/>
              <a:buChar char="•"/>
            </a:pPr>
            <a:r>
              <a:rPr lang="en-US" sz="1930" dirty="0">
                <a:solidFill>
                  <a:srgbClr val="241028"/>
                </a:solidFill>
                <a:latin typeface="Calibri" pitchFamily="34" charset="0"/>
                <a:ea typeface="Calibri" pitchFamily="34" charset="-122"/>
                <a:cs typeface="Calibri" pitchFamily="34" charset="-120"/>
              </a:rPr>
              <a:t>Carpetas</a:t>
            </a:r>
            <a:endParaRPr lang="en-US" sz="1930" dirty="0"/>
          </a:p>
          <a:p>
            <a:pPr marL="342900" indent="-342900">
              <a:spcAft>
                <a:spcPts val="1200"/>
              </a:spcAft>
              <a:buSzPct val="100000"/>
              <a:buChar char="•"/>
            </a:pPr>
            <a:r>
              <a:rPr lang="en-US" sz="1930" dirty="0">
                <a:solidFill>
                  <a:srgbClr val="241028"/>
                </a:solidFill>
                <a:latin typeface="Calibri" pitchFamily="34" charset="0"/>
                <a:ea typeface="Calibri" pitchFamily="34" charset="-122"/>
                <a:cs typeface="Calibri" pitchFamily="34" charset="-120"/>
              </a:rPr>
              <a:t>Dominios</a:t>
            </a:r>
            <a:endParaRPr lang="en-US" sz="1930" dirty="0"/>
          </a:p>
          <a:p>
            <a:pPr marL="342900" indent="-342900">
              <a:spcAft>
                <a:spcPts val="1200"/>
              </a:spcAft>
              <a:buSzPct val="100000"/>
              <a:buChar char="•"/>
            </a:pPr>
            <a:r>
              <a:rPr lang="en-US" sz="1930" dirty="0">
                <a:solidFill>
                  <a:srgbClr val="241028"/>
                </a:solidFill>
                <a:latin typeface="Calibri" pitchFamily="34" charset="0"/>
                <a:ea typeface="Calibri" pitchFamily="34" charset="-122"/>
                <a:cs typeface="Calibri" pitchFamily="34" charset="-120"/>
              </a:rPr>
              <a:t>Capacity (vía azurerm)</a:t>
            </a:r>
            <a:endParaRPr lang="en-US" sz="1930" dirty="0"/>
          </a:p>
        </p:txBody>
      </p:sp>
      <p:sp>
        <p:nvSpPr>
          <p:cNvPr id="9" name="Shape 6"/>
          <p:cNvSpPr/>
          <p:nvPr/>
        </p:nvSpPr>
        <p:spPr>
          <a:xfrm>
            <a:off x="6720840" y="3143707"/>
            <a:ext cx="4845406" cy="4479646"/>
          </a:xfrm>
          <a:prstGeom prst="roundRect">
            <a:avLst>
              <a:gd name="adj" fmla="val 2817"/>
            </a:avLst>
          </a:prstGeom>
          <a:solidFill>
            <a:srgbClr val="FFFFFF"/>
          </a:solidFill>
          <a:ln w="12700">
            <a:solidFill>
              <a:srgbClr val="FFFFFF"/>
            </a:solidFill>
            <a:prstDash val="solid"/>
          </a:ln>
        </p:spPr>
      </p:sp>
      <p:sp>
        <p:nvSpPr>
          <p:cNvPr id="10" name="Shape 7"/>
          <p:cNvSpPr/>
          <p:nvPr/>
        </p:nvSpPr>
        <p:spPr>
          <a:xfrm>
            <a:off x="6720840" y="3143707"/>
            <a:ext cx="4845406" cy="782726"/>
          </a:xfrm>
          <a:prstGeom prst="roundRect">
            <a:avLst>
              <a:gd name="adj" fmla="val 16122"/>
            </a:avLst>
          </a:prstGeom>
          <a:solidFill>
            <a:srgbClr val="2BB5A0"/>
          </a:solidFill>
          <a:ln w="12700">
            <a:solidFill>
              <a:srgbClr val="2BB5A0"/>
            </a:solidFill>
            <a:prstDash val="solid"/>
          </a:ln>
        </p:spPr>
      </p:sp>
      <p:sp>
        <p:nvSpPr>
          <p:cNvPr id="11" name="Text 8"/>
          <p:cNvSpPr txBox="1"/>
          <p:nvPr/>
        </p:nvSpPr>
        <p:spPr>
          <a:xfrm>
            <a:off x="7099402" y="3143707"/>
            <a:ext cx="4088282" cy="782726"/>
          </a:xfrm>
          <a:prstGeom prst="rect">
            <a:avLst/>
          </a:prstGeom>
          <a:noFill/>
          <a:ln/>
        </p:spPr>
        <p:txBody>
          <a:bodyPr wrap="square" lIns="0" tIns="0" rIns="0" bIns="0" rtlCol="0" anchor="ctr"/>
          <a:lstStyle/>
          <a:p>
            <a:pPr indent="0" marL="0">
              <a:buNone/>
            </a:pPr>
            <a:r>
              <a:rPr lang="en-US" sz="2210" b="1" dirty="0">
                <a:solidFill>
                  <a:srgbClr val="FFFFFF"/>
                </a:solidFill>
                <a:latin typeface="Arial" pitchFamily="34" charset="0"/>
                <a:ea typeface="Arial" pitchFamily="34" charset="-122"/>
                <a:cs typeface="Arial" pitchFamily="34" charset="-120"/>
              </a:rPr>
              <a:t>Elementos de datos</a:t>
            </a:r>
            <a:endParaRPr lang="en-US" sz="2210" dirty="0"/>
          </a:p>
        </p:txBody>
      </p:sp>
      <p:sp>
        <p:nvSpPr>
          <p:cNvPr id="12" name="Text 9"/>
          <p:cNvSpPr txBox="1"/>
          <p:nvPr/>
        </p:nvSpPr>
        <p:spPr>
          <a:xfrm>
            <a:off x="7099402" y="4153205"/>
            <a:ext cx="4088282" cy="3217774"/>
          </a:xfrm>
          <a:prstGeom prst="rect">
            <a:avLst/>
          </a:prstGeom>
          <a:noFill/>
          <a:ln/>
        </p:spPr>
        <p:txBody>
          <a:bodyPr wrap="square" lIns="0" tIns="0" rIns="0" bIns="0" rtlCol="0" anchor="t"/>
          <a:lstStyle/>
          <a:p>
            <a:pPr marL="342900" indent="-342900">
              <a:spcAft>
                <a:spcPts val="1200"/>
              </a:spcAft>
              <a:buSzPct val="100000"/>
              <a:buChar char="•"/>
            </a:pPr>
            <a:r>
              <a:rPr lang="en-US" sz="1930" dirty="0">
                <a:solidFill>
                  <a:srgbClr val="241028"/>
                </a:solidFill>
                <a:latin typeface="Calibri" pitchFamily="34" charset="0"/>
                <a:ea typeface="Calibri" pitchFamily="34" charset="-122"/>
                <a:cs typeface="Calibri" pitchFamily="34" charset="-120"/>
              </a:rPr>
              <a:t>Lakehouse</a:t>
            </a:r>
            <a:endParaRPr lang="en-US" sz="1930" dirty="0"/>
          </a:p>
          <a:p>
            <a:pPr marL="342900" indent="-342900">
              <a:spcAft>
                <a:spcPts val="1200"/>
              </a:spcAft>
              <a:buSzPct val="100000"/>
              <a:buChar char="•"/>
            </a:pPr>
            <a:r>
              <a:rPr lang="en-US" sz="1930" dirty="0">
                <a:solidFill>
                  <a:srgbClr val="241028"/>
                </a:solidFill>
                <a:latin typeface="Calibri" pitchFamily="34" charset="0"/>
                <a:ea typeface="Calibri" pitchFamily="34" charset="-122"/>
                <a:cs typeface="Calibri" pitchFamily="34" charset="-120"/>
              </a:rPr>
              <a:t>Warehouse</a:t>
            </a:r>
            <a:endParaRPr lang="en-US" sz="1930" dirty="0"/>
          </a:p>
          <a:p>
            <a:pPr marL="342900" indent="-342900">
              <a:spcAft>
                <a:spcPts val="1200"/>
              </a:spcAft>
              <a:buSzPct val="100000"/>
              <a:buChar char="•"/>
            </a:pPr>
            <a:r>
              <a:rPr lang="en-US" sz="1930" dirty="0">
                <a:solidFill>
                  <a:srgbClr val="241028"/>
                </a:solidFill>
                <a:latin typeface="Calibri" pitchFamily="34" charset="0"/>
                <a:ea typeface="Calibri" pitchFamily="34" charset="-122"/>
                <a:cs typeface="Calibri" pitchFamily="34" charset="-120"/>
              </a:rPr>
              <a:t>Notebook</a:t>
            </a:r>
            <a:endParaRPr lang="en-US" sz="1930" dirty="0"/>
          </a:p>
          <a:p>
            <a:pPr marL="342900" indent="-342900">
              <a:spcAft>
                <a:spcPts val="1200"/>
              </a:spcAft>
              <a:buSzPct val="100000"/>
              <a:buChar char="•"/>
            </a:pPr>
            <a:r>
              <a:rPr lang="en-US" sz="1930" dirty="0">
                <a:solidFill>
                  <a:srgbClr val="241028"/>
                </a:solidFill>
                <a:latin typeface="Calibri" pitchFamily="34" charset="0"/>
                <a:ea typeface="Calibri" pitchFamily="34" charset="-122"/>
                <a:cs typeface="Calibri" pitchFamily="34" charset="-120"/>
              </a:rPr>
              <a:t>Data pipeline</a:t>
            </a:r>
            <a:endParaRPr lang="en-US" sz="1930" dirty="0"/>
          </a:p>
          <a:p>
            <a:pPr marL="342900" indent="-342900">
              <a:spcAft>
                <a:spcPts val="1200"/>
              </a:spcAft>
              <a:buSzPct val="100000"/>
              <a:buChar char="•"/>
            </a:pPr>
            <a:r>
              <a:rPr lang="en-US" sz="1930" dirty="0">
                <a:solidFill>
                  <a:srgbClr val="241028"/>
                </a:solidFill>
                <a:latin typeface="Calibri" pitchFamily="34" charset="0"/>
                <a:ea typeface="Calibri" pitchFamily="34" charset="-122"/>
                <a:cs typeface="Calibri" pitchFamily="34" charset="-120"/>
              </a:rPr>
              <a:t>Semantic model / Report</a:t>
            </a:r>
            <a:endParaRPr lang="en-US" sz="1930" dirty="0"/>
          </a:p>
        </p:txBody>
      </p:sp>
      <p:sp>
        <p:nvSpPr>
          <p:cNvPr id="13" name="Shape 10"/>
          <p:cNvSpPr/>
          <p:nvPr/>
        </p:nvSpPr>
        <p:spPr>
          <a:xfrm>
            <a:off x="11869826" y="3143707"/>
            <a:ext cx="4845406" cy="4479646"/>
          </a:xfrm>
          <a:prstGeom prst="roundRect">
            <a:avLst>
              <a:gd name="adj" fmla="val 2817"/>
            </a:avLst>
          </a:prstGeom>
          <a:solidFill>
            <a:srgbClr val="FFFFFF"/>
          </a:solidFill>
          <a:ln w="12700">
            <a:solidFill>
              <a:srgbClr val="FFFFFF"/>
            </a:solidFill>
            <a:prstDash val="solid"/>
          </a:ln>
        </p:spPr>
      </p:sp>
      <p:sp>
        <p:nvSpPr>
          <p:cNvPr id="14" name="Shape 11"/>
          <p:cNvSpPr/>
          <p:nvPr/>
        </p:nvSpPr>
        <p:spPr>
          <a:xfrm>
            <a:off x="11869826" y="3143707"/>
            <a:ext cx="4845406" cy="782726"/>
          </a:xfrm>
          <a:prstGeom prst="roundRect">
            <a:avLst>
              <a:gd name="adj" fmla="val 16122"/>
            </a:avLst>
          </a:prstGeom>
          <a:solidFill>
            <a:srgbClr val="F59120"/>
          </a:solidFill>
          <a:ln w="12700">
            <a:solidFill>
              <a:srgbClr val="F59120"/>
            </a:solidFill>
            <a:prstDash val="solid"/>
          </a:ln>
        </p:spPr>
      </p:sp>
      <p:sp>
        <p:nvSpPr>
          <p:cNvPr id="15" name="Text 12"/>
          <p:cNvSpPr txBox="1"/>
          <p:nvPr/>
        </p:nvSpPr>
        <p:spPr>
          <a:xfrm>
            <a:off x="12248388" y="3143707"/>
            <a:ext cx="4088282" cy="782726"/>
          </a:xfrm>
          <a:prstGeom prst="rect">
            <a:avLst/>
          </a:prstGeom>
          <a:noFill/>
          <a:ln/>
        </p:spPr>
        <p:txBody>
          <a:bodyPr wrap="square" lIns="0" tIns="0" rIns="0" bIns="0" rtlCol="0" anchor="ctr"/>
          <a:lstStyle/>
          <a:p>
            <a:pPr indent="0" marL="0">
              <a:buNone/>
            </a:pPr>
            <a:r>
              <a:rPr lang="en-US" sz="2210" b="1" dirty="0">
                <a:solidFill>
                  <a:srgbClr val="2A0E33"/>
                </a:solidFill>
                <a:latin typeface="Arial" pitchFamily="34" charset="0"/>
                <a:ea typeface="Arial" pitchFamily="34" charset="-122"/>
                <a:cs typeface="Arial" pitchFamily="34" charset="-120"/>
              </a:rPr>
              <a:t>Plataforma</a:t>
            </a:r>
            <a:endParaRPr lang="en-US" sz="2210" dirty="0"/>
          </a:p>
        </p:txBody>
      </p:sp>
      <p:sp>
        <p:nvSpPr>
          <p:cNvPr id="16" name="Text 13"/>
          <p:cNvSpPr txBox="1"/>
          <p:nvPr/>
        </p:nvSpPr>
        <p:spPr>
          <a:xfrm>
            <a:off x="12248388" y="4153205"/>
            <a:ext cx="4088282" cy="3217774"/>
          </a:xfrm>
          <a:prstGeom prst="rect">
            <a:avLst/>
          </a:prstGeom>
          <a:noFill/>
          <a:ln/>
        </p:spPr>
        <p:txBody>
          <a:bodyPr wrap="square" lIns="0" tIns="0" rIns="0" bIns="0" rtlCol="0" anchor="t"/>
          <a:lstStyle/>
          <a:p>
            <a:pPr marL="342900" indent="-342900">
              <a:spcAft>
                <a:spcPts val="1200"/>
              </a:spcAft>
              <a:buSzPct val="100000"/>
              <a:buChar char="•"/>
            </a:pPr>
            <a:r>
              <a:rPr lang="en-US" sz="1930" dirty="0">
                <a:solidFill>
                  <a:srgbClr val="241028"/>
                </a:solidFill>
                <a:latin typeface="Calibri" pitchFamily="34" charset="0"/>
                <a:ea typeface="Calibri" pitchFamily="34" charset="-122"/>
                <a:cs typeface="Calibri" pitchFamily="34" charset="-120"/>
              </a:rPr>
              <a:t>Integración con Git</a:t>
            </a:r>
            <a:endParaRPr lang="en-US" sz="1930" dirty="0"/>
          </a:p>
          <a:p>
            <a:pPr marL="342900" indent="-342900">
              <a:spcAft>
                <a:spcPts val="1200"/>
              </a:spcAft>
              <a:buSzPct val="100000"/>
              <a:buChar char="•"/>
            </a:pPr>
            <a:r>
              <a:rPr lang="en-US" sz="1930" dirty="0">
                <a:solidFill>
                  <a:srgbClr val="241028"/>
                </a:solidFill>
                <a:latin typeface="Calibri" pitchFamily="34" charset="0"/>
                <a:ea typeface="Calibri" pitchFamily="34" charset="-122"/>
                <a:cs typeface="Calibri" pitchFamily="34" charset="-120"/>
              </a:rPr>
              <a:t>Deployment pipelines</a:t>
            </a:r>
            <a:endParaRPr lang="en-US" sz="1930" dirty="0"/>
          </a:p>
          <a:p>
            <a:pPr marL="342900" indent="-342900">
              <a:spcAft>
                <a:spcPts val="1200"/>
              </a:spcAft>
              <a:buSzPct val="100000"/>
              <a:buChar char="•"/>
            </a:pPr>
            <a:r>
              <a:rPr lang="en-US" sz="1930" dirty="0">
                <a:solidFill>
                  <a:srgbClr val="241028"/>
                </a:solidFill>
                <a:latin typeface="Calibri" pitchFamily="34" charset="0"/>
                <a:ea typeface="Calibri" pitchFamily="34" charset="-122"/>
                <a:cs typeface="Calibri" pitchFamily="34" charset="-120"/>
              </a:rPr>
              <a:t>Environments y Spark</a:t>
            </a:r>
            <a:endParaRPr lang="en-US" sz="1930" dirty="0"/>
          </a:p>
          <a:p>
            <a:pPr marL="342900" indent="-342900">
              <a:spcAft>
                <a:spcPts val="1200"/>
              </a:spcAft>
              <a:buSzPct val="100000"/>
              <a:buChar char="•"/>
            </a:pPr>
            <a:r>
              <a:rPr lang="en-US" sz="1930" dirty="0">
                <a:solidFill>
                  <a:srgbClr val="241028"/>
                </a:solidFill>
                <a:latin typeface="Calibri" pitchFamily="34" charset="0"/>
                <a:ea typeface="Calibri" pitchFamily="34" charset="-122"/>
                <a:cs typeface="Calibri" pitchFamily="34" charset="-120"/>
              </a:rPr>
              <a:t>Conexiones y gateways</a:t>
            </a:r>
            <a:endParaRPr lang="en-US" sz="1930" dirty="0"/>
          </a:p>
          <a:p>
            <a:pPr marL="342900" indent="-342900">
              <a:spcAft>
                <a:spcPts val="1200"/>
              </a:spcAft>
              <a:buSzPct val="100000"/>
              <a:buChar char="•"/>
            </a:pPr>
            <a:r>
              <a:rPr lang="en-US" sz="1930" dirty="0">
                <a:solidFill>
                  <a:srgbClr val="241028"/>
                </a:solidFill>
                <a:latin typeface="Calibri" pitchFamily="34" charset="0"/>
                <a:ea typeface="Calibri" pitchFamily="34" charset="-122"/>
                <a:cs typeface="Calibri" pitchFamily="34" charset="-120"/>
              </a:rPr>
              <a:t>Ajustes de workspace</a:t>
            </a:r>
            <a:endParaRPr lang="en-US" sz="1930" dirty="0"/>
          </a:p>
        </p:txBody>
      </p:sp>
      <p:sp>
        <p:nvSpPr>
          <p:cNvPr id="17" name="Text 14"/>
          <p:cNvSpPr txBox="1"/>
          <p:nvPr/>
        </p:nvSpPr>
        <p:spPr>
          <a:xfrm>
            <a:off x="1572768" y="8001914"/>
            <a:ext cx="15142464" cy="630936"/>
          </a:xfrm>
          <a:prstGeom prst="rect">
            <a:avLst/>
          </a:prstGeom>
          <a:noFill/>
          <a:ln/>
        </p:spPr>
        <p:txBody>
          <a:bodyPr wrap="square" lIns="0" tIns="0" rIns="0" bIns="0" rtlCol="0" anchor="ctr"/>
          <a:lstStyle/>
          <a:p>
            <a:pPr indent="0" marL="0">
              <a:buNone/>
            </a:pPr>
            <a:r>
              <a:rPr lang="en-US" sz="2070" i="1" dirty="0">
                <a:solidFill>
                  <a:srgbClr val="692179"/>
                </a:solidFill>
                <a:latin typeface="Calibri" pitchFamily="34" charset="0"/>
                <a:ea typeface="Calibri" pitchFamily="34" charset="-122"/>
                <a:cs typeface="Calibri" pitchFamily="34" charset="-120"/>
              </a:rPr>
              <a:t>La lista completa y actualizada está en el Terraform Registry. Crece cada dos semanas.</a:t>
            </a:r>
            <a:endParaRPr lang="en-US" sz="207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pic>
        <p:nvPicPr>
          <p:cNvPr id="2" name="Image 0" descr="/home/claude/bg-dark.jpg">    </p:cNvPr>
          <p:cNvPicPr>
            <a:picLocks noChangeAspect="1"/>
          </p:cNvPicPr>
          <p:nvPr/>
        </p:nvPicPr>
        <p:blipFill>
          <a:blip r:embed="rId1"/>
          <a:stretch>
            <a:fillRect/>
          </a:stretch>
        </p:blipFill>
        <p:spPr>
          <a:xfrm>
            <a:off x="0" y="0"/>
            <a:ext cx="18288000" cy="10287000"/>
          </a:xfrm>
          <a:prstGeom prst="rect">
            <a:avLst/>
          </a:prstGeom>
        </p:spPr>
      </p:pic>
      <p:sp>
        <p:nvSpPr>
          <p:cNvPr id="3" name="Text 0"/>
          <p:cNvSpPr txBox="1"/>
          <p:nvPr/>
        </p:nvSpPr>
        <p:spPr>
          <a:xfrm>
            <a:off x="1572768" y="1024128"/>
            <a:ext cx="15142464" cy="404165"/>
          </a:xfrm>
          <a:prstGeom prst="rect">
            <a:avLst/>
          </a:prstGeom>
          <a:noFill/>
          <a:ln/>
        </p:spPr>
        <p:txBody>
          <a:bodyPr wrap="square" lIns="0" tIns="0" rIns="0" bIns="0" rtlCol="0" anchor="ctr"/>
          <a:lstStyle/>
          <a:p>
            <a:pPr indent="0" marL="0">
              <a:buNone/>
            </a:pPr>
            <a:r>
              <a:rPr lang="en-US" sz="1660" b="1" spc="345" kern="0" dirty="0">
                <a:solidFill>
                  <a:srgbClr val="E8553F"/>
                </a:solidFill>
                <a:latin typeface="Calibri" pitchFamily="34" charset="0"/>
                <a:ea typeface="Calibri" pitchFamily="34" charset="-122"/>
                <a:cs typeface="Calibri" pitchFamily="34" charset="-120"/>
              </a:rPr>
              <a:t>BLOQUE 4 · FABRIC</a:t>
            </a:r>
            <a:endParaRPr lang="en-US" sz="1660" dirty="0"/>
          </a:p>
        </p:txBody>
      </p:sp>
      <p:sp>
        <p:nvSpPr>
          <p:cNvPr id="4" name="Text 1"/>
          <p:cNvSpPr txBox="1"/>
          <p:nvPr/>
        </p:nvSpPr>
        <p:spPr>
          <a:xfrm>
            <a:off x="1572768" y="1440180"/>
            <a:ext cx="15142464" cy="1072591"/>
          </a:xfrm>
          <a:prstGeom prst="rect">
            <a:avLst/>
          </a:prstGeom>
          <a:noFill/>
          <a:ln/>
        </p:spPr>
        <p:txBody>
          <a:bodyPr wrap="square" lIns="0" tIns="0" rIns="0" bIns="0" rtlCol="0" anchor="ctr"/>
          <a:lstStyle/>
          <a:p>
            <a:pPr algn="l" indent="0" marL="0">
              <a:buNone/>
            </a:pPr>
            <a:r>
              <a:rPr lang="en-US" sz="4140" b="1" dirty="0">
                <a:solidFill>
                  <a:srgbClr val="FFFFFF"/>
                </a:solidFill>
                <a:latin typeface="Arial" pitchFamily="34" charset="0"/>
                <a:ea typeface="Arial" pitchFamily="34" charset="-122"/>
                <a:cs typeface="Arial" pitchFamily="34" charset="-120"/>
              </a:rPr>
              <a:t>Autenticación: el paso donde se atasca todo el mundo</a:t>
            </a:r>
            <a:endParaRPr lang="en-US" sz="4140" dirty="0"/>
          </a:p>
        </p:txBody>
      </p:sp>
      <p:sp>
        <p:nvSpPr>
          <p:cNvPr id="5" name="Shape 2"/>
          <p:cNvSpPr/>
          <p:nvPr/>
        </p:nvSpPr>
        <p:spPr>
          <a:xfrm>
            <a:off x="1572768" y="3206801"/>
            <a:ext cx="9337853" cy="1198778"/>
          </a:xfrm>
          <a:prstGeom prst="roundRect">
            <a:avLst>
              <a:gd name="adj" fmla="val 10526"/>
            </a:avLst>
          </a:prstGeom>
          <a:solidFill>
            <a:srgbClr val="1E0A2B"/>
          </a:solidFill>
          <a:ln w="12700">
            <a:solidFill>
              <a:srgbClr val="1E0A2B"/>
            </a:solidFill>
            <a:prstDash val="solid"/>
          </a:ln>
        </p:spPr>
      </p:sp>
      <p:sp>
        <p:nvSpPr>
          <p:cNvPr id="6" name="Shape 3"/>
          <p:cNvSpPr/>
          <p:nvPr/>
        </p:nvSpPr>
        <p:spPr>
          <a:xfrm>
            <a:off x="1888236" y="3484778"/>
            <a:ext cx="630936" cy="630936"/>
          </a:xfrm>
          <a:prstGeom prst="ellipse">
            <a:avLst/>
          </a:prstGeom>
          <a:solidFill>
            <a:srgbClr val="F59120"/>
          </a:solidFill>
          <a:ln w="12700">
            <a:solidFill>
              <a:srgbClr val="F59120"/>
            </a:solidFill>
            <a:prstDash val="solid"/>
          </a:ln>
        </p:spPr>
      </p:sp>
      <p:sp>
        <p:nvSpPr>
          <p:cNvPr id="7" name="Text 4"/>
          <p:cNvSpPr txBox="1"/>
          <p:nvPr/>
        </p:nvSpPr>
        <p:spPr>
          <a:xfrm>
            <a:off x="1888236" y="3484778"/>
            <a:ext cx="630936" cy="630936"/>
          </a:xfrm>
          <a:prstGeom prst="rect">
            <a:avLst/>
          </a:prstGeom>
          <a:noFill/>
          <a:ln/>
        </p:spPr>
        <p:txBody>
          <a:bodyPr wrap="square" lIns="0" tIns="0" rIns="0" bIns="0" rtlCol="0" anchor="ctr"/>
          <a:lstStyle/>
          <a:p>
            <a:pPr algn="ctr" indent="0" marL="0">
              <a:buNone/>
            </a:pPr>
            <a:r>
              <a:rPr lang="en-US" sz="2210" b="1" dirty="0">
                <a:solidFill>
                  <a:srgbClr val="2A0E33"/>
                </a:solidFill>
                <a:latin typeface="Arial" pitchFamily="34" charset="0"/>
                <a:ea typeface="Arial" pitchFamily="34" charset="-122"/>
                <a:cs typeface="Arial" pitchFamily="34" charset="-120"/>
              </a:rPr>
              <a:t>1</a:t>
            </a:r>
            <a:endParaRPr lang="en-US" sz="2210" dirty="0"/>
          </a:p>
        </p:txBody>
      </p:sp>
      <p:sp>
        <p:nvSpPr>
          <p:cNvPr id="8" name="Text 5"/>
          <p:cNvSpPr txBox="1"/>
          <p:nvPr/>
        </p:nvSpPr>
        <p:spPr>
          <a:xfrm>
            <a:off x="2771546" y="3332988"/>
            <a:ext cx="7886700" cy="479146"/>
          </a:xfrm>
          <a:prstGeom prst="rect">
            <a:avLst/>
          </a:prstGeom>
          <a:noFill/>
          <a:ln/>
        </p:spPr>
        <p:txBody>
          <a:bodyPr wrap="square" lIns="0" tIns="0" rIns="0" bIns="0" rtlCol="0" anchor="ctr"/>
          <a:lstStyle/>
          <a:p>
            <a:pPr indent="0" marL="0">
              <a:buNone/>
            </a:pPr>
            <a:r>
              <a:rPr lang="en-US" sz="2070" b="1" dirty="0">
                <a:solidFill>
                  <a:srgbClr val="FFFFFF"/>
                </a:solidFill>
                <a:latin typeface="Arial" pitchFamily="34" charset="0"/>
                <a:ea typeface="Arial" pitchFamily="34" charset="-122"/>
                <a:cs typeface="Arial" pitchFamily="34" charset="-120"/>
              </a:rPr>
              <a:t>Crea un service principal en Entra ID</a:t>
            </a:r>
            <a:endParaRPr lang="en-US" sz="2070" dirty="0"/>
          </a:p>
        </p:txBody>
      </p:sp>
      <p:sp>
        <p:nvSpPr>
          <p:cNvPr id="9" name="Text 6"/>
          <p:cNvSpPr txBox="1"/>
          <p:nvPr/>
        </p:nvSpPr>
        <p:spPr>
          <a:xfrm>
            <a:off x="2771546" y="3787445"/>
            <a:ext cx="7886700" cy="530352"/>
          </a:xfrm>
          <a:prstGeom prst="rect">
            <a:avLst/>
          </a:prstGeom>
          <a:noFill/>
          <a:ln/>
        </p:spPr>
        <p:txBody>
          <a:bodyPr wrap="square" lIns="0" tIns="0" rIns="0" bIns="0" rtlCol="0" anchor="ctr"/>
          <a:lstStyle/>
          <a:p>
            <a:pPr indent="0" marL="0">
              <a:buNone/>
            </a:pPr>
            <a:r>
              <a:rPr lang="en-US" sz="1730" dirty="0">
                <a:solidFill>
                  <a:srgbClr val="C77BD6"/>
                </a:solidFill>
                <a:latin typeface="Calibri" pitchFamily="34" charset="0"/>
                <a:ea typeface="Calibri" pitchFamily="34" charset="-122"/>
                <a:cs typeface="Calibri" pitchFamily="34" charset="-120"/>
              </a:rPr>
              <a:t>Es la identidad con la que Terraform se va a presentar</a:t>
            </a:r>
            <a:endParaRPr lang="en-US" sz="1730" dirty="0"/>
          </a:p>
        </p:txBody>
      </p:sp>
      <p:sp>
        <p:nvSpPr>
          <p:cNvPr id="10" name="Shape 7"/>
          <p:cNvSpPr/>
          <p:nvPr/>
        </p:nvSpPr>
        <p:spPr>
          <a:xfrm>
            <a:off x="1572768" y="4594860"/>
            <a:ext cx="9337853" cy="1198778"/>
          </a:xfrm>
          <a:prstGeom prst="roundRect">
            <a:avLst>
              <a:gd name="adj" fmla="val 10526"/>
            </a:avLst>
          </a:prstGeom>
          <a:solidFill>
            <a:srgbClr val="1E0A2B"/>
          </a:solidFill>
          <a:ln w="12700">
            <a:solidFill>
              <a:srgbClr val="1E0A2B"/>
            </a:solidFill>
            <a:prstDash val="solid"/>
          </a:ln>
        </p:spPr>
      </p:sp>
      <p:sp>
        <p:nvSpPr>
          <p:cNvPr id="11" name="Shape 8"/>
          <p:cNvSpPr/>
          <p:nvPr/>
        </p:nvSpPr>
        <p:spPr>
          <a:xfrm>
            <a:off x="1888236" y="4872838"/>
            <a:ext cx="630936" cy="630936"/>
          </a:xfrm>
          <a:prstGeom prst="ellipse">
            <a:avLst/>
          </a:prstGeom>
          <a:solidFill>
            <a:srgbClr val="F59120"/>
          </a:solidFill>
          <a:ln w="12700">
            <a:solidFill>
              <a:srgbClr val="F59120"/>
            </a:solidFill>
            <a:prstDash val="solid"/>
          </a:ln>
        </p:spPr>
      </p:sp>
      <p:sp>
        <p:nvSpPr>
          <p:cNvPr id="12" name="Text 9"/>
          <p:cNvSpPr txBox="1"/>
          <p:nvPr/>
        </p:nvSpPr>
        <p:spPr>
          <a:xfrm>
            <a:off x="1888236" y="4872838"/>
            <a:ext cx="630936" cy="630936"/>
          </a:xfrm>
          <a:prstGeom prst="rect">
            <a:avLst/>
          </a:prstGeom>
          <a:noFill/>
          <a:ln/>
        </p:spPr>
        <p:txBody>
          <a:bodyPr wrap="square" lIns="0" tIns="0" rIns="0" bIns="0" rtlCol="0" anchor="ctr"/>
          <a:lstStyle/>
          <a:p>
            <a:pPr algn="ctr" indent="0" marL="0">
              <a:buNone/>
            </a:pPr>
            <a:r>
              <a:rPr lang="en-US" sz="2210" b="1" dirty="0">
                <a:solidFill>
                  <a:srgbClr val="2A0E33"/>
                </a:solidFill>
                <a:latin typeface="Arial" pitchFamily="34" charset="0"/>
                <a:ea typeface="Arial" pitchFamily="34" charset="-122"/>
                <a:cs typeface="Arial" pitchFamily="34" charset="-120"/>
              </a:rPr>
              <a:t>2</a:t>
            </a:r>
            <a:endParaRPr lang="en-US" sz="2210" dirty="0"/>
          </a:p>
        </p:txBody>
      </p:sp>
      <p:sp>
        <p:nvSpPr>
          <p:cNvPr id="13" name="Text 10"/>
          <p:cNvSpPr txBox="1"/>
          <p:nvPr/>
        </p:nvSpPr>
        <p:spPr>
          <a:xfrm>
            <a:off x="2771546" y="4721047"/>
            <a:ext cx="7886700" cy="479146"/>
          </a:xfrm>
          <a:prstGeom prst="rect">
            <a:avLst/>
          </a:prstGeom>
          <a:noFill/>
          <a:ln/>
        </p:spPr>
        <p:txBody>
          <a:bodyPr wrap="square" lIns="0" tIns="0" rIns="0" bIns="0" rtlCol="0" anchor="ctr"/>
          <a:lstStyle/>
          <a:p>
            <a:pPr indent="0" marL="0">
              <a:buNone/>
            </a:pPr>
            <a:r>
              <a:rPr lang="en-US" sz="2070" b="1" dirty="0">
                <a:solidFill>
                  <a:srgbClr val="FFFFFF"/>
                </a:solidFill>
                <a:latin typeface="Arial" pitchFamily="34" charset="0"/>
                <a:ea typeface="Arial" pitchFamily="34" charset="-122"/>
                <a:cs typeface="Arial" pitchFamily="34" charset="-120"/>
              </a:rPr>
              <a:t>Activa el uso de APIs por SPN en el tenant</a:t>
            </a:r>
            <a:endParaRPr lang="en-US" sz="2070" dirty="0"/>
          </a:p>
        </p:txBody>
      </p:sp>
      <p:sp>
        <p:nvSpPr>
          <p:cNvPr id="14" name="Text 11"/>
          <p:cNvSpPr txBox="1"/>
          <p:nvPr/>
        </p:nvSpPr>
        <p:spPr>
          <a:xfrm>
            <a:off x="2771546" y="5175504"/>
            <a:ext cx="7886700" cy="530352"/>
          </a:xfrm>
          <a:prstGeom prst="rect">
            <a:avLst/>
          </a:prstGeom>
          <a:noFill/>
          <a:ln/>
        </p:spPr>
        <p:txBody>
          <a:bodyPr wrap="square" lIns="0" tIns="0" rIns="0" bIns="0" rtlCol="0" anchor="ctr"/>
          <a:lstStyle/>
          <a:p>
            <a:pPr indent="0" marL="0">
              <a:buNone/>
            </a:pPr>
            <a:r>
              <a:rPr lang="en-US" sz="1730" dirty="0">
                <a:solidFill>
                  <a:srgbClr val="C77BD6"/>
                </a:solidFill>
                <a:latin typeface="Calibri" pitchFamily="34" charset="0"/>
                <a:ea typeface="Calibri" pitchFamily="34" charset="-122"/>
                <a:cs typeface="Calibri" pitchFamily="34" charset="-120"/>
              </a:rPr>
              <a:t>Ajustes de administración de Fabric. Sin esto, 401 crípticos.</a:t>
            </a:r>
            <a:endParaRPr lang="en-US" sz="1730" dirty="0"/>
          </a:p>
        </p:txBody>
      </p:sp>
      <p:sp>
        <p:nvSpPr>
          <p:cNvPr id="15" name="Shape 12"/>
          <p:cNvSpPr/>
          <p:nvPr/>
        </p:nvSpPr>
        <p:spPr>
          <a:xfrm>
            <a:off x="1572768" y="5982919"/>
            <a:ext cx="9337853" cy="1198778"/>
          </a:xfrm>
          <a:prstGeom prst="roundRect">
            <a:avLst>
              <a:gd name="adj" fmla="val 10526"/>
            </a:avLst>
          </a:prstGeom>
          <a:solidFill>
            <a:srgbClr val="1E0A2B"/>
          </a:solidFill>
          <a:ln w="12700">
            <a:solidFill>
              <a:srgbClr val="1E0A2B"/>
            </a:solidFill>
            <a:prstDash val="solid"/>
          </a:ln>
        </p:spPr>
      </p:sp>
      <p:sp>
        <p:nvSpPr>
          <p:cNvPr id="16" name="Shape 13"/>
          <p:cNvSpPr/>
          <p:nvPr/>
        </p:nvSpPr>
        <p:spPr>
          <a:xfrm>
            <a:off x="1888236" y="6260897"/>
            <a:ext cx="630936" cy="630936"/>
          </a:xfrm>
          <a:prstGeom prst="ellipse">
            <a:avLst/>
          </a:prstGeom>
          <a:solidFill>
            <a:srgbClr val="F59120"/>
          </a:solidFill>
          <a:ln w="12700">
            <a:solidFill>
              <a:srgbClr val="F59120"/>
            </a:solidFill>
            <a:prstDash val="solid"/>
          </a:ln>
        </p:spPr>
      </p:sp>
      <p:sp>
        <p:nvSpPr>
          <p:cNvPr id="17" name="Text 14"/>
          <p:cNvSpPr txBox="1"/>
          <p:nvPr/>
        </p:nvSpPr>
        <p:spPr>
          <a:xfrm>
            <a:off x="1888236" y="6260897"/>
            <a:ext cx="630936" cy="630936"/>
          </a:xfrm>
          <a:prstGeom prst="rect">
            <a:avLst/>
          </a:prstGeom>
          <a:noFill/>
          <a:ln/>
        </p:spPr>
        <p:txBody>
          <a:bodyPr wrap="square" lIns="0" tIns="0" rIns="0" bIns="0" rtlCol="0" anchor="ctr"/>
          <a:lstStyle/>
          <a:p>
            <a:pPr algn="ctr" indent="0" marL="0">
              <a:buNone/>
            </a:pPr>
            <a:r>
              <a:rPr lang="en-US" sz="2210" b="1" dirty="0">
                <a:solidFill>
                  <a:srgbClr val="2A0E33"/>
                </a:solidFill>
                <a:latin typeface="Arial" pitchFamily="34" charset="0"/>
                <a:ea typeface="Arial" pitchFamily="34" charset="-122"/>
                <a:cs typeface="Arial" pitchFamily="34" charset="-120"/>
              </a:rPr>
              <a:t>3</a:t>
            </a:r>
            <a:endParaRPr lang="en-US" sz="2210" dirty="0"/>
          </a:p>
        </p:txBody>
      </p:sp>
      <p:sp>
        <p:nvSpPr>
          <p:cNvPr id="18" name="Text 15"/>
          <p:cNvSpPr txBox="1"/>
          <p:nvPr/>
        </p:nvSpPr>
        <p:spPr>
          <a:xfrm>
            <a:off x="2771546" y="6109106"/>
            <a:ext cx="7886700" cy="479146"/>
          </a:xfrm>
          <a:prstGeom prst="rect">
            <a:avLst/>
          </a:prstGeom>
          <a:noFill/>
          <a:ln/>
        </p:spPr>
        <p:txBody>
          <a:bodyPr wrap="square" lIns="0" tIns="0" rIns="0" bIns="0" rtlCol="0" anchor="ctr"/>
          <a:lstStyle/>
          <a:p>
            <a:pPr indent="0" marL="0">
              <a:buNone/>
            </a:pPr>
            <a:r>
              <a:rPr lang="en-US" sz="2070" b="1" dirty="0">
                <a:solidFill>
                  <a:srgbClr val="FFFFFF"/>
                </a:solidFill>
                <a:latin typeface="Arial" pitchFamily="34" charset="0"/>
                <a:ea typeface="Arial" pitchFamily="34" charset="-122"/>
                <a:cs typeface="Arial" pitchFamily="34" charset="-120"/>
              </a:rPr>
              <a:t>Dale permisos donde toque</a:t>
            </a:r>
            <a:endParaRPr lang="en-US" sz="2070" dirty="0"/>
          </a:p>
        </p:txBody>
      </p:sp>
      <p:sp>
        <p:nvSpPr>
          <p:cNvPr id="19" name="Text 16"/>
          <p:cNvSpPr txBox="1"/>
          <p:nvPr/>
        </p:nvSpPr>
        <p:spPr>
          <a:xfrm>
            <a:off x="2771546" y="6563563"/>
            <a:ext cx="7886700" cy="530352"/>
          </a:xfrm>
          <a:prstGeom prst="rect">
            <a:avLst/>
          </a:prstGeom>
          <a:noFill/>
          <a:ln/>
        </p:spPr>
        <p:txBody>
          <a:bodyPr wrap="square" lIns="0" tIns="0" rIns="0" bIns="0" rtlCol="0" anchor="ctr"/>
          <a:lstStyle/>
          <a:p>
            <a:pPr indent="0" marL="0">
              <a:buNone/>
            </a:pPr>
            <a:r>
              <a:rPr lang="en-US" sz="1730" dirty="0">
                <a:solidFill>
                  <a:srgbClr val="C77BD6"/>
                </a:solidFill>
                <a:latin typeface="Calibri" pitchFamily="34" charset="0"/>
                <a:ea typeface="Calibri" pitchFamily="34" charset="-122"/>
                <a:cs typeface="Calibri" pitchFamily="34" charset="-120"/>
              </a:rPr>
              <a:t>Admin del workspace o colaborador en la capacity</a:t>
            </a:r>
            <a:endParaRPr lang="en-US" sz="1730" dirty="0"/>
          </a:p>
        </p:txBody>
      </p:sp>
      <p:sp>
        <p:nvSpPr>
          <p:cNvPr id="20" name="Shape 17"/>
          <p:cNvSpPr/>
          <p:nvPr/>
        </p:nvSpPr>
        <p:spPr>
          <a:xfrm>
            <a:off x="11289182" y="3206801"/>
            <a:ext cx="5426050" cy="4164178"/>
          </a:xfrm>
          <a:prstGeom prst="roundRect">
            <a:avLst>
              <a:gd name="adj" fmla="val 2415"/>
            </a:avLst>
          </a:prstGeom>
          <a:solidFill>
            <a:srgbClr val="210A2E"/>
          </a:solidFill>
          <a:ln w="12700">
            <a:solidFill>
              <a:srgbClr val="210A2E"/>
            </a:solidFill>
            <a:prstDash val="solid"/>
          </a:ln>
        </p:spPr>
      </p:sp>
      <p:sp>
        <p:nvSpPr>
          <p:cNvPr id="21" name="Text 18"/>
          <p:cNvSpPr txBox="1"/>
          <p:nvPr/>
        </p:nvSpPr>
        <p:spPr>
          <a:xfrm>
            <a:off x="11567160" y="3408883"/>
            <a:ext cx="4871009" cy="3760013"/>
          </a:xfrm>
          <a:prstGeom prst="rect">
            <a:avLst/>
          </a:prstGeom>
          <a:noFill/>
          <a:ln/>
        </p:spPr>
        <p:txBody>
          <a:bodyPr wrap="square" lIns="0" tIns="0" rIns="0" bIns="0" rtlCol="0" anchor="t"/>
          <a:lstStyle/>
          <a:p>
            <a:pPr algn="l" indent="0" marL="0">
              <a:lnSpc>
                <a:spcPct val="120000"/>
              </a:lnSpc>
              <a:buNone/>
            </a:pPr>
            <a:r>
              <a:rPr lang="en-US" sz="1450" b="1" dirty="0">
                <a:solidFill>
                  <a:srgbClr val="DFA0EC"/>
                </a:solidFill>
                <a:latin typeface="Courier New" pitchFamily="34" charset="0"/>
                <a:ea typeface="Courier New" pitchFamily="34" charset="-122"/>
                <a:cs typeface="Courier New" pitchFamily="34" charset="-120"/>
              </a:rPr>
              <a:t>provider</a:t>
            </a:r>
            <a:pPr algn="l" indent="0" marL="0">
              <a:lnSpc>
                <a:spcPct val="120000"/>
              </a:lnSpc>
              <a:buNone/>
            </a:pPr>
            <a:r>
              <a:rPr lang="en-US" sz="1450" dirty="0">
                <a:solidFill>
                  <a:srgbClr val="C77BD6"/>
                </a:solidFill>
                <a:latin typeface="Courier New" pitchFamily="34" charset="0"/>
                <a:ea typeface="Courier New" pitchFamily="34" charset="-122"/>
                <a:cs typeface="Courier New" pitchFamily="34" charset="-120"/>
              </a:rPr>
              <a:t> </a:t>
            </a:r>
            <a:pPr algn="l" indent="0" marL="0">
              <a:lnSpc>
                <a:spcPct val="120000"/>
              </a:lnSpc>
              <a:buNone/>
            </a:pPr>
            <a:r>
              <a:rPr lang="en-US" sz="1450" dirty="0">
                <a:solidFill>
                  <a:srgbClr val="8FD9B6"/>
                </a:solidFill>
                <a:latin typeface="Courier New" pitchFamily="34" charset="0"/>
                <a:ea typeface="Courier New" pitchFamily="34" charset="-122"/>
                <a:cs typeface="Courier New" pitchFamily="34" charset="-120"/>
              </a:rPr>
              <a:t>"fabric"</a:t>
            </a:r>
            <a:pPr algn="l" indent="0" marL="0">
              <a:lnSpc>
                <a:spcPct val="120000"/>
              </a:lnSpc>
              <a:buNone/>
            </a:pPr>
            <a:r>
              <a:rPr lang="en-US" sz="1450" dirty="0">
                <a:solidFill>
                  <a:srgbClr val="C77BD6"/>
                </a:solidFill>
                <a:latin typeface="Courier New" pitchFamily="34" charset="0"/>
                <a:ea typeface="Courier New" pitchFamily="34" charset="-122"/>
                <a:cs typeface="Courier New" pitchFamily="34" charset="-120"/>
              </a:rPr>
              <a:t> </a:t>
            </a:r>
            <a:pPr algn="l" indent="0" marL="0">
              <a:lnSpc>
                <a:spcPct val="120000"/>
              </a:lnSpc>
              <a:buNone/>
            </a:pPr>
            <a:r>
              <a:rPr lang="en-US" sz="1450" dirty="0">
                <a:solidFill>
                  <a:srgbClr val="C77BD6"/>
                </a:solidFill>
                <a:latin typeface="Courier New" pitchFamily="34" charset="0"/>
                <a:ea typeface="Courier New" pitchFamily="34" charset="-122"/>
                <a:cs typeface="Courier New" pitchFamily="34" charset="-120"/>
              </a:rPr>
              <a:t>{</a:t>
            </a:r>
            <a:endParaRPr lang="en-US" sz="1450" dirty="0"/>
          </a:p>
          <a:p>
            <a:pPr algn="l" indent="0" marL="0">
              <a:lnSpc>
                <a:spcPct val="120000"/>
              </a:lnSpc>
              <a:buNone/>
            </a:pPr>
            <a:r>
              <a:rPr lang="en-US" sz="1450" dirty="0">
                <a:solidFill>
                  <a:srgbClr val="C77BD6"/>
                </a:solidFill>
                <a:latin typeface="Courier New" pitchFamily="34" charset="0"/>
                <a:ea typeface="Courier New" pitchFamily="34" charset="-122"/>
                <a:cs typeface="Courier New" pitchFamily="34" charset="-120"/>
              </a:rPr>
              <a:t>  </a:t>
            </a:r>
            <a:pPr algn="l" indent="0" marL="0">
              <a:lnSpc>
                <a:spcPct val="120000"/>
              </a:lnSpc>
              <a:buNone/>
            </a:pPr>
            <a:r>
              <a:rPr lang="en-US" sz="1450" dirty="0">
                <a:solidFill>
                  <a:srgbClr val="EFE6F2"/>
                </a:solidFill>
                <a:latin typeface="Courier New" pitchFamily="34" charset="0"/>
                <a:ea typeface="Courier New" pitchFamily="34" charset="-122"/>
                <a:cs typeface="Courier New" pitchFamily="34" charset="-120"/>
              </a:rPr>
              <a:t>tenant_id</a:t>
            </a:r>
            <a:pPr algn="l" indent="0" marL="0">
              <a:lnSpc>
                <a:spcPct val="120000"/>
              </a:lnSpc>
              <a:buNone/>
            </a:pPr>
            <a:r>
              <a:rPr lang="en-US" sz="1450" dirty="0">
                <a:solidFill>
                  <a:srgbClr val="C77BD6"/>
                </a:solidFill>
                <a:latin typeface="Courier New" pitchFamily="34" charset="0"/>
                <a:ea typeface="Courier New" pitchFamily="34" charset="-122"/>
                <a:cs typeface="Courier New" pitchFamily="34" charset="-120"/>
              </a:rPr>
              <a:t> </a:t>
            </a:r>
            <a:pPr algn="l" indent="0" marL="0">
              <a:lnSpc>
                <a:spcPct val="120000"/>
              </a:lnSpc>
              <a:buNone/>
            </a:pPr>
            <a:r>
              <a:rPr lang="en-US" sz="1450" dirty="0">
                <a:solidFill>
                  <a:srgbClr val="C77BD6"/>
                </a:solidFill>
                <a:latin typeface="Courier New" pitchFamily="34" charset="0"/>
                <a:ea typeface="Courier New" pitchFamily="34" charset="-122"/>
                <a:cs typeface="Courier New" pitchFamily="34" charset="-120"/>
              </a:rPr>
              <a:t>=</a:t>
            </a:r>
            <a:pPr algn="l" indent="0" marL="0">
              <a:lnSpc>
                <a:spcPct val="120000"/>
              </a:lnSpc>
              <a:buNone/>
            </a:pPr>
            <a:r>
              <a:rPr lang="en-US" sz="1450" dirty="0">
                <a:solidFill>
                  <a:srgbClr val="C77BD6"/>
                </a:solidFill>
                <a:latin typeface="Courier New" pitchFamily="34" charset="0"/>
                <a:ea typeface="Courier New" pitchFamily="34" charset="-122"/>
                <a:cs typeface="Courier New" pitchFamily="34" charset="-120"/>
              </a:rPr>
              <a:t> </a:t>
            </a:r>
            <a:pPr algn="l" indent="0" marL="0">
              <a:lnSpc>
                <a:spcPct val="120000"/>
              </a:lnSpc>
              <a:buNone/>
            </a:pPr>
            <a:r>
              <a:rPr lang="en-US" sz="1450" dirty="0">
                <a:solidFill>
                  <a:srgbClr val="EFE6F2"/>
                </a:solidFill>
                <a:latin typeface="Courier New" pitchFamily="34" charset="0"/>
                <a:ea typeface="Courier New" pitchFamily="34" charset="-122"/>
                <a:cs typeface="Courier New" pitchFamily="34" charset="-120"/>
              </a:rPr>
              <a:t>var</a:t>
            </a:r>
            <a:pPr algn="l" indent="0" marL="0">
              <a:lnSpc>
                <a:spcPct val="120000"/>
              </a:lnSpc>
              <a:buNone/>
            </a:pPr>
            <a:r>
              <a:rPr lang="en-US" sz="1450" dirty="0">
                <a:solidFill>
                  <a:srgbClr val="C77BD6"/>
                </a:solidFill>
                <a:latin typeface="Courier New" pitchFamily="34" charset="0"/>
                <a:ea typeface="Courier New" pitchFamily="34" charset="-122"/>
                <a:cs typeface="Courier New" pitchFamily="34" charset="-120"/>
              </a:rPr>
              <a:t>.</a:t>
            </a:r>
            <a:pPr algn="l" indent="0" marL="0">
              <a:lnSpc>
                <a:spcPct val="120000"/>
              </a:lnSpc>
              <a:buNone/>
            </a:pPr>
            <a:r>
              <a:rPr lang="en-US" sz="1450" dirty="0">
                <a:solidFill>
                  <a:srgbClr val="EFE6F2"/>
                </a:solidFill>
                <a:latin typeface="Courier New" pitchFamily="34" charset="0"/>
                <a:ea typeface="Courier New" pitchFamily="34" charset="-122"/>
                <a:cs typeface="Courier New" pitchFamily="34" charset="-120"/>
              </a:rPr>
              <a:t>tenant_id</a:t>
            </a:r>
            <a:endParaRPr lang="en-US" sz="1450" dirty="0"/>
          </a:p>
          <a:p>
            <a:pPr algn="l" indent="0" marL="0">
              <a:lnSpc>
                <a:spcPct val="120000"/>
              </a:lnSpc>
              <a:buNone/>
            </a:pPr>
            <a:r>
              <a:rPr lang="en-US" sz="1450" dirty="0">
                <a:solidFill>
                  <a:srgbClr val="C77BD6"/>
                </a:solidFill>
                <a:latin typeface="Courier New" pitchFamily="34" charset="0"/>
                <a:ea typeface="Courier New" pitchFamily="34" charset="-122"/>
                <a:cs typeface="Courier New" pitchFamily="34" charset="-120"/>
              </a:rPr>
              <a:t>  </a:t>
            </a:r>
            <a:pPr algn="l" indent="0" marL="0">
              <a:lnSpc>
                <a:spcPct val="120000"/>
              </a:lnSpc>
              <a:buNone/>
            </a:pPr>
            <a:r>
              <a:rPr lang="en-US" sz="1450" i="1" dirty="0">
                <a:solidFill>
                  <a:srgbClr val="A791AD"/>
                </a:solidFill>
                <a:latin typeface="Courier New" pitchFamily="34" charset="0"/>
                <a:ea typeface="Courier New" pitchFamily="34" charset="-122"/>
                <a:cs typeface="Courier New" pitchFamily="34" charset="-120"/>
              </a:rPr>
              <a:t># el resto por variables</a:t>
            </a:r>
            <a:endParaRPr lang="en-US" sz="1450" dirty="0"/>
          </a:p>
          <a:p>
            <a:pPr algn="l" indent="0" marL="0">
              <a:lnSpc>
                <a:spcPct val="120000"/>
              </a:lnSpc>
              <a:buNone/>
            </a:pPr>
            <a:r>
              <a:rPr lang="en-US" sz="1450" dirty="0">
                <a:solidFill>
                  <a:srgbClr val="C77BD6"/>
                </a:solidFill>
                <a:latin typeface="Courier New" pitchFamily="34" charset="0"/>
                <a:ea typeface="Courier New" pitchFamily="34" charset="-122"/>
                <a:cs typeface="Courier New" pitchFamily="34" charset="-120"/>
              </a:rPr>
              <a:t>  </a:t>
            </a:r>
            <a:pPr algn="l" indent="0" marL="0">
              <a:lnSpc>
                <a:spcPct val="120000"/>
              </a:lnSpc>
              <a:buNone/>
            </a:pPr>
            <a:r>
              <a:rPr lang="en-US" sz="1450" i="1" dirty="0">
                <a:solidFill>
                  <a:srgbClr val="A791AD"/>
                </a:solidFill>
                <a:latin typeface="Courier New" pitchFamily="34" charset="0"/>
                <a:ea typeface="Courier New" pitchFamily="34" charset="-122"/>
                <a:cs typeface="Courier New" pitchFamily="34" charset="-120"/>
              </a:rPr>
              <a:t># de entorno:</a:t>
            </a:r>
            <a:endParaRPr lang="en-US" sz="1450" dirty="0"/>
          </a:p>
          <a:p>
            <a:pPr algn="l" indent="0" marL="0">
              <a:lnSpc>
                <a:spcPct val="120000"/>
              </a:lnSpc>
              <a:buNone/>
            </a:pPr>
            <a:r>
              <a:rPr lang="en-US" sz="1450" dirty="0">
                <a:solidFill>
                  <a:srgbClr val="C77BD6"/>
                </a:solidFill>
                <a:latin typeface="Courier New" pitchFamily="34" charset="0"/>
                <a:ea typeface="Courier New" pitchFamily="34" charset="-122"/>
                <a:cs typeface="Courier New" pitchFamily="34" charset="-120"/>
              </a:rPr>
              <a:t>  </a:t>
            </a:r>
            <a:pPr algn="l" indent="0" marL="0">
              <a:lnSpc>
                <a:spcPct val="120000"/>
              </a:lnSpc>
              <a:buNone/>
            </a:pPr>
            <a:r>
              <a:rPr lang="en-US" sz="1450" i="1" dirty="0">
                <a:solidFill>
                  <a:srgbClr val="A791AD"/>
                </a:solidFill>
                <a:latin typeface="Courier New" pitchFamily="34" charset="0"/>
                <a:ea typeface="Courier New" pitchFamily="34" charset="-122"/>
                <a:cs typeface="Courier New" pitchFamily="34" charset="-120"/>
              </a:rPr>
              <a:t>#   FABRIC_CLIENT_ID</a:t>
            </a:r>
            <a:endParaRPr lang="en-US" sz="1450" dirty="0"/>
          </a:p>
          <a:p>
            <a:pPr algn="l" indent="0" marL="0">
              <a:lnSpc>
                <a:spcPct val="120000"/>
              </a:lnSpc>
              <a:buNone/>
            </a:pPr>
            <a:r>
              <a:rPr lang="en-US" sz="1450" dirty="0">
                <a:solidFill>
                  <a:srgbClr val="C77BD6"/>
                </a:solidFill>
                <a:latin typeface="Courier New" pitchFamily="34" charset="0"/>
                <a:ea typeface="Courier New" pitchFamily="34" charset="-122"/>
                <a:cs typeface="Courier New" pitchFamily="34" charset="-120"/>
              </a:rPr>
              <a:t>  </a:t>
            </a:r>
            <a:pPr algn="l" indent="0" marL="0">
              <a:lnSpc>
                <a:spcPct val="120000"/>
              </a:lnSpc>
              <a:buNone/>
            </a:pPr>
            <a:r>
              <a:rPr lang="en-US" sz="1450" i="1" dirty="0">
                <a:solidFill>
                  <a:srgbClr val="A791AD"/>
                </a:solidFill>
                <a:latin typeface="Courier New" pitchFamily="34" charset="0"/>
                <a:ea typeface="Courier New" pitchFamily="34" charset="-122"/>
                <a:cs typeface="Courier New" pitchFamily="34" charset="-120"/>
              </a:rPr>
              <a:t>#   FABRIC_CLIENT_SECRET</a:t>
            </a:r>
            <a:endParaRPr lang="en-US" sz="1450" dirty="0"/>
          </a:p>
          <a:p>
            <a:pPr algn="l" indent="0" marL="0">
              <a:lnSpc>
                <a:spcPct val="120000"/>
              </a:lnSpc>
              <a:buNone/>
            </a:pPr>
            <a:r>
              <a:rPr lang="en-US" sz="1450" dirty="0">
                <a:solidFill>
                  <a:srgbClr val="C77BD6"/>
                </a:solidFill>
                <a:latin typeface="Courier New" pitchFamily="34" charset="0"/>
                <a:ea typeface="Courier New" pitchFamily="34" charset="-122"/>
                <a:cs typeface="Courier New" pitchFamily="34" charset="-120"/>
              </a:rPr>
              <a:t>  </a:t>
            </a:r>
            <a:pPr algn="l" indent="0" marL="0">
              <a:lnSpc>
                <a:spcPct val="120000"/>
              </a:lnSpc>
              <a:buNone/>
            </a:pPr>
            <a:r>
              <a:rPr lang="en-US" sz="1450" i="1" dirty="0">
                <a:solidFill>
                  <a:srgbClr val="A791AD"/>
                </a:solidFill>
                <a:latin typeface="Courier New" pitchFamily="34" charset="0"/>
                <a:ea typeface="Courier New" pitchFamily="34" charset="-122"/>
                <a:cs typeface="Courier New" pitchFamily="34" charset="-120"/>
              </a:rPr>
              <a:t>#   FABRIC_TENANT_ID</a:t>
            </a:r>
            <a:endParaRPr lang="en-US" sz="1450" dirty="0"/>
          </a:p>
          <a:p>
            <a:pPr algn="l" indent="0" marL="0">
              <a:lnSpc>
                <a:spcPct val="120000"/>
              </a:lnSpc>
              <a:buNone/>
            </a:pPr>
            <a:r>
              <a:rPr lang="en-US" sz="1450" dirty="0">
                <a:solidFill>
                  <a:srgbClr val="EFE6F2"/>
                </a:solidFill>
                <a:latin typeface="Courier New" pitchFamily="34" charset="0"/>
                <a:ea typeface="Courier New" pitchFamily="34" charset="-122"/>
                <a:cs typeface="Courier New" pitchFamily="34" charset="-120"/>
              </a:rPr>
              <a:t> </a:t>
            </a:r>
            <a:endParaRPr lang="en-US" sz="1450" dirty="0"/>
          </a:p>
          <a:p>
            <a:pPr algn="l" indent="0" marL="0">
              <a:lnSpc>
                <a:spcPct val="120000"/>
              </a:lnSpc>
              <a:buNone/>
            </a:pPr>
            <a:r>
              <a:rPr lang="en-US" sz="1450" dirty="0">
                <a:solidFill>
                  <a:srgbClr val="C77BD6"/>
                </a:solidFill>
                <a:latin typeface="Courier New" pitchFamily="34" charset="0"/>
                <a:ea typeface="Courier New" pitchFamily="34" charset="-122"/>
                <a:cs typeface="Courier New" pitchFamily="34" charset="-120"/>
              </a:rPr>
              <a:t>  </a:t>
            </a:r>
            <a:pPr algn="l" indent="0" marL="0">
              <a:lnSpc>
                <a:spcPct val="120000"/>
              </a:lnSpc>
              <a:buNone/>
            </a:pPr>
            <a:r>
              <a:rPr lang="en-US" sz="1450" dirty="0">
                <a:solidFill>
                  <a:srgbClr val="EFE6F2"/>
                </a:solidFill>
                <a:latin typeface="Courier New" pitchFamily="34" charset="0"/>
                <a:ea typeface="Courier New" pitchFamily="34" charset="-122"/>
                <a:cs typeface="Courier New" pitchFamily="34" charset="-120"/>
              </a:rPr>
              <a:t>preview</a:t>
            </a:r>
            <a:pPr algn="l" indent="0" marL="0">
              <a:lnSpc>
                <a:spcPct val="120000"/>
              </a:lnSpc>
              <a:buNone/>
            </a:pPr>
            <a:r>
              <a:rPr lang="en-US" sz="1450" dirty="0">
                <a:solidFill>
                  <a:srgbClr val="C77BD6"/>
                </a:solidFill>
                <a:latin typeface="Courier New" pitchFamily="34" charset="0"/>
                <a:ea typeface="Courier New" pitchFamily="34" charset="-122"/>
                <a:cs typeface="Courier New" pitchFamily="34" charset="-120"/>
              </a:rPr>
              <a:t> </a:t>
            </a:r>
            <a:pPr algn="l" indent="0" marL="0">
              <a:lnSpc>
                <a:spcPct val="120000"/>
              </a:lnSpc>
              <a:buNone/>
            </a:pPr>
            <a:r>
              <a:rPr lang="en-US" sz="1450" dirty="0">
                <a:solidFill>
                  <a:srgbClr val="C77BD6"/>
                </a:solidFill>
                <a:latin typeface="Courier New" pitchFamily="34" charset="0"/>
                <a:ea typeface="Courier New" pitchFamily="34" charset="-122"/>
                <a:cs typeface="Courier New" pitchFamily="34" charset="-120"/>
              </a:rPr>
              <a:t>=</a:t>
            </a:r>
            <a:pPr algn="l" indent="0" marL="0">
              <a:lnSpc>
                <a:spcPct val="120000"/>
              </a:lnSpc>
              <a:buNone/>
            </a:pPr>
            <a:r>
              <a:rPr lang="en-US" sz="1450" dirty="0">
                <a:solidFill>
                  <a:srgbClr val="C77BD6"/>
                </a:solidFill>
                <a:latin typeface="Courier New" pitchFamily="34" charset="0"/>
                <a:ea typeface="Courier New" pitchFamily="34" charset="-122"/>
                <a:cs typeface="Courier New" pitchFamily="34" charset="-120"/>
              </a:rPr>
              <a:t> </a:t>
            </a:r>
            <a:pPr algn="l" indent="0" marL="0">
              <a:lnSpc>
                <a:spcPct val="120000"/>
              </a:lnSpc>
              <a:buNone/>
            </a:pPr>
            <a:r>
              <a:rPr lang="en-US" sz="1450" dirty="0">
                <a:solidFill>
                  <a:srgbClr val="F5C06A"/>
                </a:solidFill>
                <a:latin typeface="Courier New" pitchFamily="34" charset="0"/>
                <a:ea typeface="Courier New" pitchFamily="34" charset="-122"/>
                <a:cs typeface="Courier New" pitchFamily="34" charset="-120"/>
              </a:rPr>
              <a:t>true</a:t>
            </a:r>
            <a:endParaRPr lang="en-US" sz="1450" dirty="0"/>
          </a:p>
          <a:p>
            <a:pPr algn="l" indent="0" marL="0">
              <a:lnSpc>
                <a:spcPct val="120000"/>
              </a:lnSpc>
              <a:buNone/>
            </a:pPr>
            <a:r>
              <a:rPr lang="en-US" sz="1450" dirty="0">
                <a:solidFill>
                  <a:srgbClr val="C77BD6"/>
                </a:solidFill>
                <a:latin typeface="Courier New" pitchFamily="34" charset="0"/>
                <a:ea typeface="Courier New" pitchFamily="34" charset="-122"/>
                <a:cs typeface="Courier New" pitchFamily="34" charset="-120"/>
              </a:rPr>
              <a:t>}</a:t>
            </a:r>
            <a:endParaRPr lang="en-US" sz="1450" dirty="0"/>
          </a:p>
        </p:txBody>
      </p:sp>
      <p:sp>
        <p:nvSpPr>
          <p:cNvPr id="22" name="Shape 19"/>
          <p:cNvSpPr/>
          <p:nvPr/>
        </p:nvSpPr>
        <p:spPr>
          <a:xfrm>
            <a:off x="1572768" y="7686446"/>
            <a:ext cx="15142464" cy="1198778"/>
          </a:xfrm>
          <a:prstGeom prst="roundRect">
            <a:avLst>
              <a:gd name="adj" fmla="val 10526"/>
            </a:avLst>
          </a:prstGeom>
          <a:solidFill>
            <a:srgbClr val="E8553F"/>
          </a:solidFill>
          <a:ln w="12700">
            <a:solidFill>
              <a:srgbClr val="E8553F"/>
            </a:solidFill>
            <a:prstDash val="solid"/>
          </a:ln>
        </p:spPr>
      </p:sp>
      <p:sp>
        <p:nvSpPr>
          <p:cNvPr id="23" name="Text 20"/>
          <p:cNvSpPr txBox="1"/>
          <p:nvPr/>
        </p:nvSpPr>
        <p:spPr>
          <a:xfrm>
            <a:off x="2077517" y="7686446"/>
            <a:ext cx="14132966" cy="1198778"/>
          </a:xfrm>
          <a:prstGeom prst="rect">
            <a:avLst/>
          </a:prstGeom>
          <a:noFill/>
          <a:ln/>
        </p:spPr>
        <p:txBody>
          <a:bodyPr wrap="square" lIns="0" tIns="0" rIns="0" bIns="0" rtlCol="0" anchor="ctr"/>
          <a:lstStyle/>
          <a:p>
            <a:pPr indent="0" marL="0">
              <a:buNone/>
            </a:pPr>
            <a:r>
              <a:rPr lang="en-US" sz="2480" b="1" dirty="0">
                <a:solidFill>
                  <a:srgbClr val="FFFFFF"/>
                </a:solidFill>
                <a:latin typeface="Arial" pitchFamily="34" charset="0"/>
                <a:ea typeface="Arial" pitchFamily="34" charset="-122"/>
                <a:cs typeface="Arial" pitchFamily="34" charset="-120"/>
              </a:rPr>
              <a:t>Los secretos jamás van en el .tf. Variables de entorno o Key Vault. Siempre.</a:t>
            </a:r>
            <a:endParaRPr lang="en-US" sz="248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pic>
        <p:nvPicPr>
          <p:cNvPr id="2" name="Image 0" descr="/home/claude/bg-dark.jpg">    </p:cNvPr>
          <p:cNvPicPr>
            <a:picLocks noChangeAspect="1"/>
          </p:cNvPicPr>
          <p:nvPr/>
        </p:nvPicPr>
        <p:blipFill>
          <a:blip r:embed="rId1"/>
          <a:stretch>
            <a:fillRect/>
          </a:stretch>
        </p:blipFill>
        <p:spPr>
          <a:xfrm>
            <a:off x="0" y="0"/>
            <a:ext cx="18288000" cy="10287000"/>
          </a:xfrm>
          <a:prstGeom prst="rect">
            <a:avLst/>
          </a:prstGeom>
        </p:spPr>
      </p:pic>
      <p:sp>
        <p:nvSpPr>
          <p:cNvPr id="3" name="Text 0"/>
          <p:cNvSpPr txBox="1"/>
          <p:nvPr/>
        </p:nvSpPr>
        <p:spPr>
          <a:xfrm>
            <a:off x="1572768" y="3269894"/>
            <a:ext cx="10725912" cy="2145182"/>
          </a:xfrm>
          <a:prstGeom prst="rect">
            <a:avLst/>
          </a:prstGeom>
          <a:noFill/>
          <a:ln/>
        </p:spPr>
        <p:txBody>
          <a:bodyPr wrap="square" lIns="0" tIns="0" rIns="0" bIns="0" rtlCol="0" anchor="ctr"/>
          <a:lstStyle/>
          <a:p>
            <a:pPr indent="0" marL="0">
              <a:buNone/>
            </a:pPr>
            <a:r>
              <a:rPr lang="en-US" sz="13250" b="1" dirty="0">
                <a:solidFill>
                  <a:srgbClr val="F59120"/>
                </a:solidFill>
                <a:latin typeface="Arial" pitchFamily="34" charset="0"/>
                <a:ea typeface="Arial" pitchFamily="34" charset="-122"/>
                <a:cs typeface="Arial" pitchFamily="34" charset="-120"/>
              </a:rPr>
              <a:t>DEMO</a:t>
            </a:r>
            <a:endParaRPr lang="en-US" sz="13250" dirty="0"/>
          </a:p>
        </p:txBody>
      </p:sp>
      <p:sp>
        <p:nvSpPr>
          <p:cNvPr id="4" name="Text 1"/>
          <p:cNvSpPr txBox="1"/>
          <p:nvPr/>
        </p:nvSpPr>
        <p:spPr>
          <a:xfrm>
            <a:off x="1572768" y="5667451"/>
            <a:ext cx="10725912" cy="2776118"/>
          </a:xfrm>
          <a:prstGeom prst="rect">
            <a:avLst/>
          </a:prstGeom>
          <a:noFill/>
          <a:ln/>
        </p:spPr>
        <p:txBody>
          <a:bodyPr wrap="square" lIns="0" tIns="0" rIns="0" bIns="0" rtlCol="0" anchor="t"/>
          <a:lstStyle/>
          <a:p>
            <a:pPr marL="342900" indent="-342900">
              <a:spcAft>
                <a:spcPts val="1400"/>
              </a:spcAft>
              <a:buSzPct val="100000"/>
              <a:buChar char="•"/>
            </a:pPr>
            <a:r>
              <a:rPr lang="en-US" sz="2350" dirty="0">
                <a:solidFill>
                  <a:srgbClr val="FFFFFF"/>
                </a:solidFill>
                <a:latin typeface="Calibri" pitchFamily="34" charset="0"/>
                <a:ea typeface="Calibri" pitchFamily="34" charset="-122"/>
                <a:cs typeface="Calibri" pitchFamily="34" charset="-120"/>
              </a:rPr>
              <a:t>Un .tf, doce workspaces, cuatro entornos</a:t>
            </a:r>
            <a:endParaRPr lang="en-US" sz="2350" dirty="0"/>
          </a:p>
          <a:p>
            <a:pPr marL="342900" indent="-342900">
              <a:spcAft>
                <a:spcPts val="1400"/>
              </a:spcAft>
              <a:buSzPct val="100000"/>
              <a:buChar char="•"/>
            </a:pPr>
            <a:r>
              <a:rPr lang="en-US" sz="2350" dirty="0">
                <a:solidFill>
                  <a:srgbClr val="FFFFFF"/>
                </a:solidFill>
                <a:latin typeface="Calibri" pitchFamily="34" charset="0"/>
                <a:ea typeface="Calibri" pitchFamily="34" charset="-122"/>
                <a:cs typeface="Calibri" pitchFamily="34" charset="-120"/>
              </a:rPr>
              <a:t>plan → leemos el plan juntos → apply</a:t>
            </a:r>
            <a:endParaRPr lang="en-US" sz="2350" dirty="0"/>
          </a:p>
          <a:p>
            <a:pPr marL="342900" indent="-342900">
              <a:spcAft>
                <a:spcPts val="1400"/>
              </a:spcAft>
              <a:buSzPct val="100000"/>
              <a:buChar char="•"/>
            </a:pPr>
            <a:r>
              <a:rPr lang="en-US" sz="2350" dirty="0">
                <a:solidFill>
                  <a:srgbClr val="FFFFFF"/>
                </a:solidFill>
                <a:latin typeface="Calibri" pitchFamily="34" charset="0"/>
                <a:ea typeface="Calibri" pitchFamily="34" charset="-122"/>
                <a:cs typeface="Calibri" pitchFamily="34" charset="-120"/>
              </a:rPr>
              <a:t>Rompemos algo a mano en el portal y hacemos plan otra vez</a:t>
            </a:r>
            <a:endParaRPr lang="en-US" sz="2350" dirty="0"/>
          </a:p>
          <a:p>
            <a:pPr marL="342900" indent="-342900">
              <a:spcAft>
                <a:spcPts val="1400"/>
              </a:spcAft>
              <a:buSzPct val="100000"/>
              <a:buChar char="•"/>
            </a:pPr>
            <a:r>
              <a:rPr lang="en-US" sz="2350" dirty="0">
                <a:solidFill>
                  <a:srgbClr val="FFFFFF"/>
                </a:solidFill>
                <a:latin typeface="Calibri" pitchFamily="34" charset="0"/>
                <a:ea typeface="Calibri" pitchFamily="34" charset="-122"/>
                <a:cs typeface="Calibri" pitchFamily="34" charset="-120"/>
              </a:rPr>
              <a:t>destroy, y a cenar</a:t>
            </a:r>
            <a:endParaRPr lang="en-US" sz="235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pic>
        <p:nvPicPr>
          <p:cNvPr id="2" name="Image 0" descr="/home/claude/bg-white.jpg">    </p:cNvPr>
          <p:cNvPicPr>
            <a:picLocks noChangeAspect="1"/>
          </p:cNvPicPr>
          <p:nvPr/>
        </p:nvPicPr>
        <p:blipFill>
          <a:blip r:embed="rId1"/>
          <a:stretch>
            <a:fillRect/>
          </a:stretch>
        </p:blipFill>
        <p:spPr>
          <a:xfrm>
            <a:off x="0" y="0"/>
            <a:ext cx="18288000" cy="10287000"/>
          </a:xfrm>
          <a:prstGeom prst="rect">
            <a:avLst/>
          </a:prstGeom>
        </p:spPr>
      </p:pic>
      <p:sp>
        <p:nvSpPr>
          <p:cNvPr id="3" name="Text 0"/>
          <p:cNvSpPr txBox="1"/>
          <p:nvPr/>
        </p:nvSpPr>
        <p:spPr>
          <a:xfrm>
            <a:off x="1572768" y="1024128"/>
            <a:ext cx="15142464" cy="404165"/>
          </a:xfrm>
          <a:prstGeom prst="rect">
            <a:avLst/>
          </a:prstGeom>
          <a:noFill/>
          <a:ln/>
        </p:spPr>
        <p:txBody>
          <a:bodyPr wrap="square" lIns="0" tIns="0" rIns="0" bIns="0" rtlCol="0" anchor="ctr"/>
          <a:lstStyle/>
          <a:p>
            <a:pPr indent="0" marL="0">
              <a:buNone/>
            </a:pPr>
            <a:r>
              <a:rPr lang="en-US" sz="1660" b="1" spc="345" kern="0" dirty="0">
                <a:solidFill>
                  <a:srgbClr val="692179"/>
                </a:solidFill>
                <a:latin typeface="Calibri" pitchFamily="34" charset="0"/>
                <a:ea typeface="Calibri" pitchFamily="34" charset="-122"/>
                <a:cs typeface="Calibri" pitchFamily="34" charset="-120"/>
              </a:rPr>
              <a:t>BLOQUE 4 · FABRIC</a:t>
            </a:r>
            <a:endParaRPr lang="en-US" sz="1660" dirty="0"/>
          </a:p>
        </p:txBody>
      </p:sp>
      <p:sp>
        <p:nvSpPr>
          <p:cNvPr id="4" name="Text 1"/>
          <p:cNvSpPr txBox="1"/>
          <p:nvPr/>
        </p:nvSpPr>
        <p:spPr>
          <a:xfrm>
            <a:off x="1572768" y="1440180"/>
            <a:ext cx="15142464" cy="1072591"/>
          </a:xfrm>
          <a:prstGeom prst="rect">
            <a:avLst/>
          </a:prstGeom>
          <a:noFill/>
          <a:ln/>
        </p:spPr>
        <p:txBody>
          <a:bodyPr wrap="square" lIns="0" tIns="0" rIns="0" bIns="0" rtlCol="0" anchor="ctr"/>
          <a:lstStyle/>
          <a:p>
            <a:pPr algn="l" indent="0" marL="0">
              <a:buNone/>
            </a:pPr>
            <a:r>
              <a:rPr lang="en-US" sz="4690" b="1" dirty="0">
                <a:solidFill>
                  <a:srgbClr val="241028"/>
                </a:solidFill>
                <a:latin typeface="Arial" pitchFamily="34" charset="0"/>
                <a:ea typeface="Arial" pitchFamily="34" charset="-122"/>
                <a:cs typeface="Arial" pitchFamily="34" charset="-120"/>
              </a:rPr>
              <a:t>El template que te llevas puesto</a:t>
            </a:r>
            <a:endParaRPr lang="en-US" sz="4690" dirty="0"/>
          </a:p>
        </p:txBody>
      </p:sp>
      <p:sp>
        <p:nvSpPr>
          <p:cNvPr id="5" name="Shape 2"/>
          <p:cNvSpPr/>
          <p:nvPr/>
        </p:nvSpPr>
        <p:spPr>
          <a:xfrm>
            <a:off x="1572768" y="3080614"/>
            <a:ext cx="7571232" cy="5173675"/>
          </a:xfrm>
          <a:prstGeom prst="roundRect">
            <a:avLst>
              <a:gd name="adj" fmla="val 1944"/>
            </a:avLst>
          </a:prstGeom>
          <a:solidFill>
            <a:srgbClr val="2A0E38"/>
          </a:solidFill>
          <a:ln w="12700">
            <a:solidFill>
              <a:srgbClr val="2A0E38"/>
            </a:solidFill>
            <a:prstDash val="solid"/>
          </a:ln>
        </p:spPr>
      </p:sp>
      <p:sp>
        <p:nvSpPr>
          <p:cNvPr id="6" name="Text 3"/>
          <p:cNvSpPr txBox="1"/>
          <p:nvPr/>
        </p:nvSpPr>
        <p:spPr>
          <a:xfrm>
            <a:off x="1850746" y="3282696"/>
            <a:ext cx="7016191" cy="4769510"/>
          </a:xfrm>
          <a:prstGeom prst="rect">
            <a:avLst/>
          </a:prstGeom>
          <a:noFill/>
          <a:ln/>
        </p:spPr>
        <p:txBody>
          <a:bodyPr wrap="square" lIns="0" tIns="0" rIns="0" bIns="0" rtlCol="0" anchor="t"/>
          <a:lstStyle/>
          <a:p>
            <a:pPr algn="l" indent="0" marL="0">
              <a:lnSpc>
                <a:spcPct val="125000"/>
              </a:lnSpc>
              <a:buNone/>
            </a:pPr>
            <a:r>
              <a:rPr lang="en-US" sz="1660" b="1" dirty="0">
                <a:solidFill>
                  <a:srgbClr val="F59120"/>
                </a:solidFill>
                <a:latin typeface="Courier New" pitchFamily="34" charset="0"/>
                <a:ea typeface="Courier New" pitchFamily="34" charset="-122"/>
                <a:cs typeface="Courier New" pitchFamily="34" charset="-120"/>
              </a:rPr>
              <a:t>fabric-platform/</a:t>
            </a:r>
            <a:endParaRPr lang="en-US" sz="1660" dirty="0"/>
          </a:p>
          <a:p>
            <a:pPr algn="l" indent="0" marL="0">
              <a:lnSpc>
                <a:spcPct val="125000"/>
              </a:lnSpc>
              <a:buNone/>
            </a:pPr>
            <a:r>
              <a:rPr lang="en-US" sz="1660" dirty="0">
                <a:solidFill>
                  <a:srgbClr val="EFE6F2"/>
                </a:solidFill>
                <a:latin typeface="Courier New" pitchFamily="34" charset="0"/>
                <a:ea typeface="Courier New" pitchFamily="34" charset="-122"/>
                <a:cs typeface="Courier New" pitchFamily="34" charset="-120"/>
              </a:rPr>
              <a:t>├── main.tf           # los recursos</a:t>
            </a:r>
            <a:endParaRPr lang="en-US" sz="1660" dirty="0"/>
          </a:p>
          <a:p>
            <a:pPr algn="l" indent="0" marL="0">
              <a:lnSpc>
                <a:spcPct val="125000"/>
              </a:lnSpc>
              <a:buNone/>
            </a:pPr>
            <a:r>
              <a:rPr lang="en-US" sz="1660" dirty="0">
                <a:solidFill>
                  <a:srgbClr val="EFE6F2"/>
                </a:solidFill>
                <a:latin typeface="Courier New" pitchFamily="34" charset="0"/>
                <a:ea typeface="Courier New" pitchFamily="34" charset="-122"/>
                <a:cs typeface="Courier New" pitchFamily="34" charset="-120"/>
              </a:rPr>
              <a:t>├── variables.tf      # las entradas</a:t>
            </a:r>
            <a:endParaRPr lang="en-US" sz="1660" dirty="0"/>
          </a:p>
          <a:p>
            <a:pPr algn="l" indent="0" marL="0">
              <a:lnSpc>
                <a:spcPct val="125000"/>
              </a:lnSpc>
              <a:buNone/>
            </a:pPr>
            <a:r>
              <a:rPr lang="en-US" sz="1660" dirty="0">
                <a:solidFill>
                  <a:srgbClr val="EFE6F2"/>
                </a:solidFill>
                <a:latin typeface="Courier New" pitchFamily="34" charset="0"/>
                <a:ea typeface="Courier New" pitchFamily="34" charset="-122"/>
                <a:cs typeface="Courier New" pitchFamily="34" charset="-120"/>
              </a:rPr>
              <a:t>├── outputs.tf        # las salidas</a:t>
            </a:r>
            <a:endParaRPr lang="en-US" sz="1660" dirty="0"/>
          </a:p>
          <a:p>
            <a:pPr algn="l" indent="0" marL="0">
              <a:lnSpc>
                <a:spcPct val="125000"/>
              </a:lnSpc>
              <a:buNone/>
            </a:pPr>
            <a:r>
              <a:rPr lang="en-US" sz="1660" dirty="0">
                <a:solidFill>
                  <a:srgbClr val="EFE6F2"/>
                </a:solidFill>
                <a:latin typeface="Courier New" pitchFamily="34" charset="0"/>
                <a:ea typeface="Courier New" pitchFamily="34" charset="-122"/>
                <a:cs typeface="Courier New" pitchFamily="34" charset="-120"/>
              </a:rPr>
              <a:t>├── providers.tf      # versiones</a:t>
            </a:r>
            <a:endParaRPr lang="en-US" sz="1660" dirty="0"/>
          </a:p>
          <a:p>
            <a:pPr algn="l" indent="0" marL="0">
              <a:lnSpc>
                <a:spcPct val="125000"/>
              </a:lnSpc>
              <a:buNone/>
            </a:pPr>
            <a:r>
              <a:rPr lang="en-US" sz="1660" dirty="0">
                <a:solidFill>
                  <a:srgbClr val="EFE6F2"/>
                </a:solidFill>
                <a:latin typeface="Courier New" pitchFamily="34" charset="0"/>
                <a:ea typeface="Courier New" pitchFamily="34" charset="-122"/>
                <a:cs typeface="Courier New" pitchFamily="34" charset="-120"/>
              </a:rPr>
              <a:t>├── backend.tf        # estado remoto</a:t>
            </a:r>
            <a:endParaRPr lang="en-US" sz="1660" dirty="0"/>
          </a:p>
          <a:p>
            <a:pPr algn="l" indent="0" marL="0">
              <a:lnSpc>
                <a:spcPct val="125000"/>
              </a:lnSpc>
              <a:buNone/>
            </a:pPr>
            <a:r>
              <a:rPr lang="en-US" sz="1660" b="1" dirty="0">
                <a:solidFill>
                  <a:srgbClr val="F59120"/>
                </a:solidFill>
                <a:latin typeface="Courier New" pitchFamily="34" charset="0"/>
                <a:ea typeface="Courier New" pitchFamily="34" charset="-122"/>
                <a:cs typeface="Courier New" pitchFamily="34" charset="-120"/>
              </a:rPr>
              <a:t>└── envs/</a:t>
            </a:r>
            <a:endParaRPr lang="en-US" sz="1660" dirty="0"/>
          </a:p>
          <a:p>
            <a:pPr algn="l" indent="0" marL="0">
              <a:lnSpc>
                <a:spcPct val="125000"/>
              </a:lnSpc>
              <a:buNone/>
            </a:pPr>
            <a:r>
              <a:rPr lang="en-US" sz="1660" dirty="0">
                <a:solidFill>
                  <a:srgbClr val="8FD9B6"/>
                </a:solidFill>
                <a:latin typeface="Courier New" pitchFamily="34" charset="0"/>
                <a:ea typeface="Courier New" pitchFamily="34" charset="-122"/>
                <a:cs typeface="Courier New" pitchFamily="34" charset="-120"/>
              </a:rPr>
              <a:t>    ├── dev.tfvars</a:t>
            </a:r>
            <a:endParaRPr lang="en-US" sz="1660" dirty="0"/>
          </a:p>
          <a:p>
            <a:pPr algn="l" indent="0" marL="0">
              <a:lnSpc>
                <a:spcPct val="125000"/>
              </a:lnSpc>
              <a:buNone/>
            </a:pPr>
            <a:r>
              <a:rPr lang="en-US" sz="1660" dirty="0">
                <a:solidFill>
                  <a:srgbClr val="8FD9B6"/>
                </a:solidFill>
                <a:latin typeface="Courier New" pitchFamily="34" charset="0"/>
                <a:ea typeface="Courier New" pitchFamily="34" charset="-122"/>
                <a:cs typeface="Courier New" pitchFamily="34" charset="-120"/>
              </a:rPr>
              <a:t>    ├── test.tfvars</a:t>
            </a:r>
            <a:endParaRPr lang="en-US" sz="1660" dirty="0"/>
          </a:p>
          <a:p>
            <a:pPr algn="l" indent="0" marL="0">
              <a:lnSpc>
                <a:spcPct val="125000"/>
              </a:lnSpc>
              <a:buNone/>
            </a:pPr>
            <a:r>
              <a:rPr lang="en-US" sz="1660" dirty="0">
                <a:solidFill>
                  <a:srgbClr val="8FD9B6"/>
                </a:solidFill>
                <a:latin typeface="Courier New" pitchFamily="34" charset="0"/>
                <a:ea typeface="Courier New" pitchFamily="34" charset="-122"/>
                <a:cs typeface="Courier New" pitchFamily="34" charset="-120"/>
              </a:rPr>
              <a:t>    ├── qa.tfvars</a:t>
            </a:r>
            <a:endParaRPr lang="en-US" sz="1660" dirty="0"/>
          </a:p>
          <a:p>
            <a:pPr algn="l" indent="0" marL="0">
              <a:lnSpc>
                <a:spcPct val="125000"/>
              </a:lnSpc>
              <a:buNone/>
            </a:pPr>
            <a:r>
              <a:rPr lang="en-US" sz="1660" dirty="0">
                <a:solidFill>
                  <a:srgbClr val="8FD9B6"/>
                </a:solidFill>
                <a:latin typeface="Courier New" pitchFamily="34" charset="0"/>
                <a:ea typeface="Courier New" pitchFamily="34" charset="-122"/>
                <a:cs typeface="Courier New" pitchFamily="34" charset="-120"/>
              </a:rPr>
              <a:t>    └── pro.tfvars</a:t>
            </a:r>
            <a:endParaRPr lang="en-US" sz="1660" dirty="0"/>
          </a:p>
        </p:txBody>
      </p:sp>
      <p:sp>
        <p:nvSpPr>
          <p:cNvPr id="7" name="Text 4"/>
          <p:cNvSpPr txBox="1"/>
          <p:nvPr/>
        </p:nvSpPr>
        <p:spPr>
          <a:xfrm>
            <a:off x="9711842" y="3143707"/>
            <a:ext cx="7003390" cy="567842"/>
          </a:xfrm>
          <a:prstGeom prst="rect">
            <a:avLst/>
          </a:prstGeom>
          <a:noFill/>
          <a:ln/>
        </p:spPr>
        <p:txBody>
          <a:bodyPr wrap="square" lIns="0" tIns="0" rIns="0" bIns="0" rtlCol="0" anchor="ctr"/>
          <a:lstStyle/>
          <a:p>
            <a:pPr indent="0" marL="0">
              <a:buNone/>
            </a:pPr>
            <a:r>
              <a:rPr lang="en-US" sz="2620" b="1" dirty="0">
                <a:solidFill>
                  <a:srgbClr val="241028"/>
                </a:solidFill>
                <a:latin typeface="Arial" pitchFamily="34" charset="0"/>
                <a:ea typeface="Arial" pitchFamily="34" charset="-122"/>
                <a:cs typeface="Arial" pitchFamily="34" charset="-120"/>
              </a:rPr>
              <a:t>Un solo código. Cuatro ficheros de valores.</a:t>
            </a:r>
            <a:endParaRPr lang="en-US" sz="2620" dirty="0"/>
          </a:p>
        </p:txBody>
      </p:sp>
      <p:sp>
        <p:nvSpPr>
          <p:cNvPr id="8" name="Shape 5"/>
          <p:cNvSpPr/>
          <p:nvPr/>
        </p:nvSpPr>
        <p:spPr>
          <a:xfrm>
            <a:off x="9711842" y="3900830"/>
            <a:ext cx="7003390" cy="1892808"/>
          </a:xfrm>
          <a:prstGeom prst="roundRect">
            <a:avLst>
              <a:gd name="adj" fmla="val 5314"/>
            </a:avLst>
          </a:prstGeom>
          <a:solidFill>
            <a:srgbClr val="2A0E38"/>
          </a:solidFill>
          <a:ln w="12700">
            <a:solidFill>
              <a:srgbClr val="2A0E38"/>
            </a:solidFill>
            <a:prstDash val="solid"/>
          </a:ln>
        </p:spPr>
      </p:sp>
      <p:sp>
        <p:nvSpPr>
          <p:cNvPr id="9" name="Text 6"/>
          <p:cNvSpPr txBox="1"/>
          <p:nvPr/>
        </p:nvSpPr>
        <p:spPr>
          <a:xfrm>
            <a:off x="9989820" y="4102913"/>
            <a:ext cx="6448349" cy="1488643"/>
          </a:xfrm>
          <a:prstGeom prst="rect">
            <a:avLst/>
          </a:prstGeom>
          <a:noFill/>
          <a:ln/>
        </p:spPr>
        <p:txBody>
          <a:bodyPr wrap="square" lIns="0" tIns="0" rIns="0" bIns="0" rtlCol="0" anchor="t"/>
          <a:lstStyle/>
          <a:p>
            <a:pPr algn="l" indent="0" marL="0">
              <a:lnSpc>
                <a:spcPct val="112000"/>
              </a:lnSpc>
              <a:buNone/>
            </a:pPr>
            <a:r>
              <a:rPr lang="en-US" sz="1590" i="1" dirty="0">
                <a:solidFill>
                  <a:srgbClr val="A791AD"/>
                </a:solidFill>
                <a:latin typeface="Courier New" pitchFamily="34" charset="0"/>
                <a:ea typeface="Courier New" pitchFamily="34" charset="-122"/>
                <a:cs typeface="Courier New" pitchFamily="34" charset="-120"/>
              </a:rPr>
              <a:t># envs/dev.tfvars</a:t>
            </a:r>
            <a:endParaRPr lang="en-US" sz="1590" dirty="0"/>
          </a:p>
          <a:p>
            <a:pPr algn="l" indent="0" marL="0">
              <a:lnSpc>
                <a:spcPct val="112000"/>
              </a:lnSpc>
              <a:buNone/>
            </a:pPr>
            <a:r>
              <a:rPr lang="en-US" sz="1590" dirty="0">
                <a:solidFill>
                  <a:srgbClr val="EFE6F2"/>
                </a:solidFill>
                <a:latin typeface="Courier New" pitchFamily="34" charset="0"/>
                <a:ea typeface="Courier New" pitchFamily="34" charset="-122"/>
                <a:cs typeface="Courier New" pitchFamily="34" charset="-120"/>
              </a:rPr>
              <a:t>entorno</a:t>
            </a:r>
            <a:pPr algn="l" indent="0" marL="0">
              <a:lnSpc>
                <a:spcPct val="112000"/>
              </a:lnSpc>
              <a:buNone/>
            </a:pPr>
            <a:r>
              <a:rPr lang="en-US" sz="1590" dirty="0">
                <a:solidFill>
                  <a:srgbClr val="C77BD6"/>
                </a:solidFill>
                <a:latin typeface="Courier New" pitchFamily="34" charset="0"/>
                <a:ea typeface="Courier New" pitchFamily="34" charset="-122"/>
                <a:cs typeface="Courier New" pitchFamily="34" charset="-120"/>
              </a:rPr>
              <a:t>     </a:t>
            </a:r>
            <a:pPr algn="l" indent="0" marL="0">
              <a:lnSpc>
                <a:spcPct val="112000"/>
              </a:lnSpc>
              <a:buNone/>
            </a:pPr>
            <a:r>
              <a:rPr lang="en-US" sz="1590" dirty="0">
                <a:solidFill>
                  <a:srgbClr val="C77BD6"/>
                </a:solidFill>
                <a:latin typeface="Courier New" pitchFamily="34" charset="0"/>
                <a:ea typeface="Courier New" pitchFamily="34" charset="-122"/>
                <a:cs typeface="Courier New" pitchFamily="34" charset="-120"/>
              </a:rPr>
              <a:t>=</a:t>
            </a:r>
            <a:pPr algn="l" indent="0" marL="0">
              <a:lnSpc>
                <a:spcPct val="112000"/>
              </a:lnSpc>
              <a:buNone/>
            </a:pPr>
            <a:r>
              <a:rPr lang="en-US" sz="1590" dirty="0">
                <a:solidFill>
                  <a:srgbClr val="C77BD6"/>
                </a:solidFill>
                <a:latin typeface="Courier New" pitchFamily="34" charset="0"/>
                <a:ea typeface="Courier New" pitchFamily="34" charset="-122"/>
                <a:cs typeface="Courier New" pitchFamily="34" charset="-120"/>
              </a:rPr>
              <a:t> </a:t>
            </a:r>
            <a:pPr algn="l" indent="0" marL="0">
              <a:lnSpc>
                <a:spcPct val="112000"/>
              </a:lnSpc>
              <a:buNone/>
            </a:pPr>
            <a:r>
              <a:rPr lang="en-US" sz="1590" dirty="0">
                <a:solidFill>
                  <a:srgbClr val="8FD9B6"/>
                </a:solidFill>
                <a:latin typeface="Courier New" pitchFamily="34" charset="0"/>
                <a:ea typeface="Courier New" pitchFamily="34" charset="-122"/>
                <a:cs typeface="Courier New" pitchFamily="34" charset="-120"/>
              </a:rPr>
              <a:t>"DEV"</a:t>
            </a:r>
            <a:endParaRPr lang="en-US" sz="1590" dirty="0"/>
          </a:p>
          <a:p>
            <a:pPr algn="l" indent="0" marL="0">
              <a:lnSpc>
                <a:spcPct val="112000"/>
              </a:lnSpc>
              <a:buNone/>
            </a:pPr>
            <a:r>
              <a:rPr lang="en-US" sz="1590" dirty="0">
                <a:solidFill>
                  <a:srgbClr val="EFE6F2"/>
                </a:solidFill>
                <a:latin typeface="Courier New" pitchFamily="34" charset="0"/>
                <a:ea typeface="Courier New" pitchFamily="34" charset="-122"/>
                <a:cs typeface="Courier New" pitchFamily="34" charset="-120"/>
              </a:rPr>
              <a:t>capacity_id</a:t>
            </a:r>
            <a:pPr algn="l" indent="0" marL="0">
              <a:lnSpc>
                <a:spcPct val="112000"/>
              </a:lnSpc>
              <a:buNone/>
            </a:pPr>
            <a:r>
              <a:rPr lang="en-US" sz="1590" dirty="0">
                <a:solidFill>
                  <a:srgbClr val="C77BD6"/>
                </a:solidFill>
                <a:latin typeface="Courier New" pitchFamily="34" charset="0"/>
                <a:ea typeface="Courier New" pitchFamily="34" charset="-122"/>
                <a:cs typeface="Courier New" pitchFamily="34" charset="-120"/>
              </a:rPr>
              <a:t> </a:t>
            </a:r>
            <a:pPr algn="l" indent="0" marL="0">
              <a:lnSpc>
                <a:spcPct val="112000"/>
              </a:lnSpc>
              <a:buNone/>
            </a:pPr>
            <a:r>
              <a:rPr lang="en-US" sz="1590" dirty="0">
                <a:solidFill>
                  <a:srgbClr val="C77BD6"/>
                </a:solidFill>
                <a:latin typeface="Courier New" pitchFamily="34" charset="0"/>
                <a:ea typeface="Courier New" pitchFamily="34" charset="-122"/>
                <a:cs typeface="Courier New" pitchFamily="34" charset="-120"/>
              </a:rPr>
              <a:t>=</a:t>
            </a:r>
            <a:pPr algn="l" indent="0" marL="0">
              <a:lnSpc>
                <a:spcPct val="112000"/>
              </a:lnSpc>
              <a:buNone/>
            </a:pPr>
            <a:r>
              <a:rPr lang="en-US" sz="1590" dirty="0">
                <a:solidFill>
                  <a:srgbClr val="C77BD6"/>
                </a:solidFill>
                <a:latin typeface="Courier New" pitchFamily="34" charset="0"/>
                <a:ea typeface="Courier New" pitchFamily="34" charset="-122"/>
                <a:cs typeface="Courier New" pitchFamily="34" charset="-120"/>
              </a:rPr>
              <a:t> </a:t>
            </a:r>
            <a:pPr algn="l" indent="0" marL="0">
              <a:lnSpc>
                <a:spcPct val="112000"/>
              </a:lnSpc>
              <a:buNone/>
            </a:pPr>
            <a:r>
              <a:rPr lang="en-US" sz="1590" dirty="0">
                <a:solidFill>
                  <a:srgbClr val="8FD9B6"/>
                </a:solidFill>
                <a:latin typeface="Courier New" pitchFamily="34" charset="0"/>
                <a:ea typeface="Courier New" pitchFamily="34" charset="-122"/>
                <a:cs typeface="Courier New" pitchFamily="34" charset="-120"/>
              </a:rPr>
              <a:t>"f1a2b3c4-..."</a:t>
            </a:r>
            <a:endParaRPr lang="en-US" sz="1590" dirty="0"/>
          </a:p>
          <a:p>
            <a:pPr algn="l" indent="0" marL="0">
              <a:lnSpc>
                <a:spcPct val="112000"/>
              </a:lnSpc>
              <a:buNone/>
            </a:pPr>
            <a:r>
              <a:rPr lang="en-US" sz="1590" dirty="0">
                <a:solidFill>
                  <a:srgbClr val="EFE6F2"/>
                </a:solidFill>
                <a:latin typeface="Courier New" pitchFamily="34" charset="0"/>
                <a:ea typeface="Courier New" pitchFamily="34" charset="-122"/>
                <a:cs typeface="Courier New" pitchFamily="34" charset="-120"/>
              </a:rPr>
              <a:t>capas</a:t>
            </a:r>
            <a:pPr algn="l" indent="0" marL="0">
              <a:lnSpc>
                <a:spcPct val="112000"/>
              </a:lnSpc>
              <a:buNone/>
            </a:pPr>
            <a:r>
              <a:rPr lang="en-US" sz="1590" dirty="0">
                <a:solidFill>
                  <a:srgbClr val="C77BD6"/>
                </a:solidFill>
                <a:latin typeface="Courier New" pitchFamily="34" charset="0"/>
                <a:ea typeface="Courier New" pitchFamily="34" charset="-122"/>
                <a:cs typeface="Courier New" pitchFamily="34" charset="-120"/>
              </a:rPr>
              <a:t>       </a:t>
            </a:r>
            <a:pPr algn="l" indent="0" marL="0">
              <a:lnSpc>
                <a:spcPct val="112000"/>
              </a:lnSpc>
              <a:buNone/>
            </a:pPr>
            <a:r>
              <a:rPr lang="en-US" sz="1590" dirty="0">
                <a:solidFill>
                  <a:srgbClr val="C77BD6"/>
                </a:solidFill>
                <a:latin typeface="Courier New" pitchFamily="34" charset="0"/>
                <a:ea typeface="Courier New" pitchFamily="34" charset="-122"/>
                <a:cs typeface="Courier New" pitchFamily="34" charset="-120"/>
              </a:rPr>
              <a:t>=</a:t>
            </a:r>
            <a:pPr algn="l" indent="0" marL="0">
              <a:lnSpc>
                <a:spcPct val="112000"/>
              </a:lnSpc>
              <a:buNone/>
            </a:pPr>
            <a:r>
              <a:rPr lang="en-US" sz="1590" dirty="0">
                <a:solidFill>
                  <a:srgbClr val="C77BD6"/>
                </a:solidFill>
                <a:latin typeface="Courier New" pitchFamily="34" charset="0"/>
                <a:ea typeface="Courier New" pitchFamily="34" charset="-122"/>
                <a:cs typeface="Courier New" pitchFamily="34" charset="-120"/>
              </a:rPr>
              <a:t> </a:t>
            </a:r>
            <a:pPr algn="l" indent="0" marL="0">
              <a:lnSpc>
                <a:spcPct val="112000"/>
              </a:lnSpc>
              <a:buNone/>
            </a:pPr>
            <a:r>
              <a:rPr lang="en-US" sz="1590" dirty="0">
                <a:solidFill>
                  <a:srgbClr val="C77BD6"/>
                </a:solidFill>
                <a:latin typeface="Courier New" pitchFamily="34" charset="0"/>
                <a:ea typeface="Courier New" pitchFamily="34" charset="-122"/>
                <a:cs typeface="Courier New" pitchFamily="34" charset="-120"/>
              </a:rPr>
              <a:t>[</a:t>
            </a:r>
            <a:pPr algn="l" indent="0" marL="0">
              <a:lnSpc>
                <a:spcPct val="112000"/>
              </a:lnSpc>
              <a:buNone/>
            </a:pPr>
            <a:r>
              <a:rPr lang="en-US" sz="1590" dirty="0">
                <a:solidFill>
                  <a:srgbClr val="8FD9B6"/>
                </a:solidFill>
                <a:latin typeface="Courier New" pitchFamily="34" charset="0"/>
                <a:ea typeface="Courier New" pitchFamily="34" charset="-122"/>
                <a:cs typeface="Courier New" pitchFamily="34" charset="-120"/>
              </a:rPr>
              <a:t>"bronze"</a:t>
            </a:r>
            <a:pPr algn="l" indent="0" marL="0">
              <a:lnSpc>
                <a:spcPct val="112000"/>
              </a:lnSpc>
              <a:buNone/>
            </a:pPr>
            <a:r>
              <a:rPr lang="en-US" sz="1590" dirty="0">
                <a:solidFill>
                  <a:srgbClr val="C77BD6"/>
                </a:solidFill>
                <a:latin typeface="Courier New" pitchFamily="34" charset="0"/>
                <a:ea typeface="Courier New" pitchFamily="34" charset="-122"/>
                <a:cs typeface="Courier New" pitchFamily="34" charset="-120"/>
              </a:rPr>
              <a:t>,</a:t>
            </a:r>
            <a:pPr algn="l" indent="0" marL="0">
              <a:lnSpc>
                <a:spcPct val="112000"/>
              </a:lnSpc>
              <a:buNone/>
            </a:pPr>
            <a:r>
              <a:rPr lang="en-US" sz="1590" dirty="0">
                <a:solidFill>
                  <a:srgbClr val="8FD9B6"/>
                </a:solidFill>
                <a:latin typeface="Courier New" pitchFamily="34" charset="0"/>
                <a:ea typeface="Courier New" pitchFamily="34" charset="-122"/>
                <a:cs typeface="Courier New" pitchFamily="34" charset="-120"/>
              </a:rPr>
              <a:t>"silver"</a:t>
            </a:r>
            <a:pPr algn="l" indent="0" marL="0">
              <a:lnSpc>
                <a:spcPct val="112000"/>
              </a:lnSpc>
              <a:buNone/>
            </a:pPr>
            <a:r>
              <a:rPr lang="en-US" sz="1590" dirty="0">
                <a:solidFill>
                  <a:srgbClr val="C77BD6"/>
                </a:solidFill>
                <a:latin typeface="Courier New" pitchFamily="34" charset="0"/>
                <a:ea typeface="Courier New" pitchFamily="34" charset="-122"/>
                <a:cs typeface="Courier New" pitchFamily="34" charset="-120"/>
              </a:rPr>
              <a:t>,</a:t>
            </a:r>
            <a:pPr algn="l" indent="0" marL="0">
              <a:lnSpc>
                <a:spcPct val="112000"/>
              </a:lnSpc>
              <a:buNone/>
            </a:pPr>
            <a:r>
              <a:rPr lang="en-US" sz="1590" dirty="0">
                <a:solidFill>
                  <a:srgbClr val="8FD9B6"/>
                </a:solidFill>
                <a:latin typeface="Courier New" pitchFamily="34" charset="0"/>
                <a:ea typeface="Courier New" pitchFamily="34" charset="-122"/>
                <a:cs typeface="Courier New" pitchFamily="34" charset="-120"/>
              </a:rPr>
              <a:t>"gold"</a:t>
            </a:r>
            <a:pPr algn="l" indent="0" marL="0">
              <a:lnSpc>
                <a:spcPct val="112000"/>
              </a:lnSpc>
              <a:buNone/>
            </a:pPr>
            <a:r>
              <a:rPr lang="en-US" sz="1590" dirty="0">
                <a:solidFill>
                  <a:srgbClr val="C77BD6"/>
                </a:solidFill>
                <a:latin typeface="Courier New" pitchFamily="34" charset="0"/>
                <a:ea typeface="Courier New" pitchFamily="34" charset="-122"/>
                <a:cs typeface="Courier New" pitchFamily="34" charset="-120"/>
              </a:rPr>
              <a:t>]</a:t>
            </a:r>
            <a:endParaRPr lang="en-US" sz="1590" dirty="0"/>
          </a:p>
        </p:txBody>
      </p:sp>
      <p:sp>
        <p:nvSpPr>
          <p:cNvPr id="10" name="Shape 7"/>
          <p:cNvSpPr/>
          <p:nvPr/>
        </p:nvSpPr>
        <p:spPr>
          <a:xfrm>
            <a:off x="9711842" y="6046013"/>
            <a:ext cx="7003390" cy="1451153"/>
          </a:xfrm>
          <a:prstGeom prst="roundRect">
            <a:avLst>
              <a:gd name="adj" fmla="val 6931"/>
            </a:avLst>
          </a:prstGeom>
          <a:solidFill>
            <a:srgbClr val="2A0E38"/>
          </a:solidFill>
          <a:ln w="12700">
            <a:solidFill>
              <a:srgbClr val="2A0E38"/>
            </a:solidFill>
            <a:prstDash val="solid"/>
          </a:ln>
        </p:spPr>
      </p:sp>
      <p:sp>
        <p:nvSpPr>
          <p:cNvPr id="11" name="Text 8"/>
          <p:cNvSpPr txBox="1"/>
          <p:nvPr/>
        </p:nvSpPr>
        <p:spPr>
          <a:xfrm>
            <a:off x="9989820" y="6248095"/>
            <a:ext cx="6448349" cy="1046988"/>
          </a:xfrm>
          <a:prstGeom prst="rect">
            <a:avLst/>
          </a:prstGeom>
          <a:noFill/>
          <a:ln/>
        </p:spPr>
        <p:txBody>
          <a:bodyPr wrap="square" lIns="0" tIns="0" rIns="0" bIns="0" rtlCol="0" anchor="t"/>
          <a:lstStyle/>
          <a:p>
            <a:pPr algn="l" indent="0" marL="0">
              <a:lnSpc>
                <a:spcPct val="115000"/>
              </a:lnSpc>
              <a:buNone/>
            </a:pPr>
            <a:r>
              <a:rPr lang="en-US" sz="1520" b="1" dirty="0">
                <a:solidFill>
                  <a:srgbClr val="FFFFFF"/>
                </a:solidFill>
                <a:latin typeface="Courier New" pitchFamily="34" charset="0"/>
                <a:ea typeface="Courier New" pitchFamily="34" charset="-122"/>
                <a:cs typeface="Courier New" pitchFamily="34" charset="-120"/>
              </a:rPr>
              <a:t>$ terraform apply \</a:t>
            </a:r>
            <a:endParaRPr lang="en-US" sz="1520" dirty="0"/>
          </a:p>
          <a:p>
            <a:pPr algn="l" indent="0" marL="0">
              <a:lnSpc>
                <a:spcPct val="115000"/>
              </a:lnSpc>
              <a:buNone/>
            </a:pPr>
            <a:r>
              <a:rPr lang="en-US" sz="1520" b="1" dirty="0">
                <a:solidFill>
                  <a:srgbClr val="FFFFFF"/>
                </a:solidFill>
                <a:latin typeface="Courier New" pitchFamily="34" charset="0"/>
                <a:ea typeface="Courier New" pitchFamily="34" charset="-122"/>
                <a:cs typeface="Courier New" pitchFamily="34" charset="-120"/>
              </a:rPr>
              <a:t>    -var-file=envs/dev.tfvars</a:t>
            </a:r>
            <a:endParaRPr lang="en-US" sz="1520" dirty="0"/>
          </a:p>
        </p:txBody>
      </p:sp>
      <p:sp>
        <p:nvSpPr>
          <p:cNvPr id="12" name="Text 9"/>
          <p:cNvSpPr txBox="1"/>
          <p:nvPr/>
        </p:nvSpPr>
        <p:spPr>
          <a:xfrm>
            <a:off x="9711842" y="7686446"/>
            <a:ext cx="7003390" cy="883310"/>
          </a:xfrm>
          <a:prstGeom prst="rect">
            <a:avLst/>
          </a:prstGeom>
          <a:noFill/>
          <a:ln/>
        </p:spPr>
        <p:txBody>
          <a:bodyPr wrap="square" lIns="0" tIns="0" rIns="0" bIns="0" rtlCol="0" anchor="t"/>
          <a:lstStyle/>
          <a:p>
            <a:pPr indent="0" marL="0">
              <a:lnSpc>
                <a:spcPct val="110000"/>
              </a:lnSpc>
              <a:buNone/>
            </a:pPr>
            <a:r>
              <a:rPr lang="en-US" sz="1930" i="1" dirty="0">
                <a:solidFill>
                  <a:srgbClr val="692179"/>
                </a:solidFill>
                <a:latin typeface="Calibri" pitchFamily="34" charset="0"/>
                <a:ea typeface="Calibri" pitchFamily="34" charset="-122"/>
                <a:cs typeface="Calibri" pitchFamily="34" charset="-120"/>
              </a:rPr>
              <a:t>Cambias dev por pro y tienes producción. Exactamente igual que dev, por construcción.</a:t>
            </a:r>
            <a:endParaRPr lang="en-US" sz="193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pic>
        <p:nvPicPr>
          <p:cNvPr id="2" name="Image 0" descr="/home/claude/bg-white.jpg">    </p:cNvPr>
          <p:cNvPicPr>
            <a:picLocks noChangeAspect="1"/>
          </p:cNvPicPr>
          <p:nvPr/>
        </p:nvPicPr>
        <p:blipFill>
          <a:blip r:embed="rId1"/>
          <a:stretch>
            <a:fillRect/>
          </a:stretch>
        </p:blipFill>
        <p:spPr>
          <a:xfrm>
            <a:off x="0" y="0"/>
            <a:ext cx="18288000" cy="10287000"/>
          </a:xfrm>
          <a:prstGeom prst="rect">
            <a:avLst/>
          </a:prstGeom>
        </p:spPr>
      </p:pic>
      <p:sp>
        <p:nvSpPr>
          <p:cNvPr id="3" name="Text 0"/>
          <p:cNvSpPr txBox="1"/>
          <p:nvPr/>
        </p:nvSpPr>
        <p:spPr>
          <a:xfrm>
            <a:off x="1572768" y="1024128"/>
            <a:ext cx="15142464" cy="404165"/>
          </a:xfrm>
          <a:prstGeom prst="rect">
            <a:avLst/>
          </a:prstGeom>
          <a:noFill/>
          <a:ln/>
        </p:spPr>
        <p:txBody>
          <a:bodyPr wrap="square" lIns="0" tIns="0" rIns="0" bIns="0" rtlCol="0" anchor="ctr"/>
          <a:lstStyle/>
          <a:p>
            <a:pPr indent="0" marL="0">
              <a:buNone/>
            </a:pPr>
            <a:r>
              <a:rPr lang="en-US" sz="1660" b="1" spc="345" kern="0" dirty="0">
                <a:solidFill>
                  <a:srgbClr val="692179"/>
                </a:solidFill>
                <a:latin typeface="Calibri" pitchFamily="34" charset="0"/>
                <a:ea typeface="Calibri" pitchFamily="34" charset="-122"/>
                <a:cs typeface="Calibri" pitchFamily="34" charset="-120"/>
              </a:rPr>
              <a:t>CIERRE</a:t>
            </a:r>
            <a:endParaRPr lang="en-US" sz="1660" dirty="0"/>
          </a:p>
        </p:txBody>
      </p:sp>
      <p:sp>
        <p:nvSpPr>
          <p:cNvPr id="4" name="Text 1"/>
          <p:cNvSpPr txBox="1"/>
          <p:nvPr/>
        </p:nvSpPr>
        <p:spPr>
          <a:xfrm>
            <a:off x="1572768" y="1440180"/>
            <a:ext cx="15142464" cy="1072591"/>
          </a:xfrm>
          <a:prstGeom prst="rect">
            <a:avLst/>
          </a:prstGeom>
          <a:noFill/>
          <a:ln/>
        </p:spPr>
        <p:txBody>
          <a:bodyPr wrap="square" lIns="0" tIns="0" rIns="0" bIns="0" rtlCol="0" anchor="ctr"/>
          <a:lstStyle/>
          <a:p>
            <a:pPr algn="l" indent="0" marL="0">
              <a:buNone/>
            </a:pPr>
            <a:r>
              <a:rPr lang="en-US" sz="4690" b="1" dirty="0">
                <a:solidFill>
                  <a:srgbClr val="241028"/>
                </a:solidFill>
                <a:latin typeface="Arial" pitchFamily="34" charset="0"/>
                <a:ea typeface="Arial" pitchFamily="34" charset="-122"/>
                <a:cs typeface="Arial" pitchFamily="34" charset="-120"/>
              </a:rPr>
              <a:t>El mismo proyecto, antes y después</a:t>
            </a:r>
            <a:endParaRPr lang="en-US" sz="4690" dirty="0"/>
          </a:p>
        </p:txBody>
      </p:sp>
      <p:sp>
        <p:nvSpPr>
          <p:cNvPr id="5" name="Shape 2"/>
          <p:cNvSpPr/>
          <p:nvPr/>
        </p:nvSpPr>
        <p:spPr>
          <a:xfrm>
            <a:off x="1572768" y="3143707"/>
            <a:ext cx="7381951" cy="4290365"/>
          </a:xfrm>
          <a:prstGeom prst="roundRect">
            <a:avLst>
              <a:gd name="adj" fmla="val 2941"/>
            </a:avLst>
          </a:prstGeom>
          <a:solidFill>
            <a:srgbClr val="FFFFFF"/>
          </a:solidFill>
          <a:ln w="12700">
            <a:solidFill>
              <a:srgbClr val="FFFFFF"/>
            </a:solidFill>
            <a:prstDash val="solid"/>
          </a:ln>
        </p:spPr>
      </p:sp>
      <p:sp>
        <p:nvSpPr>
          <p:cNvPr id="6" name="Text 3"/>
          <p:cNvSpPr txBox="1"/>
          <p:nvPr/>
        </p:nvSpPr>
        <p:spPr>
          <a:xfrm>
            <a:off x="2014423" y="3396082"/>
            <a:ext cx="6498641" cy="567842"/>
          </a:xfrm>
          <a:prstGeom prst="rect">
            <a:avLst/>
          </a:prstGeom>
          <a:noFill/>
          <a:ln/>
        </p:spPr>
        <p:txBody>
          <a:bodyPr wrap="square" lIns="0" tIns="0" rIns="0" bIns="0" rtlCol="0" anchor="ctr"/>
          <a:lstStyle/>
          <a:p>
            <a:pPr indent="0" marL="0">
              <a:buNone/>
            </a:pPr>
            <a:r>
              <a:rPr lang="en-US" sz="2350" b="1" spc="276" kern="0" dirty="0">
                <a:solidFill>
                  <a:srgbClr val="E8553F"/>
                </a:solidFill>
                <a:latin typeface="Arial" pitchFamily="34" charset="0"/>
                <a:ea typeface="Arial" pitchFamily="34" charset="-122"/>
                <a:cs typeface="Arial" pitchFamily="34" charset="-120"/>
              </a:rPr>
              <a:t>ANTES</a:t>
            </a:r>
            <a:endParaRPr lang="en-US" sz="2350" dirty="0"/>
          </a:p>
        </p:txBody>
      </p:sp>
      <p:sp>
        <p:nvSpPr>
          <p:cNvPr id="7" name="Text 4"/>
          <p:cNvSpPr txBox="1"/>
          <p:nvPr/>
        </p:nvSpPr>
        <p:spPr>
          <a:xfrm>
            <a:off x="2014423" y="4153205"/>
            <a:ext cx="6498641" cy="3028493"/>
          </a:xfrm>
          <a:prstGeom prst="rect">
            <a:avLst/>
          </a:prstGeom>
          <a:noFill/>
          <a:ln/>
        </p:spPr>
        <p:txBody>
          <a:bodyPr wrap="square" lIns="0" tIns="0" rIns="0" bIns="0" rtlCol="0" anchor="t"/>
          <a:lstStyle/>
          <a:p>
            <a:pPr marL="342900" indent="-342900">
              <a:lnSpc>
                <a:spcPct val="110000"/>
              </a:lnSpc>
              <a:spcAft>
                <a:spcPts val="1700"/>
              </a:spcAft>
              <a:buSzPct val="100000"/>
              <a:buChar char="•"/>
            </a:pPr>
            <a:r>
              <a:rPr lang="en-US" sz="2070" dirty="0">
                <a:solidFill>
                  <a:srgbClr val="241028"/>
                </a:solidFill>
                <a:latin typeface="Calibri" pitchFamily="34" charset="0"/>
                <a:ea typeface="Calibri" pitchFamily="34" charset="-122"/>
                <a:cs typeface="Calibri" pitchFamily="34" charset="-120"/>
              </a:rPr>
              <a:t>Una tarde de clics por proyecto</a:t>
            </a:r>
            <a:endParaRPr lang="en-US" sz="2070" dirty="0"/>
          </a:p>
          <a:p>
            <a:pPr marL="342900" indent="-342900">
              <a:lnSpc>
                <a:spcPct val="110000"/>
              </a:lnSpc>
              <a:spcAft>
                <a:spcPts val="1700"/>
              </a:spcAft>
              <a:buSzPct val="100000"/>
              <a:buChar char="•"/>
            </a:pPr>
            <a:r>
              <a:rPr lang="en-US" sz="2070" dirty="0">
                <a:solidFill>
                  <a:srgbClr val="241028"/>
                </a:solidFill>
                <a:latin typeface="Calibri" pitchFamily="34" charset="0"/>
                <a:ea typeface="Calibri" pitchFamily="34" charset="-122"/>
                <a:cs typeface="Calibri" pitchFamily="34" charset="-120"/>
              </a:rPr>
              <a:t>Un Word desactualizado como documentación</a:t>
            </a:r>
            <a:endParaRPr lang="en-US" sz="2070" dirty="0"/>
          </a:p>
          <a:p>
            <a:pPr marL="342900" indent="-342900">
              <a:lnSpc>
                <a:spcPct val="110000"/>
              </a:lnSpc>
              <a:spcAft>
                <a:spcPts val="1700"/>
              </a:spcAft>
              <a:buSzPct val="100000"/>
              <a:buChar char="•"/>
            </a:pPr>
            <a:r>
              <a:rPr lang="en-US" sz="2070" dirty="0">
                <a:solidFill>
                  <a:srgbClr val="241028"/>
                </a:solidFill>
                <a:latin typeface="Calibri" pitchFamily="34" charset="0"/>
                <a:ea typeface="Calibri" pitchFamily="34" charset="-122"/>
                <a:cs typeface="Calibri" pitchFamily="34" charset="-120"/>
              </a:rPr>
              <a:t>QA y PRO parecidos, pero no iguales</a:t>
            </a:r>
            <a:endParaRPr lang="en-US" sz="2070" dirty="0"/>
          </a:p>
          <a:p>
            <a:pPr marL="342900" indent="-342900">
              <a:lnSpc>
                <a:spcPct val="110000"/>
              </a:lnSpc>
              <a:spcAft>
                <a:spcPts val="1700"/>
              </a:spcAft>
              <a:buSzPct val="100000"/>
              <a:buChar char="•"/>
            </a:pPr>
            <a:r>
              <a:rPr lang="en-US" sz="2070" dirty="0">
                <a:solidFill>
                  <a:srgbClr val="241028"/>
                </a:solidFill>
                <a:latin typeface="Calibri" pitchFamily="34" charset="0"/>
                <a:ea typeface="Calibri" pitchFamily="34" charset="-122"/>
                <a:cs typeface="Calibri" pitchFamily="34" charset="-120"/>
              </a:rPr>
              <a:t>"¿Quién quitó este rol?" sin respuesta</a:t>
            </a:r>
            <a:endParaRPr lang="en-US" sz="2070" dirty="0"/>
          </a:p>
        </p:txBody>
      </p:sp>
      <p:sp>
        <p:nvSpPr>
          <p:cNvPr id="8" name="Shape 5"/>
          <p:cNvSpPr/>
          <p:nvPr/>
        </p:nvSpPr>
        <p:spPr>
          <a:xfrm>
            <a:off x="9396374" y="3143707"/>
            <a:ext cx="7318858" cy="4290365"/>
          </a:xfrm>
          <a:prstGeom prst="roundRect">
            <a:avLst>
              <a:gd name="adj" fmla="val 2941"/>
            </a:avLst>
          </a:prstGeom>
          <a:solidFill>
            <a:srgbClr val="2A0E33"/>
          </a:solidFill>
          <a:ln w="12700">
            <a:solidFill>
              <a:srgbClr val="2A0E33"/>
            </a:solidFill>
            <a:prstDash val="solid"/>
          </a:ln>
        </p:spPr>
      </p:sp>
      <p:sp>
        <p:nvSpPr>
          <p:cNvPr id="9" name="Text 6"/>
          <p:cNvSpPr txBox="1"/>
          <p:nvPr/>
        </p:nvSpPr>
        <p:spPr>
          <a:xfrm>
            <a:off x="9838030" y="3396082"/>
            <a:ext cx="6435547" cy="567842"/>
          </a:xfrm>
          <a:prstGeom prst="rect">
            <a:avLst/>
          </a:prstGeom>
          <a:noFill/>
          <a:ln/>
        </p:spPr>
        <p:txBody>
          <a:bodyPr wrap="square" lIns="0" tIns="0" rIns="0" bIns="0" rtlCol="0" anchor="ctr"/>
          <a:lstStyle/>
          <a:p>
            <a:pPr indent="0" marL="0">
              <a:buNone/>
            </a:pPr>
            <a:r>
              <a:rPr lang="en-US" sz="2350" b="1" spc="276" kern="0" dirty="0">
                <a:solidFill>
                  <a:srgbClr val="2BB5A0"/>
                </a:solidFill>
                <a:latin typeface="Arial" pitchFamily="34" charset="0"/>
                <a:ea typeface="Arial" pitchFamily="34" charset="-122"/>
                <a:cs typeface="Arial" pitchFamily="34" charset="-120"/>
              </a:rPr>
              <a:t>DESPUÉS</a:t>
            </a:r>
            <a:endParaRPr lang="en-US" sz="2350" dirty="0"/>
          </a:p>
        </p:txBody>
      </p:sp>
      <p:sp>
        <p:nvSpPr>
          <p:cNvPr id="10" name="Text 7"/>
          <p:cNvSpPr txBox="1"/>
          <p:nvPr/>
        </p:nvSpPr>
        <p:spPr>
          <a:xfrm>
            <a:off x="9838030" y="4153205"/>
            <a:ext cx="6435547" cy="3028493"/>
          </a:xfrm>
          <a:prstGeom prst="rect">
            <a:avLst/>
          </a:prstGeom>
          <a:noFill/>
          <a:ln/>
        </p:spPr>
        <p:txBody>
          <a:bodyPr wrap="square" lIns="0" tIns="0" rIns="0" bIns="0" rtlCol="0" anchor="t"/>
          <a:lstStyle/>
          <a:p>
            <a:pPr marL="342900" indent="-342900">
              <a:lnSpc>
                <a:spcPct val="110000"/>
              </a:lnSpc>
              <a:spcAft>
                <a:spcPts val="1700"/>
              </a:spcAft>
              <a:buSzPct val="100000"/>
              <a:buChar char="•"/>
            </a:pPr>
            <a:r>
              <a:rPr lang="en-US" sz="2070" dirty="0">
                <a:solidFill>
                  <a:srgbClr val="EFE6F2"/>
                </a:solidFill>
                <a:latin typeface="Calibri" pitchFamily="34" charset="0"/>
                <a:ea typeface="Calibri" pitchFamily="34" charset="-122"/>
                <a:cs typeface="Calibri" pitchFamily="34" charset="-120"/>
              </a:rPr>
              <a:t>Un apply. Café mientras corre</a:t>
            </a:r>
            <a:endParaRPr lang="en-US" sz="2070" dirty="0"/>
          </a:p>
          <a:p>
            <a:pPr marL="342900" indent="-342900">
              <a:lnSpc>
                <a:spcPct val="110000"/>
              </a:lnSpc>
              <a:spcAft>
                <a:spcPts val="1700"/>
              </a:spcAft>
              <a:buSzPct val="100000"/>
              <a:buChar char="•"/>
            </a:pPr>
            <a:r>
              <a:rPr lang="en-US" sz="2070" dirty="0">
                <a:solidFill>
                  <a:srgbClr val="EFE6F2"/>
                </a:solidFill>
                <a:latin typeface="Calibri" pitchFamily="34" charset="0"/>
                <a:ea typeface="Calibri" pitchFamily="34" charset="-122"/>
                <a:cs typeface="Calibri" pitchFamily="34" charset="-120"/>
              </a:rPr>
              <a:t>El .tf ES la documentación</a:t>
            </a:r>
            <a:endParaRPr lang="en-US" sz="2070" dirty="0"/>
          </a:p>
          <a:p>
            <a:pPr marL="342900" indent="-342900">
              <a:lnSpc>
                <a:spcPct val="110000"/>
              </a:lnSpc>
              <a:spcAft>
                <a:spcPts val="1700"/>
              </a:spcAft>
              <a:buSzPct val="100000"/>
              <a:buChar char="•"/>
            </a:pPr>
            <a:r>
              <a:rPr lang="en-US" sz="2070" dirty="0">
                <a:solidFill>
                  <a:srgbClr val="EFE6F2"/>
                </a:solidFill>
                <a:latin typeface="Calibri" pitchFamily="34" charset="0"/>
                <a:ea typeface="Calibri" pitchFamily="34" charset="-122"/>
                <a:cs typeface="Calibri" pitchFamily="34" charset="-120"/>
              </a:rPr>
              <a:t>Cuatro entornos idénticos por construcción</a:t>
            </a:r>
            <a:endParaRPr lang="en-US" sz="2070" dirty="0"/>
          </a:p>
          <a:p>
            <a:pPr marL="342900" indent="-342900">
              <a:lnSpc>
                <a:spcPct val="110000"/>
              </a:lnSpc>
              <a:spcAft>
                <a:spcPts val="1700"/>
              </a:spcAft>
              <a:buSzPct val="100000"/>
              <a:buChar char="•"/>
            </a:pPr>
            <a:r>
              <a:rPr lang="en-US" sz="2070" dirty="0">
                <a:solidFill>
                  <a:srgbClr val="EFE6F2"/>
                </a:solidFill>
                <a:latin typeface="Calibri" pitchFamily="34" charset="0"/>
                <a:ea typeface="Calibri" pitchFamily="34" charset="-122"/>
                <a:cs typeface="Calibri" pitchFamily="34" charset="-120"/>
              </a:rPr>
              <a:t>git blame contesta en dos segundos</a:t>
            </a:r>
            <a:endParaRPr lang="en-US" sz="2070" dirty="0"/>
          </a:p>
        </p:txBody>
      </p:sp>
      <p:sp>
        <p:nvSpPr>
          <p:cNvPr id="11" name="Shape 8"/>
          <p:cNvSpPr/>
          <p:nvPr/>
        </p:nvSpPr>
        <p:spPr>
          <a:xfrm>
            <a:off x="1572768" y="7749540"/>
            <a:ext cx="15142464" cy="1261872"/>
          </a:xfrm>
          <a:prstGeom prst="roundRect">
            <a:avLst>
              <a:gd name="adj" fmla="val 10000"/>
            </a:avLst>
          </a:prstGeom>
          <a:solidFill>
            <a:srgbClr val="692179"/>
          </a:solidFill>
          <a:ln w="12700">
            <a:solidFill>
              <a:srgbClr val="692179"/>
            </a:solidFill>
            <a:prstDash val="solid"/>
          </a:ln>
        </p:spPr>
      </p:sp>
      <p:sp>
        <p:nvSpPr>
          <p:cNvPr id="12" name="Text 9"/>
          <p:cNvSpPr txBox="1"/>
          <p:nvPr/>
        </p:nvSpPr>
        <p:spPr>
          <a:xfrm>
            <a:off x="2077517" y="7749540"/>
            <a:ext cx="14132966" cy="1261872"/>
          </a:xfrm>
          <a:prstGeom prst="rect">
            <a:avLst/>
          </a:prstGeom>
          <a:noFill/>
          <a:ln/>
        </p:spPr>
        <p:txBody>
          <a:bodyPr wrap="square" lIns="0" tIns="0" rIns="0" bIns="0" rtlCol="0" anchor="ctr"/>
          <a:lstStyle/>
          <a:p>
            <a:pPr indent="0" marL="0">
              <a:buNone/>
            </a:pPr>
            <a:r>
              <a:rPr lang="en-US" sz="2620" b="1" dirty="0">
                <a:solidFill>
                  <a:srgbClr val="FFFFFF"/>
                </a:solidFill>
                <a:latin typeface="Arial" pitchFamily="34" charset="0"/>
                <a:ea typeface="Arial" pitchFamily="34" charset="-122"/>
                <a:cs typeface="Arial" pitchFamily="34" charset="-120"/>
              </a:rPr>
              <a:t>Y el siguiente cliente empieza copiando una carpeta, no abriendo el portal.</a:t>
            </a:r>
            <a:endParaRPr lang="en-US" sz="262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pic>
        <p:nvPicPr>
          <p:cNvPr id="2" name="Image 0" descr="/home/claude/bg-white.jpg">    </p:cNvPr>
          <p:cNvPicPr>
            <a:picLocks noChangeAspect="1"/>
          </p:cNvPicPr>
          <p:nvPr/>
        </p:nvPicPr>
        <p:blipFill>
          <a:blip r:embed="rId1"/>
          <a:stretch>
            <a:fillRect/>
          </a:stretch>
        </p:blipFill>
        <p:spPr>
          <a:xfrm>
            <a:off x="0" y="0"/>
            <a:ext cx="18288000" cy="10287000"/>
          </a:xfrm>
          <a:prstGeom prst="rect">
            <a:avLst/>
          </a:prstGeom>
        </p:spPr>
      </p:pic>
      <p:sp>
        <p:nvSpPr>
          <p:cNvPr id="3" name="Text 0"/>
          <p:cNvSpPr txBox="1"/>
          <p:nvPr/>
        </p:nvSpPr>
        <p:spPr>
          <a:xfrm>
            <a:off x="1572768" y="1024128"/>
            <a:ext cx="15142464" cy="404165"/>
          </a:xfrm>
          <a:prstGeom prst="rect">
            <a:avLst/>
          </a:prstGeom>
          <a:noFill/>
          <a:ln/>
        </p:spPr>
        <p:txBody>
          <a:bodyPr wrap="square" lIns="0" tIns="0" rIns="0" bIns="0" rtlCol="0" anchor="ctr"/>
          <a:lstStyle/>
          <a:p>
            <a:pPr indent="0" marL="0">
              <a:buNone/>
            </a:pPr>
            <a:r>
              <a:rPr lang="en-US" sz="1660" b="1" spc="345" kern="0" dirty="0">
                <a:solidFill>
                  <a:srgbClr val="E8553F"/>
                </a:solidFill>
                <a:latin typeface="Calibri" pitchFamily="34" charset="0"/>
                <a:ea typeface="Calibri" pitchFamily="34" charset="-122"/>
                <a:cs typeface="Calibri" pitchFamily="34" charset="-120"/>
              </a:rPr>
              <a:t>CIERRE</a:t>
            </a:r>
            <a:endParaRPr lang="en-US" sz="1660" dirty="0"/>
          </a:p>
        </p:txBody>
      </p:sp>
      <p:sp>
        <p:nvSpPr>
          <p:cNvPr id="4" name="Text 1"/>
          <p:cNvSpPr txBox="1"/>
          <p:nvPr/>
        </p:nvSpPr>
        <p:spPr>
          <a:xfrm>
            <a:off x="1572768" y="1440180"/>
            <a:ext cx="15142464" cy="1072591"/>
          </a:xfrm>
          <a:prstGeom prst="rect">
            <a:avLst/>
          </a:prstGeom>
          <a:noFill/>
          <a:ln/>
        </p:spPr>
        <p:txBody>
          <a:bodyPr wrap="square" lIns="0" tIns="0" rIns="0" bIns="0" rtlCol="0" anchor="ctr"/>
          <a:lstStyle/>
          <a:p>
            <a:pPr algn="l" indent="0" marL="0">
              <a:buNone/>
            </a:pPr>
            <a:r>
              <a:rPr lang="en-US" sz="4690" b="1" dirty="0">
                <a:solidFill>
                  <a:srgbClr val="241028"/>
                </a:solidFill>
                <a:latin typeface="Arial" pitchFamily="34" charset="0"/>
                <a:ea typeface="Arial" pitchFamily="34" charset="-122"/>
                <a:cs typeface="Arial" pitchFamily="34" charset="-120"/>
              </a:rPr>
              <a:t>Cinco trampas que te vas a encontrar</a:t>
            </a:r>
            <a:endParaRPr lang="en-US" sz="4690" dirty="0"/>
          </a:p>
        </p:txBody>
      </p:sp>
      <p:sp>
        <p:nvSpPr>
          <p:cNvPr id="5" name="Shape 2"/>
          <p:cNvSpPr/>
          <p:nvPr/>
        </p:nvSpPr>
        <p:spPr>
          <a:xfrm>
            <a:off x="1572768" y="3080614"/>
            <a:ext cx="15142464" cy="1035101"/>
          </a:xfrm>
          <a:prstGeom prst="roundRect">
            <a:avLst>
              <a:gd name="adj" fmla="val 12191"/>
            </a:avLst>
          </a:prstGeom>
          <a:solidFill>
            <a:srgbClr val="F5ECF7"/>
          </a:solidFill>
          <a:ln w="12700">
            <a:solidFill>
              <a:srgbClr val="F5ECF7"/>
            </a:solidFill>
            <a:prstDash val="solid"/>
          </a:ln>
        </p:spPr>
      </p:sp>
      <p:sp>
        <p:nvSpPr>
          <p:cNvPr id="6" name="Shape 3"/>
          <p:cNvSpPr/>
          <p:nvPr/>
        </p:nvSpPr>
        <p:spPr>
          <a:xfrm>
            <a:off x="1888236" y="3321101"/>
            <a:ext cx="555041" cy="555041"/>
          </a:xfrm>
          <a:prstGeom prst="ellipse">
            <a:avLst/>
          </a:prstGeom>
          <a:solidFill>
            <a:srgbClr val="E8553F"/>
          </a:solidFill>
          <a:ln w="12700">
            <a:solidFill>
              <a:srgbClr val="E8553F"/>
            </a:solidFill>
            <a:prstDash val="solid"/>
          </a:ln>
        </p:spPr>
      </p:sp>
      <p:sp>
        <p:nvSpPr>
          <p:cNvPr id="7" name="Text 4"/>
          <p:cNvSpPr txBox="1"/>
          <p:nvPr/>
        </p:nvSpPr>
        <p:spPr>
          <a:xfrm>
            <a:off x="1888236" y="3321101"/>
            <a:ext cx="555041" cy="555041"/>
          </a:xfrm>
          <a:prstGeom prst="rect">
            <a:avLst/>
          </a:prstGeom>
          <a:noFill/>
          <a:ln/>
        </p:spPr>
        <p:txBody>
          <a:bodyPr wrap="square" lIns="0" tIns="0" rIns="0" bIns="0" rtlCol="0" anchor="ctr"/>
          <a:lstStyle/>
          <a:p>
            <a:pPr algn="ctr" indent="0" marL="0">
              <a:buNone/>
            </a:pPr>
            <a:r>
              <a:rPr lang="en-US" sz="1930" b="1" dirty="0">
                <a:solidFill>
                  <a:srgbClr val="FFFFFF"/>
                </a:solidFill>
                <a:latin typeface="Arial" pitchFamily="34" charset="0"/>
                <a:ea typeface="Arial" pitchFamily="34" charset="-122"/>
                <a:cs typeface="Arial" pitchFamily="34" charset="-120"/>
              </a:rPr>
              <a:t>1</a:t>
            </a:r>
            <a:endParaRPr lang="en-US" sz="1930" dirty="0"/>
          </a:p>
        </p:txBody>
      </p:sp>
      <p:sp>
        <p:nvSpPr>
          <p:cNvPr id="8" name="Text 5"/>
          <p:cNvSpPr txBox="1"/>
          <p:nvPr/>
        </p:nvSpPr>
        <p:spPr>
          <a:xfrm>
            <a:off x="2682850" y="3206801"/>
            <a:ext cx="13691311" cy="454457"/>
          </a:xfrm>
          <a:prstGeom prst="rect">
            <a:avLst/>
          </a:prstGeom>
          <a:noFill/>
          <a:ln/>
        </p:spPr>
        <p:txBody>
          <a:bodyPr wrap="square" lIns="0" tIns="0" rIns="0" bIns="0" rtlCol="0" anchor="ctr"/>
          <a:lstStyle/>
          <a:p>
            <a:pPr indent="0" marL="0">
              <a:buNone/>
            </a:pPr>
            <a:r>
              <a:rPr lang="en-US" sz="2210" b="1" dirty="0">
                <a:solidFill>
                  <a:srgbClr val="241028"/>
                </a:solidFill>
                <a:latin typeface="Arial" pitchFamily="34" charset="0"/>
                <a:ea typeface="Arial" pitchFamily="34" charset="-122"/>
                <a:cs typeface="Arial" pitchFamily="34" charset="-120"/>
              </a:rPr>
              <a:t>El estado en local</a:t>
            </a:r>
            <a:endParaRPr lang="en-US" sz="2210" dirty="0"/>
          </a:p>
        </p:txBody>
      </p:sp>
      <p:sp>
        <p:nvSpPr>
          <p:cNvPr id="9" name="Text 6"/>
          <p:cNvSpPr txBox="1"/>
          <p:nvPr/>
        </p:nvSpPr>
        <p:spPr>
          <a:xfrm>
            <a:off x="2682850" y="3636569"/>
            <a:ext cx="13691311" cy="378562"/>
          </a:xfrm>
          <a:prstGeom prst="rect">
            <a:avLst/>
          </a:prstGeom>
          <a:noFill/>
          <a:ln/>
        </p:spPr>
        <p:txBody>
          <a:bodyPr wrap="square" lIns="0" tIns="0" rIns="0" bIns="0" rtlCol="0" anchor="t"/>
          <a:lstStyle/>
          <a:p>
            <a:pPr indent="0" marL="0">
              <a:buNone/>
            </a:pPr>
            <a:r>
              <a:rPr lang="en-US" sz="1790" dirty="0">
                <a:solidFill>
                  <a:srgbClr val="6E5C73"/>
                </a:solidFill>
                <a:latin typeface="Calibri" pitchFamily="34" charset="0"/>
                <a:ea typeface="Calibri" pitchFamily="34" charset="-122"/>
                <a:cs typeface="Calibri" pitchFamily="34" charset="-120"/>
              </a:rPr>
              <a:t>Cambias de portátil y Terraform olvida todo lo que había creado.</a:t>
            </a:r>
            <a:endParaRPr lang="en-US" sz="1790" dirty="0"/>
          </a:p>
        </p:txBody>
      </p:sp>
      <p:sp>
        <p:nvSpPr>
          <p:cNvPr id="10" name="Shape 7"/>
          <p:cNvSpPr/>
          <p:nvPr/>
        </p:nvSpPr>
        <p:spPr>
          <a:xfrm>
            <a:off x="1572768" y="4292194"/>
            <a:ext cx="15142464" cy="1035101"/>
          </a:xfrm>
          <a:prstGeom prst="roundRect">
            <a:avLst>
              <a:gd name="adj" fmla="val 12191"/>
            </a:avLst>
          </a:prstGeom>
          <a:solidFill>
            <a:srgbClr val="F5ECF7"/>
          </a:solidFill>
          <a:ln w="12700">
            <a:solidFill>
              <a:srgbClr val="F5ECF7"/>
            </a:solidFill>
            <a:prstDash val="solid"/>
          </a:ln>
        </p:spPr>
      </p:sp>
      <p:sp>
        <p:nvSpPr>
          <p:cNvPr id="11" name="Shape 8"/>
          <p:cNvSpPr/>
          <p:nvPr/>
        </p:nvSpPr>
        <p:spPr>
          <a:xfrm>
            <a:off x="1888236" y="4531766"/>
            <a:ext cx="555041" cy="555041"/>
          </a:xfrm>
          <a:prstGeom prst="ellipse">
            <a:avLst/>
          </a:prstGeom>
          <a:solidFill>
            <a:srgbClr val="E8553F"/>
          </a:solidFill>
          <a:ln w="12700">
            <a:solidFill>
              <a:srgbClr val="E8553F"/>
            </a:solidFill>
            <a:prstDash val="solid"/>
          </a:ln>
        </p:spPr>
      </p:sp>
      <p:sp>
        <p:nvSpPr>
          <p:cNvPr id="12" name="Text 9"/>
          <p:cNvSpPr txBox="1"/>
          <p:nvPr/>
        </p:nvSpPr>
        <p:spPr>
          <a:xfrm>
            <a:off x="1888236" y="4531766"/>
            <a:ext cx="555041" cy="555041"/>
          </a:xfrm>
          <a:prstGeom prst="rect">
            <a:avLst/>
          </a:prstGeom>
          <a:noFill/>
          <a:ln/>
        </p:spPr>
        <p:txBody>
          <a:bodyPr wrap="square" lIns="0" tIns="0" rIns="0" bIns="0" rtlCol="0" anchor="ctr"/>
          <a:lstStyle/>
          <a:p>
            <a:pPr algn="ctr" indent="0" marL="0">
              <a:buNone/>
            </a:pPr>
            <a:r>
              <a:rPr lang="en-US" sz="1930" b="1" dirty="0">
                <a:solidFill>
                  <a:srgbClr val="FFFFFF"/>
                </a:solidFill>
                <a:latin typeface="Arial" pitchFamily="34" charset="0"/>
                <a:ea typeface="Arial" pitchFamily="34" charset="-122"/>
                <a:cs typeface="Arial" pitchFamily="34" charset="-120"/>
              </a:rPr>
              <a:t>2</a:t>
            </a:r>
            <a:endParaRPr lang="en-US" sz="1930" dirty="0"/>
          </a:p>
        </p:txBody>
      </p:sp>
      <p:sp>
        <p:nvSpPr>
          <p:cNvPr id="13" name="Text 10"/>
          <p:cNvSpPr txBox="1"/>
          <p:nvPr/>
        </p:nvSpPr>
        <p:spPr>
          <a:xfrm>
            <a:off x="2682850" y="4418381"/>
            <a:ext cx="13691311" cy="454457"/>
          </a:xfrm>
          <a:prstGeom prst="rect">
            <a:avLst/>
          </a:prstGeom>
          <a:noFill/>
          <a:ln/>
        </p:spPr>
        <p:txBody>
          <a:bodyPr wrap="square" lIns="0" tIns="0" rIns="0" bIns="0" rtlCol="0" anchor="ctr"/>
          <a:lstStyle/>
          <a:p>
            <a:pPr indent="0" marL="0">
              <a:buNone/>
            </a:pPr>
            <a:r>
              <a:rPr lang="en-US" sz="2210" b="1" dirty="0">
                <a:solidFill>
                  <a:srgbClr val="241028"/>
                </a:solidFill>
                <a:latin typeface="Arial" pitchFamily="34" charset="0"/>
                <a:ea typeface="Arial" pitchFamily="34" charset="-122"/>
                <a:cs typeface="Arial" pitchFamily="34" charset="-120"/>
              </a:rPr>
              <a:t>No leer el -/+ del plan</a:t>
            </a:r>
            <a:endParaRPr lang="en-US" sz="2210" dirty="0"/>
          </a:p>
        </p:txBody>
      </p:sp>
      <p:sp>
        <p:nvSpPr>
          <p:cNvPr id="14" name="Text 11"/>
          <p:cNvSpPr txBox="1"/>
          <p:nvPr/>
        </p:nvSpPr>
        <p:spPr>
          <a:xfrm>
            <a:off x="2682850" y="4847234"/>
            <a:ext cx="13691311" cy="378562"/>
          </a:xfrm>
          <a:prstGeom prst="rect">
            <a:avLst/>
          </a:prstGeom>
          <a:noFill/>
          <a:ln/>
        </p:spPr>
        <p:txBody>
          <a:bodyPr wrap="square" lIns="0" tIns="0" rIns="0" bIns="0" rtlCol="0" anchor="t"/>
          <a:lstStyle/>
          <a:p>
            <a:pPr indent="0" marL="0">
              <a:buNone/>
            </a:pPr>
            <a:r>
              <a:rPr lang="en-US" sz="1790" dirty="0">
                <a:solidFill>
                  <a:srgbClr val="6E5C73"/>
                </a:solidFill>
                <a:latin typeface="Calibri" pitchFamily="34" charset="0"/>
                <a:ea typeface="Calibri" pitchFamily="34" charset="-122"/>
                <a:cs typeface="Calibri" pitchFamily="34" charset="-120"/>
              </a:rPr>
              <a:t>Recrear un workspace significa perder lo que hubiera dentro. Lee el plan.</a:t>
            </a:r>
            <a:endParaRPr lang="en-US" sz="1790" dirty="0"/>
          </a:p>
        </p:txBody>
      </p:sp>
      <p:sp>
        <p:nvSpPr>
          <p:cNvPr id="15" name="Shape 12"/>
          <p:cNvSpPr/>
          <p:nvPr/>
        </p:nvSpPr>
        <p:spPr>
          <a:xfrm>
            <a:off x="1572768" y="5503774"/>
            <a:ext cx="15142464" cy="1035101"/>
          </a:xfrm>
          <a:prstGeom prst="roundRect">
            <a:avLst>
              <a:gd name="adj" fmla="val 12191"/>
            </a:avLst>
          </a:prstGeom>
          <a:solidFill>
            <a:srgbClr val="F5ECF7"/>
          </a:solidFill>
          <a:ln w="12700">
            <a:solidFill>
              <a:srgbClr val="F5ECF7"/>
            </a:solidFill>
            <a:prstDash val="solid"/>
          </a:ln>
        </p:spPr>
      </p:sp>
      <p:sp>
        <p:nvSpPr>
          <p:cNvPr id="16" name="Shape 13"/>
          <p:cNvSpPr/>
          <p:nvPr/>
        </p:nvSpPr>
        <p:spPr>
          <a:xfrm>
            <a:off x="1888236" y="5743346"/>
            <a:ext cx="555041" cy="555041"/>
          </a:xfrm>
          <a:prstGeom prst="ellipse">
            <a:avLst/>
          </a:prstGeom>
          <a:solidFill>
            <a:srgbClr val="E8553F"/>
          </a:solidFill>
          <a:ln w="12700">
            <a:solidFill>
              <a:srgbClr val="E8553F"/>
            </a:solidFill>
            <a:prstDash val="solid"/>
          </a:ln>
        </p:spPr>
      </p:sp>
      <p:sp>
        <p:nvSpPr>
          <p:cNvPr id="17" name="Text 14"/>
          <p:cNvSpPr txBox="1"/>
          <p:nvPr/>
        </p:nvSpPr>
        <p:spPr>
          <a:xfrm>
            <a:off x="1888236" y="5743346"/>
            <a:ext cx="555041" cy="555041"/>
          </a:xfrm>
          <a:prstGeom prst="rect">
            <a:avLst/>
          </a:prstGeom>
          <a:noFill/>
          <a:ln/>
        </p:spPr>
        <p:txBody>
          <a:bodyPr wrap="square" lIns="0" tIns="0" rIns="0" bIns="0" rtlCol="0" anchor="ctr"/>
          <a:lstStyle/>
          <a:p>
            <a:pPr algn="ctr" indent="0" marL="0">
              <a:buNone/>
            </a:pPr>
            <a:r>
              <a:rPr lang="en-US" sz="1930" b="1" dirty="0">
                <a:solidFill>
                  <a:srgbClr val="FFFFFF"/>
                </a:solidFill>
                <a:latin typeface="Arial" pitchFamily="34" charset="0"/>
                <a:ea typeface="Arial" pitchFamily="34" charset="-122"/>
                <a:cs typeface="Arial" pitchFamily="34" charset="-120"/>
              </a:rPr>
              <a:t>3</a:t>
            </a:r>
            <a:endParaRPr lang="en-US" sz="1930" dirty="0"/>
          </a:p>
        </p:txBody>
      </p:sp>
      <p:sp>
        <p:nvSpPr>
          <p:cNvPr id="18" name="Text 15"/>
          <p:cNvSpPr txBox="1"/>
          <p:nvPr/>
        </p:nvSpPr>
        <p:spPr>
          <a:xfrm>
            <a:off x="2682850" y="5629961"/>
            <a:ext cx="13691311" cy="454457"/>
          </a:xfrm>
          <a:prstGeom prst="rect">
            <a:avLst/>
          </a:prstGeom>
          <a:noFill/>
          <a:ln/>
        </p:spPr>
        <p:txBody>
          <a:bodyPr wrap="square" lIns="0" tIns="0" rIns="0" bIns="0" rtlCol="0" anchor="ctr"/>
          <a:lstStyle/>
          <a:p>
            <a:pPr indent="0" marL="0">
              <a:buNone/>
            </a:pPr>
            <a:r>
              <a:rPr lang="en-US" sz="2210" b="1" dirty="0">
                <a:solidFill>
                  <a:srgbClr val="241028"/>
                </a:solidFill>
                <a:latin typeface="Arial" pitchFamily="34" charset="0"/>
                <a:ea typeface="Arial" pitchFamily="34" charset="-122"/>
                <a:cs typeface="Arial" pitchFamily="34" charset="-120"/>
              </a:rPr>
              <a:t>Renombrar un recurso en el código</a:t>
            </a:r>
            <a:endParaRPr lang="en-US" sz="2210" dirty="0"/>
          </a:p>
        </p:txBody>
      </p:sp>
      <p:sp>
        <p:nvSpPr>
          <p:cNvPr id="19" name="Text 16"/>
          <p:cNvSpPr txBox="1"/>
          <p:nvPr/>
        </p:nvSpPr>
        <p:spPr>
          <a:xfrm>
            <a:off x="2682850" y="6058814"/>
            <a:ext cx="13691311" cy="378562"/>
          </a:xfrm>
          <a:prstGeom prst="rect">
            <a:avLst/>
          </a:prstGeom>
          <a:noFill/>
          <a:ln/>
        </p:spPr>
        <p:txBody>
          <a:bodyPr wrap="square" lIns="0" tIns="0" rIns="0" bIns="0" rtlCol="0" anchor="t"/>
          <a:lstStyle/>
          <a:p>
            <a:pPr indent="0" marL="0">
              <a:buNone/>
            </a:pPr>
            <a:r>
              <a:rPr lang="en-US" sz="1790" dirty="0">
                <a:solidFill>
                  <a:srgbClr val="6E5C73"/>
                </a:solidFill>
                <a:latin typeface="Calibri" pitchFamily="34" charset="0"/>
                <a:ea typeface="Calibri" pitchFamily="34" charset="-122"/>
                <a:cs typeface="Calibri" pitchFamily="34" charset="-120"/>
              </a:rPr>
              <a:t>Para Terraform es destruir uno y crear otro. Usa el bloque moved.</a:t>
            </a:r>
            <a:endParaRPr lang="en-US" sz="1790" dirty="0"/>
          </a:p>
        </p:txBody>
      </p:sp>
      <p:sp>
        <p:nvSpPr>
          <p:cNvPr id="20" name="Shape 17"/>
          <p:cNvSpPr/>
          <p:nvPr/>
        </p:nvSpPr>
        <p:spPr>
          <a:xfrm>
            <a:off x="1572768" y="6715354"/>
            <a:ext cx="15142464" cy="1035101"/>
          </a:xfrm>
          <a:prstGeom prst="roundRect">
            <a:avLst>
              <a:gd name="adj" fmla="val 12191"/>
            </a:avLst>
          </a:prstGeom>
          <a:solidFill>
            <a:srgbClr val="F5ECF7"/>
          </a:solidFill>
          <a:ln w="12700">
            <a:solidFill>
              <a:srgbClr val="F5ECF7"/>
            </a:solidFill>
            <a:prstDash val="solid"/>
          </a:ln>
        </p:spPr>
      </p:sp>
      <p:sp>
        <p:nvSpPr>
          <p:cNvPr id="21" name="Shape 18"/>
          <p:cNvSpPr/>
          <p:nvPr/>
        </p:nvSpPr>
        <p:spPr>
          <a:xfrm>
            <a:off x="1888236" y="6954926"/>
            <a:ext cx="555041" cy="555041"/>
          </a:xfrm>
          <a:prstGeom prst="ellipse">
            <a:avLst/>
          </a:prstGeom>
          <a:solidFill>
            <a:srgbClr val="E8553F"/>
          </a:solidFill>
          <a:ln w="12700">
            <a:solidFill>
              <a:srgbClr val="E8553F"/>
            </a:solidFill>
            <a:prstDash val="solid"/>
          </a:ln>
        </p:spPr>
      </p:sp>
      <p:sp>
        <p:nvSpPr>
          <p:cNvPr id="22" name="Text 19"/>
          <p:cNvSpPr txBox="1"/>
          <p:nvPr/>
        </p:nvSpPr>
        <p:spPr>
          <a:xfrm>
            <a:off x="1888236" y="6954926"/>
            <a:ext cx="555041" cy="555041"/>
          </a:xfrm>
          <a:prstGeom prst="rect">
            <a:avLst/>
          </a:prstGeom>
          <a:noFill/>
          <a:ln/>
        </p:spPr>
        <p:txBody>
          <a:bodyPr wrap="square" lIns="0" tIns="0" rIns="0" bIns="0" rtlCol="0" anchor="ctr"/>
          <a:lstStyle/>
          <a:p>
            <a:pPr algn="ctr" indent="0" marL="0">
              <a:buNone/>
            </a:pPr>
            <a:r>
              <a:rPr lang="en-US" sz="1930" b="1" dirty="0">
                <a:solidFill>
                  <a:srgbClr val="FFFFFF"/>
                </a:solidFill>
                <a:latin typeface="Arial" pitchFamily="34" charset="0"/>
                <a:ea typeface="Arial" pitchFamily="34" charset="-122"/>
                <a:cs typeface="Arial" pitchFamily="34" charset="-120"/>
              </a:rPr>
              <a:t>4</a:t>
            </a:r>
            <a:endParaRPr lang="en-US" sz="1930" dirty="0"/>
          </a:p>
        </p:txBody>
      </p:sp>
      <p:sp>
        <p:nvSpPr>
          <p:cNvPr id="23" name="Text 20"/>
          <p:cNvSpPr txBox="1"/>
          <p:nvPr/>
        </p:nvSpPr>
        <p:spPr>
          <a:xfrm>
            <a:off x="2682850" y="6841541"/>
            <a:ext cx="13691311" cy="454457"/>
          </a:xfrm>
          <a:prstGeom prst="rect">
            <a:avLst/>
          </a:prstGeom>
          <a:noFill/>
          <a:ln/>
        </p:spPr>
        <p:txBody>
          <a:bodyPr wrap="square" lIns="0" tIns="0" rIns="0" bIns="0" rtlCol="0" anchor="ctr"/>
          <a:lstStyle/>
          <a:p>
            <a:pPr indent="0" marL="0">
              <a:buNone/>
            </a:pPr>
            <a:r>
              <a:rPr lang="en-US" sz="2210" b="1" dirty="0">
                <a:solidFill>
                  <a:srgbClr val="241028"/>
                </a:solidFill>
                <a:latin typeface="Arial" pitchFamily="34" charset="0"/>
                <a:ea typeface="Arial" pitchFamily="34" charset="-122"/>
                <a:cs typeface="Arial" pitchFamily="34" charset="-120"/>
              </a:rPr>
              <a:t>El SPN sin permisos de tenant</a:t>
            </a:r>
            <a:endParaRPr lang="en-US" sz="2210" dirty="0"/>
          </a:p>
        </p:txBody>
      </p:sp>
      <p:sp>
        <p:nvSpPr>
          <p:cNvPr id="24" name="Text 21"/>
          <p:cNvSpPr txBox="1"/>
          <p:nvPr/>
        </p:nvSpPr>
        <p:spPr>
          <a:xfrm>
            <a:off x="2682850" y="7270394"/>
            <a:ext cx="13691311" cy="378562"/>
          </a:xfrm>
          <a:prstGeom prst="rect">
            <a:avLst/>
          </a:prstGeom>
          <a:noFill/>
          <a:ln/>
        </p:spPr>
        <p:txBody>
          <a:bodyPr wrap="square" lIns="0" tIns="0" rIns="0" bIns="0" rtlCol="0" anchor="t"/>
          <a:lstStyle/>
          <a:p>
            <a:pPr indent="0" marL="0">
              <a:buNone/>
            </a:pPr>
            <a:r>
              <a:rPr lang="en-US" sz="1790" dirty="0">
                <a:solidFill>
                  <a:srgbClr val="6E5C73"/>
                </a:solidFill>
                <a:latin typeface="Calibri" pitchFamily="34" charset="0"/>
                <a:ea typeface="Calibri" pitchFamily="34" charset="-122"/>
                <a:cs typeface="Calibri" pitchFamily="34" charset="-120"/>
              </a:rPr>
              <a:t>Errores 401 que no explican nada. Revisa los ajustes de administración.</a:t>
            </a:r>
            <a:endParaRPr lang="en-US" sz="1790" dirty="0"/>
          </a:p>
        </p:txBody>
      </p:sp>
      <p:sp>
        <p:nvSpPr>
          <p:cNvPr id="25" name="Shape 22"/>
          <p:cNvSpPr/>
          <p:nvPr/>
        </p:nvSpPr>
        <p:spPr>
          <a:xfrm>
            <a:off x="1572768" y="7926934"/>
            <a:ext cx="15142464" cy="1035101"/>
          </a:xfrm>
          <a:prstGeom prst="roundRect">
            <a:avLst>
              <a:gd name="adj" fmla="val 12191"/>
            </a:avLst>
          </a:prstGeom>
          <a:solidFill>
            <a:srgbClr val="F5ECF7"/>
          </a:solidFill>
          <a:ln w="12700">
            <a:solidFill>
              <a:srgbClr val="F5ECF7"/>
            </a:solidFill>
            <a:prstDash val="solid"/>
          </a:ln>
        </p:spPr>
      </p:sp>
      <p:sp>
        <p:nvSpPr>
          <p:cNvPr id="26" name="Shape 23"/>
          <p:cNvSpPr/>
          <p:nvPr/>
        </p:nvSpPr>
        <p:spPr>
          <a:xfrm>
            <a:off x="1888236" y="8166506"/>
            <a:ext cx="555041" cy="555041"/>
          </a:xfrm>
          <a:prstGeom prst="ellipse">
            <a:avLst/>
          </a:prstGeom>
          <a:solidFill>
            <a:srgbClr val="E8553F"/>
          </a:solidFill>
          <a:ln w="12700">
            <a:solidFill>
              <a:srgbClr val="E8553F"/>
            </a:solidFill>
            <a:prstDash val="solid"/>
          </a:ln>
        </p:spPr>
      </p:sp>
      <p:sp>
        <p:nvSpPr>
          <p:cNvPr id="27" name="Text 24"/>
          <p:cNvSpPr txBox="1"/>
          <p:nvPr/>
        </p:nvSpPr>
        <p:spPr>
          <a:xfrm>
            <a:off x="1888236" y="8166506"/>
            <a:ext cx="555041" cy="555041"/>
          </a:xfrm>
          <a:prstGeom prst="rect">
            <a:avLst/>
          </a:prstGeom>
          <a:noFill/>
          <a:ln/>
        </p:spPr>
        <p:txBody>
          <a:bodyPr wrap="square" lIns="0" tIns="0" rIns="0" bIns="0" rtlCol="0" anchor="ctr"/>
          <a:lstStyle/>
          <a:p>
            <a:pPr algn="ctr" indent="0" marL="0">
              <a:buNone/>
            </a:pPr>
            <a:r>
              <a:rPr lang="en-US" sz="1930" b="1" dirty="0">
                <a:solidFill>
                  <a:srgbClr val="FFFFFF"/>
                </a:solidFill>
                <a:latin typeface="Arial" pitchFamily="34" charset="0"/>
                <a:ea typeface="Arial" pitchFamily="34" charset="-122"/>
                <a:cs typeface="Arial" pitchFamily="34" charset="-120"/>
              </a:rPr>
              <a:t>5</a:t>
            </a:r>
            <a:endParaRPr lang="en-US" sz="1930" dirty="0"/>
          </a:p>
        </p:txBody>
      </p:sp>
      <p:sp>
        <p:nvSpPr>
          <p:cNvPr id="28" name="Text 25"/>
          <p:cNvSpPr txBox="1"/>
          <p:nvPr/>
        </p:nvSpPr>
        <p:spPr>
          <a:xfrm>
            <a:off x="2682850" y="8053121"/>
            <a:ext cx="13691311" cy="454457"/>
          </a:xfrm>
          <a:prstGeom prst="rect">
            <a:avLst/>
          </a:prstGeom>
          <a:noFill/>
          <a:ln/>
        </p:spPr>
        <p:txBody>
          <a:bodyPr wrap="square" lIns="0" tIns="0" rIns="0" bIns="0" rtlCol="0" anchor="ctr"/>
          <a:lstStyle/>
          <a:p>
            <a:pPr indent="0" marL="0">
              <a:buNone/>
            </a:pPr>
            <a:r>
              <a:rPr lang="en-US" sz="2210" b="1" dirty="0">
                <a:solidFill>
                  <a:srgbClr val="241028"/>
                </a:solidFill>
                <a:latin typeface="Arial" pitchFamily="34" charset="0"/>
                <a:ea typeface="Arial" pitchFamily="34" charset="-122"/>
                <a:cs typeface="Arial" pitchFamily="34" charset="-120"/>
              </a:rPr>
              <a:t>Olvidar preview = true</a:t>
            </a:r>
            <a:endParaRPr lang="en-US" sz="2210" dirty="0"/>
          </a:p>
        </p:txBody>
      </p:sp>
      <p:sp>
        <p:nvSpPr>
          <p:cNvPr id="29" name="Text 26"/>
          <p:cNvSpPr txBox="1"/>
          <p:nvPr/>
        </p:nvSpPr>
        <p:spPr>
          <a:xfrm>
            <a:off x="2682850" y="8481974"/>
            <a:ext cx="13691311" cy="378562"/>
          </a:xfrm>
          <a:prstGeom prst="rect">
            <a:avLst/>
          </a:prstGeom>
          <a:noFill/>
          <a:ln/>
        </p:spPr>
        <p:txBody>
          <a:bodyPr wrap="square" lIns="0" tIns="0" rIns="0" bIns="0" rtlCol="0" anchor="t"/>
          <a:lstStyle/>
          <a:p>
            <a:pPr indent="0" marL="0">
              <a:buNone/>
            </a:pPr>
            <a:r>
              <a:rPr lang="en-US" sz="1790" dirty="0">
                <a:solidFill>
                  <a:srgbClr val="6E5C73"/>
                </a:solidFill>
                <a:latin typeface="Calibri" pitchFamily="34" charset="0"/>
                <a:ea typeface="Calibri" pitchFamily="34" charset="-122"/>
                <a:cs typeface="Calibri" pitchFamily="34" charset="-120"/>
              </a:rPr>
              <a:t>Los recursos en vista previa fallan o no hacen nada sin ese flag.</a:t>
            </a:r>
            <a:endParaRPr lang="en-US" sz="179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pic>
        <p:nvPicPr>
          <p:cNvPr id="2" name="Image 0" descr="/home/claude/bg-dark.jpg">    </p:cNvPr>
          <p:cNvPicPr>
            <a:picLocks noChangeAspect="1"/>
          </p:cNvPicPr>
          <p:nvPr/>
        </p:nvPicPr>
        <p:blipFill>
          <a:blip r:embed="rId1"/>
          <a:stretch>
            <a:fillRect/>
          </a:stretch>
        </p:blipFill>
        <p:spPr>
          <a:xfrm>
            <a:off x="0" y="0"/>
            <a:ext cx="18288000" cy="10287000"/>
          </a:xfrm>
          <a:prstGeom prst="rect">
            <a:avLst/>
          </a:prstGeom>
        </p:spPr>
      </p:pic>
      <p:sp>
        <p:nvSpPr>
          <p:cNvPr id="3" name="Text 0"/>
          <p:cNvSpPr txBox="1"/>
          <p:nvPr/>
        </p:nvSpPr>
        <p:spPr>
          <a:xfrm>
            <a:off x="1572768" y="1024128"/>
            <a:ext cx="15142464" cy="404165"/>
          </a:xfrm>
          <a:prstGeom prst="rect">
            <a:avLst/>
          </a:prstGeom>
          <a:noFill/>
          <a:ln/>
        </p:spPr>
        <p:txBody>
          <a:bodyPr wrap="square" lIns="0" tIns="0" rIns="0" bIns="0" rtlCol="0" anchor="ctr"/>
          <a:lstStyle/>
          <a:p>
            <a:pPr indent="0" marL="0">
              <a:buNone/>
            </a:pPr>
            <a:r>
              <a:rPr lang="en-US" sz="1660" b="1" spc="345" kern="0" dirty="0">
                <a:solidFill>
                  <a:srgbClr val="F59120"/>
                </a:solidFill>
                <a:latin typeface="Calibri" pitchFamily="34" charset="0"/>
                <a:ea typeface="Calibri" pitchFamily="34" charset="-122"/>
                <a:cs typeface="Calibri" pitchFamily="34" charset="-120"/>
              </a:rPr>
              <a:t>CIERRE</a:t>
            </a:r>
            <a:endParaRPr lang="en-US" sz="1660" dirty="0"/>
          </a:p>
        </p:txBody>
      </p:sp>
      <p:sp>
        <p:nvSpPr>
          <p:cNvPr id="4" name="Text 1"/>
          <p:cNvSpPr txBox="1"/>
          <p:nvPr/>
        </p:nvSpPr>
        <p:spPr>
          <a:xfrm>
            <a:off x="1572768" y="1440180"/>
            <a:ext cx="15142464" cy="1072591"/>
          </a:xfrm>
          <a:prstGeom prst="rect">
            <a:avLst/>
          </a:prstGeom>
          <a:noFill/>
          <a:ln/>
        </p:spPr>
        <p:txBody>
          <a:bodyPr wrap="square" lIns="0" tIns="0" rIns="0" bIns="0" rtlCol="0" anchor="ctr"/>
          <a:lstStyle/>
          <a:p>
            <a:pPr algn="l" indent="0" marL="0">
              <a:buNone/>
            </a:pPr>
            <a:r>
              <a:rPr lang="en-US" sz="4690" b="1" dirty="0">
                <a:solidFill>
                  <a:srgbClr val="FFFFFF"/>
                </a:solidFill>
                <a:latin typeface="Arial" pitchFamily="34" charset="0"/>
                <a:ea typeface="Arial" pitchFamily="34" charset="-122"/>
                <a:cs typeface="Arial" pitchFamily="34" charset="-120"/>
              </a:rPr>
              <a:t>Terraform crea el continente, no el contenido</a:t>
            </a:r>
            <a:endParaRPr lang="en-US" sz="4690" dirty="0"/>
          </a:p>
        </p:txBody>
      </p:sp>
      <p:sp>
        <p:nvSpPr>
          <p:cNvPr id="5" name="Shape 2"/>
          <p:cNvSpPr/>
          <p:nvPr/>
        </p:nvSpPr>
        <p:spPr>
          <a:xfrm>
            <a:off x="1572768" y="3206801"/>
            <a:ext cx="7381951" cy="4037990"/>
          </a:xfrm>
          <a:prstGeom prst="roundRect">
            <a:avLst>
              <a:gd name="adj" fmla="val 3125"/>
            </a:avLst>
          </a:prstGeom>
          <a:solidFill>
            <a:srgbClr val="692179"/>
          </a:solidFill>
          <a:ln w="12700">
            <a:solidFill>
              <a:srgbClr val="692179"/>
            </a:solidFill>
            <a:prstDash val="solid"/>
          </a:ln>
        </p:spPr>
      </p:sp>
      <p:sp>
        <p:nvSpPr>
          <p:cNvPr id="6" name="Text 3"/>
          <p:cNvSpPr txBox="1"/>
          <p:nvPr/>
        </p:nvSpPr>
        <p:spPr>
          <a:xfrm>
            <a:off x="2014423" y="3459175"/>
            <a:ext cx="6498641" cy="567842"/>
          </a:xfrm>
          <a:prstGeom prst="rect">
            <a:avLst/>
          </a:prstGeom>
          <a:noFill/>
          <a:ln/>
        </p:spPr>
        <p:txBody>
          <a:bodyPr wrap="square" lIns="0" tIns="0" rIns="0" bIns="0" rtlCol="0" anchor="ctr"/>
          <a:lstStyle/>
          <a:p>
            <a:pPr indent="0" marL="0">
              <a:buNone/>
            </a:pPr>
            <a:r>
              <a:rPr lang="en-US" sz="2620" b="1" dirty="0">
                <a:solidFill>
                  <a:srgbClr val="FFFFFF"/>
                </a:solidFill>
                <a:latin typeface="Arial" pitchFamily="34" charset="0"/>
                <a:ea typeface="Arial" pitchFamily="34" charset="-122"/>
                <a:cs typeface="Arial" pitchFamily="34" charset="-120"/>
              </a:rPr>
              <a:t>Terraform</a:t>
            </a:r>
            <a:endParaRPr lang="en-US" sz="2620" dirty="0"/>
          </a:p>
        </p:txBody>
      </p:sp>
      <p:sp>
        <p:nvSpPr>
          <p:cNvPr id="7" name="Text 4"/>
          <p:cNvSpPr txBox="1"/>
          <p:nvPr/>
        </p:nvSpPr>
        <p:spPr>
          <a:xfrm>
            <a:off x="2014423" y="4153205"/>
            <a:ext cx="6498641" cy="2776118"/>
          </a:xfrm>
          <a:prstGeom prst="rect">
            <a:avLst/>
          </a:prstGeom>
          <a:noFill/>
          <a:ln/>
        </p:spPr>
        <p:txBody>
          <a:bodyPr wrap="square" lIns="0" tIns="0" rIns="0" bIns="0" rtlCol="0" anchor="t"/>
          <a:lstStyle/>
          <a:p>
            <a:pPr marL="342900" indent="-342900">
              <a:spcAft>
                <a:spcPts val="1500"/>
              </a:spcAft>
              <a:buSzPct val="100000"/>
              <a:buChar char="•"/>
            </a:pPr>
            <a:r>
              <a:rPr lang="en-US" sz="2070" dirty="0">
                <a:solidFill>
                  <a:srgbClr val="FFFFFF"/>
                </a:solidFill>
                <a:latin typeface="Calibri" pitchFamily="34" charset="0"/>
                <a:ea typeface="Calibri" pitchFamily="34" charset="-122"/>
                <a:cs typeface="Calibri" pitchFamily="34" charset="-120"/>
              </a:rPr>
              <a:t>Workspaces y capacities</a:t>
            </a:r>
            <a:endParaRPr lang="en-US" sz="2070" dirty="0"/>
          </a:p>
          <a:p>
            <a:pPr marL="342900" indent="-342900">
              <a:spcAft>
                <a:spcPts val="1500"/>
              </a:spcAft>
              <a:buSzPct val="100000"/>
              <a:buChar char="•"/>
            </a:pPr>
            <a:r>
              <a:rPr lang="en-US" sz="2070" dirty="0">
                <a:solidFill>
                  <a:srgbClr val="FFFFFF"/>
                </a:solidFill>
                <a:latin typeface="Calibri" pitchFamily="34" charset="0"/>
                <a:ea typeface="Calibri" pitchFamily="34" charset="-122"/>
                <a:cs typeface="Calibri" pitchFamily="34" charset="-120"/>
              </a:rPr>
              <a:t>Roles y security groups</a:t>
            </a:r>
            <a:endParaRPr lang="en-US" sz="2070" dirty="0"/>
          </a:p>
          <a:p>
            <a:pPr marL="342900" indent="-342900">
              <a:spcAft>
                <a:spcPts val="1500"/>
              </a:spcAft>
              <a:buSzPct val="100000"/>
              <a:buChar char="•"/>
            </a:pPr>
            <a:r>
              <a:rPr lang="en-US" sz="2070" dirty="0">
                <a:solidFill>
                  <a:srgbClr val="FFFFFF"/>
                </a:solidFill>
                <a:latin typeface="Calibri" pitchFamily="34" charset="0"/>
                <a:ea typeface="Calibri" pitchFamily="34" charset="-122"/>
                <a:cs typeface="Calibri" pitchFamily="34" charset="-120"/>
              </a:rPr>
              <a:t>Estructura de carpetas y dominios</a:t>
            </a:r>
            <a:endParaRPr lang="en-US" sz="2070" dirty="0"/>
          </a:p>
          <a:p>
            <a:pPr marL="342900" indent="-342900">
              <a:spcAft>
                <a:spcPts val="1500"/>
              </a:spcAft>
              <a:buSzPct val="100000"/>
              <a:buChar char="•"/>
            </a:pPr>
            <a:r>
              <a:rPr lang="en-US" sz="2070" dirty="0">
                <a:solidFill>
                  <a:srgbClr val="FFFFFF"/>
                </a:solidFill>
                <a:latin typeface="Calibri" pitchFamily="34" charset="0"/>
                <a:ea typeface="Calibri" pitchFamily="34" charset="-122"/>
                <a:cs typeface="Calibri" pitchFamily="34" charset="-120"/>
              </a:rPr>
              <a:t>Conexión del workspace con git</a:t>
            </a:r>
            <a:endParaRPr lang="en-US" sz="2070" dirty="0"/>
          </a:p>
        </p:txBody>
      </p:sp>
      <p:sp>
        <p:nvSpPr>
          <p:cNvPr id="8" name="Shape 5"/>
          <p:cNvSpPr/>
          <p:nvPr/>
        </p:nvSpPr>
        <p:spPr>
          <a:xfrm>
            <a:off x="9396374" y="3206801"/>
            <a:ext cx="7318858" cy="4037990"/>
          </a:xfrm>
          <a:prstGeom prst="roundRect">
            <a:avLst>
              <a:gd name="adj" fmla="val 3125"/>
            </a:avLst>
          </a:prstGeom>
          <a:solidFill>
            <a:srgbClr val="1E0A2B"/>
          </a:solidFill>
          <a:ln w="12700">
            <a:solidFill>
              <a:srgbClr val="1E0A2B"/>
            </a:solidFill>
            <a:prstDash val="solid"/>
          </a:ln>
        </p:spPr>
      </p:sp>
      <p:sp>
        <p:nvSpPr>
          <p:cNvPr id="9" name="Text 6"/>
          <p:cNvSpPr txBox="1"/>
          <p:nvPr/>
        </p:nvSpPr>
        <p:spPr>
          <a:xfrm>
            <a:off x="9838030" y="3459175"/>
            <a:ext cx="6435547" cy="567842"/>
          </a:xfrm>
          <a:prstGeom prst="rect">
            <a:avLst/>
          </a:prstGeom>
          <a:noFill/>
          <a:ln/>
        </p:spPr>
        <p:txBody>
          <a:bodyPr wrap="square" lIns="0" tIns="0" rIns="0" bIns="0" rtlCol="0" anchor="ctr"/>
          <a:lstStyle/>
          <a:p>
            <a:pPr indent="0" marL="0">
              <a:buNone/>
            </a:pPr>
            <a:r>
              <a:rPr lang="en-US" sz="2210" b="1" dirty="0">
                <a:solidFill>
                  <a:srgbClr val="2BB5A0"/>
                </a:solidFill>
                <a:latin typeface="Arial" pitchFamily="34" charset="0"/>
                <a:ea typeface="Arial" pitchFamily="34" charset="-122"/>
                <a:cs typeface="Arial" pitchFamily="34" charset="-120"/>
              </a:rPr>
              <a:t>fabric-cicd, deployment pipelines, git</a:t>
            </a:r>
            <a:endParaRPr lang="en-US" sz="2210" dirty="0"/>
          </a:p>
        </p:txBody>
      </p:sp>
      <p:sp>
        <p:nvSpPr>
          <p:cNvPr id="10" name="Text 7"/>
          <p:cNvSpPr txBox="1"/>
          <p:nvPr/>
        </p:nvSpPr>
        <p:spPr>
          <a:xfrm>
            <a:off x="9838030" y="4153205"/>
            <a:ext cx="6435547" cy="2776118"/>
          </a:xfrm>
          <a:prstGeom prst="rect">
            <a:avLst/>
          </a:prstGeom>
          <a:noFill/>
          <a:ln/>
        </p:spPr>
        <p:txBody>
          <a:bodyPr wrap="square" lIns="0" tIns="0" rIns="0" bIns="0" rtlCol="0" anchor="t"/>
          <a:lstStyle/>
          <a:p>
            <a:pPr marL="342900" indent="-342900">
              <a:spcAft>
                <a:spcPts val="1500"/>
              </a:spcAft>
              <a:buSzPct val="100000"/>
              <a:buChar char="•"/>
            </a:pPr>
            <a:r>
              <a:rPr lang="en-US" sz="2070" dirty="0">
                <a:solidFill>
                  <a:srgbClr val="EFE6F2"/>
                </a:solidFill>
                <a:latin typeface="Calibri" pitchFamily="34" charset="0"/>
                <a:ea typeface="Calibri" pitchFamily="34" charset="-122"/>
                <a:cs typeface="Calibri" pitchFamily="34" charset="-120"/>
              </a:rPr>
              <a:t>Notebooks y su código</a:t>
            </a:r>
            <a:endParaRPr lang="en-US" sz="2070" dirty="0"/>
          </a:p>
          <a:p>
            <a:pPr marL="342900" indent="-342900">
              <a:spcAft>
                <a:spcPts val="1500"/>
              </a:spcAft>
              <a:buSzPct val="100000"/>
              <a:buChar char="•"/>
            </a:pPr>
            <a:r>
              <a:rPr lang="en-US" sz="2070" dirty="0">
                <a:solidFill>
                  <a:srgbClr val="EFE6F2"/>
                </a:solidFill>
                <a:latin typeface="Calibri" pitchFamily="34" charset="0"/>
                <a:ea typeface="Calibri" pitchFamily="34" charset="-122"/>
                <a:cs typeface="Calibri" pitchFamily="34" charset="-120"/>
              </a:rPr>
              <a:t>Modelos semánticos e informes</a:t>
            </a:r>
            <a:endParaRPr lang="en-US" sz="2070" dirty="0"/>
          </a:p>
          <a:p>
            <a:pPr marL="342900" indent="-342900">
              <a:spcAft>
                <a:spcPts val="1500"/>
              </a:spcAft>
              <a:buSzPct val="100000"/>
              <a:buChar char="•"/>
            </a:pPr>
            <a:r>
              <a:rPr lang="en-US" sz="2070" dirty="0">
                <a:solidFill>
                  <a:srgbClr val="EFE6F2"/>
                </a:solidFill>
                <a:latin typeface="Calibri" pitchFamily="34" charset="0"/>
                <a:ea typeface="Calibri" pitchFamily="34" charset="-122"/>
                <a:cs typeface="Calibri" pitchFamily="34" charset="-120"/>
              </a:rPr>
              <a:t>Pipelines de datos</a:t>
            </a:r>
            <a:endParaRPr lang="en-US" sz="2070" dirty="0"/>
          </a:p>
          <a:p>
            <a:pPr marL="342900" indent="-342900">
              <a:spcAft>
                <a:spcPts val="1500"/>
              </a:spcAft>
              <a:buSzPct val="100000"/>
              <a:buChar char="•"/>
            </a:pPr>
            <a:r>
              <a:rPr lang="en-US" sz="2070" dirty="0">
                <a:solidFill>
                  <a:srgbClr val="EFE6F2"/>
                </a:solidFill>
                <a:latin typeface="Calibri" pitchFamily="34" charset="0"/>
                <a:ea typeface="Calibri" pitchFamily="34" charset="-122"/>
                <a:cs typeface="Calibri" pitchFamily="34" charset="-120"/>
              </a:rPr>
              <a:t>Promoción de contenido entre entornos</a:t>
            </a:r>
            <a:endParaRPr lang="en-US" sz="2070" dirty="0"/>
          </a:p>
        </p:txBody>
      </p:sp>
      <p:sp>
        <p:nvSpPr>
          <p:cNvPr id="11" name="Shape 8"/>
          <p:cNvSpPr/>
          <p:nvPr/>
        </p:nvSpPr>
        <p:spPr>
          <a:xfrm>
            <a:off x="1572768" y="7560259"/>
            <a:ext cx="15142464" cy="1261872"/>
          </a:xfrm>
          <a:prstGeom prst="roundRect">
            <a:avLst>
              <a:gd name="adj" fmla="val 10000"/>
            </a:avLst>
          </a:prstGeom>
          <a:solidFill>
            <a:srgbClr val="F59120"/>
          </a:solidFill>
          <a:ln w="12700">
            <a:solidFill>
              <a:srgbClr val="F59120"/>
            </a:solidFill>
            <a:prstDash val="solid"/>
          </a:ln>
        </p:spPr>
      </p:sp>
      <p:sp>
        <p:nvSpPr>
          <p:cNvPr id="12" name="Text 9"/>
          <p:cNvSpPr txBox="1"/>
          <p:nvPr/>
        </p:nvSpPr>
        <p:spPr>
          <a:xfrm>
            <a:off x="2077517" y="7560259"/>
            <a:ext cx="14132966" cy="1261872"/>
          </a:xfrm>
          <a:prstGeom prst="rect">
            <a:avLst/>
          </a:prstGeom>
          <a:noFill/>
          <a:ln/>
        </p:spPr>
        <p:txBody>
          <a:bodyPr wrap="square" lIns="0" tIns="0" rIns="0" bIns="0" rtlCol="0" anchor="ctr"/>
          <a:lstStyle/>
          <a:p>
            <a:pPr indent="0" marL="0">
              <a:buNone/>
            </a:pPr>
            <a:r>
              <a:rPr lang="en-US" sz="2620" b="1" dirty="0">
                <a:solidFill>
                  <a:srgbClr val="2A0E33"/>
                </a:solidFill>
                <a:latin typeface="Arial" pitchFamily="34" charset="0"/>
                <a:ea typeface="Arial" pitchFamily="34" charset="-122"/>
                <a:cs typeface="Arial" pitchFamily="34" charset="-120"/>
              </a:rPr>
              <a:t>No es Terraform O fabric-cicd. Son los dos, y cada uno en su capa.</a:t>
            </a:r>
            <a:endParaRPr lang="en-US" sz="262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pic>
        <p:nvPicPr>
          <p:cNvPr id="2" name="Image 0" descr="/home/claude/bg-white.jpg">    </p:cNvPr>
          <p:cNvPicPr>
            <a:picLocks noChangeAspect="1"/>
          </p:cNvPicPr>
          <p:nvPr/>
        </p:nvPicPr>
        <p:blipFill>
          <a:blip r:embed="rId1"/>
          <a:stretch>
            <a:fillRect/>
          </a:stretch>
        </p:blipFill>
        <p:spPr>
          <a:xfrm>
            <a:off x="0" y="0"/>
            <a:ext cx="18288000" cy="10287000"/>
          </a:xfrm>
          <a:prstGeom prst="rect">
            <a:avLst/>
          </a:prstGeom>
        </p:spPr>
      </p:pic>
      <p:sp>
        <p:nvSpPr>
          <p:cNvPr id="3" name="Text 0"/>
          <p:cNvSpPr txBox="1"/>
          <p:nvPr/>
        </p:nvSpPr>
        <p:spPr>
          <a:xfrm>
            <a:off x="1572768" y="1024128"/>
            <a:ext cx="15142464" cy="404165"/>
          </a:xfrm>
          <a:prstGeom prst="rect">
            <a:avLst/>
          </a:prstGeom>
          <a:noFill/>
          <a:ln/>
        </p:spPr>
        <p:txBody>
          <a:bodyPr wrap="square" lIns="0" tIns="0" rIns="0" bIns="0" rtlCol="0" anchor="ctr"/>
          <a:lstStyle/>
          <a:p>
            <a:pPr indent="0" marL="0">
              <a:buNone/>
            </a:pPr>
            <a:r>
              <a:rPr lang="en-US" sz="1660" b="1" spc="345" kern="0" dirty="0">
                <a:solidFill>
                  <a:srgbClr val="692179"/>
                </a:solidFill>
                <a:latin typeface="Calibri" pitchFamily="34" charset="0"/>
                <a:ea typeface="Calibri" pitchFamily="34" charset="-122"/>
                <a:cs typeface="Calibri" pitchFamily="34" charset="-120"/>
              </a:rPr>
              <a:t>CIERRE</a:t>
            </a:r>
            <a:endParaRPr lang="en-US" sz="1660" dirty="0"/>
          </a:p>
        </p:txBody>
      </p:sp>
      <p:sp>
        <p:nvSpPr>
          <p:cNvPr id="4" name="Text 1"/>
          <p:cNvSpPr txBox="1"/>
          <p:nvPr/>
        </p:nvSpPr>
        <p:spPr>
          <a:xfrm>
            <a:off x="1572768" y="1440180"/>
            <a:ext cx="15142464" cy="1072591"/>
          </a:xfrm>
          <a:prstGeom prst="rect">
            <a:avLst/>
          </a:prstGeom>
          <a:noFill/>
          <a:ln/>
        </p:spPr>
        <p:txBody>
          <a:bodyPr wrap="square" lIns="0" tIns="0" rIns="0" bIns="0" rtlCol="0" anchor="ctr"/>
          <a:lstStyle/>
          <a:p>
            <a:pPr algn="l" indent="0" marL="0">
              <a:buNone/>
            </a:pPr>
            <a:r>
              <a:rPr lang="en-US" sz="4690" b="1" dirty="0">
                <a:solidFill>
                  <a:srgbClr val="241028"/>
                </a:solidFill>
                <a:latin typeface="Arial" pitchFamily="34" charset="0"/>
                <a:ea typeface="Arial" pitchFamily="34" charset="-122"/>
                <a:cs typeface="Arial" pitchFamily="34" charset="-120"/>
              </a:rPr>
              <a:t>Qué hacer el lunes por la mañana</a:t>
            </a:r>
            <a:endParaRPr lang="en-US" sz="4690" dirty="0"/>
          </a:p>
        </p:txBody>
      </p:sp>
      <p:sp>
        <p:nvSpPr>
          <p:cNvPr id="5" name="Shape 2"/>
          <p:cNvSpPr/>
          <p:nvPr/>
        </p:nvSpPr>
        <p:spPr>
          <a:xfrm>
            <a:off x="1572768" y="3206801"/>
            <a:ext cx="4845406" cy="3659429"/>
          </a:xfrm>
          <a:prstGeom prst="roundRect">
            <a:avLst>
              <a:gd name="adj" fmla="val 3448"/>
            </a:avLst>
          </a:prstGeom>
          <a:solidFill>
            <a:srgbClr val="FFFFFF"/>
          </a:solidFill>
          <a:ln w="12700">
            <a:solidFill>
              <a:srgbClr val="FFFFFF"/>
            </a:solidFill>
            <a:prstDash val="solid"/>
          </a:ln>
        </p:spPr>
      </p:sp>
      <p:sp>
        <p:nvSpPr>
          <p:cNvPr id="6" name="Shape 3"/>
          <p:cNvSpPr/>
          <p:nvPr/>
        </p:nvSpPr>
        <p:spPr>
          <a:xfrm>
            <a:off x="1976933" y="3585362"/>
            <a:ext cx="694030" cy="694030"/>
          </a:xfrm>
          <a:prstGeom prst="ellipse">
            <a:avLst/>
          </a:prstGeom>
          <a:solidFill>
            <a:srgbClr val="692179"/>
          </a:solidFill>
          <a:ln w="12700">
            <a:solidFill>
              <a:srgbClr val="692179"/>
            </a:solidFill>
            <a:prstDash val="solid"/>
          </a:ln>
        </p:spPr>
      </p:sp>
      <p:sp>
        <p:nvSpPr>
          <p:cNvPr id="7" name="Text 4"/>
          <p:cNvSpPr txBox="1"/>
          <p:nvPr/>
        </p:nvSpPr>
        <p:spPr>
          <a:xfrm>
            <a:off x="1976933" y="3585362"/>
            <a:ext cx="694030" cy="694030"/>
          </a:xfrm>
          <a:prstGeom prst="rect">
            <a:avLst/>
          </a:prstGeom>
          <a:noFill/>
          <a:ln/>
        </p:spPr>
        <p:txBody>
          <a:bodyPr wrap="square" lIns="0" tIns="0" rIns="0" bIns="0" rtlCol="0" anchor="ctr"/>
          <a:lstStyle/>
          <a:p>
            <a:pPr algn="ctr" indent="0" marL="0">
              <a:buNone/>
            </a:pPr>
            <a:r>
              <a:rPr lang="en-US" sz="2350" b="1" dirty="0">
                <a:solidFill>
                  <a:srgbClr val="FFFFFF"/>
                </a:solidFill>
                <a:latin typeface="Arial" pitchFamily="34" charset="0"/>
                <a:ea typeface="Arial" pitchFamily="34" charset="-122"/>
                <a:cs typeface="Arial" pitchFamily="34" charset="-120"/>
              </a:rPr>
              <a:t>1</a:t>
            </a:r>
            <a:endParaRPr lang="en-US" sz="2350" dirty="0"/>
          </a:p>
        </p:txBody>
      </p:sp>
      <p:sp>
        <p:nvSpPr>
          <p:cNvPr id="8" name="Text 5"/>
          <p:cNvSpPr txBox="1"/>
          <p:nvPr/>
        </p:nvSpPr>
        <p:spPr>
          <a:xfrm>
            <a:off x="2897734" y="3585362"/>
            <a:ext cx="3154680" cy="694030"/>
          </a:xfrm>
          <a:prstGeom prst="rect">
            <a:avLst/>
          </a:prstGeom>
          <a:noFill/>
          <a:ln/>
        </p:spPr>
        <p:txBody>
          <a:bodyPr wrap="square" lIns="0" tIns="0" rIns="0" bIns="0" rtlCol="0" anchor="ctr"/>
          <a:lstStyle/>
          <a:p>
            <a:pPr indent="0" marL="0">
              <a:buNone/>
            </a:pPr>
            <a:r>
              <a:rPr lang="en-US" sz="1790" b="1" dirty="0">
                <a:solidFill>
                  <a:srgbClr val="2BB5A0"/>
                </a:solidFill>
                <a:latin typeface="Courier New" pitchFamily="34" charset="0"/>
                <a:ea typeface="Courier New" pitchFamily="34" charset="-122"/>
                <a:cs typeface="Courier New" pitchFamily="34" charset="-120"/>
              </a:rPr>
              <a:t>2 min</a:t>
            </a:r>
            <a:endParaRPr lang="en-US" sz="1790" dirty="0"/>
          </a:p>
        </p:txBody>
      </p:sp>
      <p:sp>
        <p:nvSpPr>
          <p:cNvPr id="9" name="Text 6"/>
          <p:cNvSpPr txBox="1"/>
          <p:nvPr/>
        </p:nvSpPr>
        <p:spPr>
          <a:xfrm>
            <a:off x="1976933" y="4531766"/>
            <a:ext cx="4037990" cy="946404"/>
          </a:xfrm>
          <a:prstGeom prst="rect">
            <a:avLst/>
          </a:prstGeom>
          <a:noFill/>
          <a:ln/>
        </p:spPr>
        <p:txBody>
          <a:bodyPr wrap="square" lIns="0" tIns="0" rIns="0" bIns="0" rtlCol="0" anchor="t"/>
          <a:lstStyle/>
          <a:p>
            <a:pPr indent="0" marL="0">
              <a:lnSpc>
                <a:spcPct val="105000"/>
              </a:lnSpc>
              <a:buNone/>
            </a:pPr>
            <a:r>
              <a:rPr lang="en-US" sz="2210" b="1" dirty="0">
                <a:solidFill>
                  <a:srgbClr val="241028"/>
                </a:solidFill>
                <a:latin typeface="Arial" pitchFamily="34" charset="0"/>
                <a:ea typeface="Arial" pitchFamily="34" charset="-122"/>
                <a:cs typeface="Arial" pitchFamily="34" charset="-120"/>
              </a:rPr>
              <a:t>Instala Terraform</a:t>
            </a:r>
            <a:endParaRPr lang="en-US" sz="2210" dirty="0"/>
          </a:p>
        </p:txBody>
      </p:sp>
      <p:sp>
        <p:nvSpPr>
          <p:cNvPr id="10" name="Text 7"/>
          <p:cNvSpPr txBox="1"/>
          <p:nvPr/>
        </p:nvSpPr>
        <p:spPr>
          <a:xfrm>
            <a:off x="1976933" y="5415077"/>
            <a:ext cx="4037990" cy="1261872"/>
          </a:xfrm>
          <a:prstGeom prst="rect">
            <a:avLst/>
          </a:prstGeom>
          <a:noFill/>
          <a:ln/>
        </p:spPr>
        <p:txBody>
          <a:bodyPr wrap="square" lIns="0" tIns="0" rIns="0" bIns="0" rtlCol="0" anchor="t"/>
          <a:lstStyle/>
          <a:p>
            <a:pPr indent="0" marL="0">
              <a:lnSpc>
                <a:spcPct val="112000"/>
              </a:lnSpc>
              <a:buNone/>
            </a:pPr>
            <a:r>
              <a:rPr lang="en-US" sz="1860" dirty="0">
                <a:solidFill>
                  <a:srgbClr val="6E5C73"/>
                </a:solidFill>
                <a:latin typeface="Calibri" pitchFamily="34" charset="0"/>
                <a:ea typeface="Calibri" pitchFamily="34" charset="-122"/>
                <a:cs typeface="Calibri" pitchFamily="34" charset="-120"/>
              </a:rPr>
              <a:t>winget install HashiCorp.Terraform. Dos minutos.</a:t>
            </a:r>
            <a:endParaRPr lang="en-US" sz="1860" dirty="0"/>
          </a:p>
        </p:txBody>
      </p:sp>
      <p:sp>
        <p:nvSpPr>
          <p:cNvPr id="11" name="Shape 8"/>
          <p:cNvSpPr/>
          <p:nvPr/>
        </p:nvSpPr>
        <p:spPr>
          <a:xfrm>
            <a:off x="6720840" y="3206801"/>
            <a:ext cx="4845406" cy="3659429"/>
          </a:xfrm>
          <a:prstGeom prst="roundRect">
            <a:avLst>
              <a:gd name="adj" fmla="val 3448"/>
            </a:avLst>
          </a:prstGeom>
          <a:solidFill>
            <a:srgbClr val="FFFFFF"/>
          </a:solidFill>
          <a:ln w="12700">
            <a:solidFill>
              <a:srgbClr val="FFFFFF"/>
            </a:solidFill>
            <a:prstDash val="solid"/>
          </a:ln>
        </p:spPr>
      </p:sp>
      <p:sp>
        <p:nvSpPr>
          <p:cNvPr id="12" name="Shape 9"/>
          <p:cNvSpPr/>
          <p:nvPr/>
        </p:nvSpPr>
        <p:spPr>
          <a:xfrm>
            <a:off x="7125005" y="3585362"/>
            <a:ext cx="694030" cy="694030"/>
          </a:xfrm>
          <a:prstGeom prst="ellipse">
            <a:avLst/>
          </a:prstGeom>
          <a:solidFill>
            <a:srgbClr val="692179"/>
          </a:solidFill>
          <a:ln w="12700">
            <a:solidFill>
              <a:srgbClr val="692179"/>
            </a:solidFill>
            <a:prstDash val="solid"/>
          </a:ln>
        </p:spPr>
      </p:sp>
      <p:sp>
        <p:nvSpPr>
          <p:cNvPr id="13" name="Text 10"/>
          <p:cNvSpPr txBox="1"/>
          <p:nvPr/>
        </p:nvSpPr>
        <p:spPr>
          <a:xfrm>
            <a:off x="7125005" y="3585362"/>
            <a:ext cx="694030" cy="694030"/>
          </a:xfrm>
          <a:prstGeom prst="rect">
            <a:avLst/>
          </a:prstGeom>
          <a:noFill/>
          <a:ln/>
        </p:spPr>
        <p:txBody>
          <a:bodyPr wrap="square" lIns="0" tIns="0" rIns="0" bIns="0" rtlCol="0" anchor="ctr"/>
          <a:lstStyle/>
          <a:p>
            <a:pPr algn="ctr" indent="0" marL="0">
              <a:buNone/>
            </a:pPr>
            <a:r>
              <a:rPr lang="en-US" sz="2350" b="1" dirty="0">
                <a:solidFill>
                  <a:srgbClr val="FFFFFF"/>
                </a:solidFill>
                <a:latin typeface="Arial" pitchFamily="34" charset="0"/>
                <a:ea typeface="Arial" pitchFamily="34" charset="-122"/>
                <a:cs typeface="Arial" pitchFamily="34" charset="-120"/>
              </a:rPr>
              <a:t>2</a:t>
            </a:r>
            <a:endParaRPr lang="en-US" sz="2350" dirty="0"/>
          </a:p>
        </p:txBody>
      </p:sp>
      <p:sp>
        <p:nvSpPr>
          <p:cNvPr id="14" name="Text 11"/>
          <p:cNvSpPr txBox="1"/>
          <p:nvPr/>
        </p:nvSpPr>
        <p:spPr>
          <a:xfrm>
            <a:off x="8045806" y="3585362"/>
            <a:ext cx="3154680" cy="694030"/>
          </a:xfrm>
          <a:prstGeom prst="rect">
            <a:avLst/>
          </a:prstGeom>
          <a:noFill/>
          <a:ln/>
        </p:spPr>
        <p:txBody>
          <a:bodyPr wrap="square" lIns="0" tIns="0" rIns="0" bIns="0" rtlCol="0" anchor="ctr"/>
          <a:lstStyle/>
          <a:p>
            <a:pPr indent="0" marL="0">
              <a:buNone/>
            </a:pPr>
            <a:r>
              <a:rPr lang="en-US" sz="1790" b="1" dirty="0">
                <a:solidFill>
                  <a:srgbClr val="2BB5A0"/>
                </a:solidFill>
                <a:latin typeface="Courier New" pitchFamily="34" charset="0"/>
                <a:ea typeface="Courier New" pitchFamily="34" charset="-122"/>
                <a:cs typeface="Courier New" pitchFamily="34" charset="-120"/>
              </a:rPr>
              <a:t>10 min</a:t>
            </a:r>
            <a:endParaRPr lang="en-US" sz="1790" dirty="0"/>
          </a:p>
        </p:txBody>
      </p:sp>
      <p:sp>
        <p:nvSpPr>
          <p:cNvPr id="15" name="Text 12"/>
          <p:cNvSpPr txBox="1"/>
          <p:nvPr/>
        </p:nvSpPr>
        <p:spPr>
          <a:xfrm>
            <a:off x="7125005" y="4531766"/>
            <a:ext cx="4037990" cy="946404"/>
          </a:xfrm>
          <a:prstGeom prst="rect">
            <a:avLst/>
          </a:prstGeom>
          <a:noFill/>
          <a:ln/>
        </p:spPr>
        <p:txBody>
          <a:bodyPr wrap="square" lIns="0" tIns="0" rIns="0" bIns="0" rtlCol="0" anchor="t"/>
          <a:lstStyle/>
          <a:p>
            <a:pPr indent="0" marL="0">
              <a:lnSpc>
                <a:spcPct val="105000"/>
              </a:lnSpc>
              <a:buNone/>
            </a:pPr>
            <a:r>
              <a:rPr lang="en-US" sz="2210" b="1" dirty="0">
                <a:solidFill>
                  <a:srgbClr val="241028"/>
                </a:solidFill>
                <a:latin typeface="Arial" pitchFamily="34" charset="0"/>
                <a:ea typeface="Arial" pitchFamily="34" charset="-122"/>
                <a:cs typeface="Arial" pitchFamily="34" charset="-120"/>
              </a:rPr>
              <a:t>Escribe un .tf con UN workspace</a:t>
            </a:r>
            <a:endParaRPr lang="en-US" sz="2210" dirty="0"/>
          </a:p>
        </p:txBody>
      </p:sp>
      <p:sp>
        <p:nvSpPr>
          <p:cNvPr id="16" name="Text 13"/>
          <p:cNvSpPr txBox="1"/>
          <p:nvPr/>
        </p:nvSpPr>
        <p:spPr>
          <a:xfrm>
            <a:off x="7125005" y="5415077"/>
            <a:ext cx="4037990" cy="1261872"/>
          </a:xfrm>
          <a:prstGeom prst="rect">
            <a:avLst/>
          </a:prstGeom>
          <a:noFill/>
          <a:ln/>
        </p:spPr>
        <p:txBody>
          <a:bodyPr wrap="square" lIns="0" tIns="0" rIns="0" bIns="0" rtlCol="0" anchor="t"/>
          <a:lstStyle/>
          <a:p>
            <a:pPr indent="0" marL="0">
              <a:lnSpc>
                <a:spcPct val="112000"/>
              </a:lnSpc>
              <a:buNone/>
            </a:pPr>
            <a:r>
              <a:rPr lang="en-US" sz="1860" dirty="0">
                <a:solidFill>
                  <a:srgbClr val="6E5C73"/>
                </a:solidFill>
                <a:latin typeface="Calibri" pitchFamily="34" charset="0"/>
                <a:ea typeface="Calibri" pitchFamily="34" charset="-122"/>
                <a:cs typeface="Calibri" pitchFamily="34" charset="-120"/>
              </a:rPr>
              <a:t>Uno. De prueba. Copia el de la slide 22 tal cual.</a:t>
            </a:r>
            <a:endParaRPr lang="en-US" sz="1860" dirty="0"/>
          </a:p>
        </p:txBody>
      </p:sp>
      <p:sp>
        <p:nvSpPr>
          <p:cNvPr id="17" name="Shape 14"/>
          <p:cNvSpPr/>
          <p:nvPr/>
        </p:nvSpPr>
        <p:spPr>
          <a:xfrm>
            <a:off x="11869826" y="3206801"/>
            <a:ext cx="4845406" cy="3659429"/>
          </a:xfrm>
          <a:prstGeom prst="roundRect">
            <a:avLst>
              <a:gd name="adj" fmla="val 3448"/>
            </a:avLst>
          </a:prstGeom>
          <a:solidFill>
            <a:srgbClr val="FFFFFF"/>
          </a:solidFill>
          <a:ln w="12700">
            <a:solidFill>
              <a:srgbClr val="FFFFFF"/>
            </a:solidFill>
            <a:prstDash val="solid"/>
          </a:ln>
        </p:spPr>
      </p:sp>
      <p:sp>
        <p:nvSpPr>
          <p:cNvPr id="18" name="Shape 15"/>
          <p:cNvSpPr/>
          <p:nvPr/>
        </p:nvSpPr>
        <p:spPr>
          <a:xfrm>
            <a:off x="12273077" y="3585362"/>
            <a:ext cx="694030" cy="694030"/>
          </a:xfrm>
          <a:prstGeom prst="ellipse">
            <a:avLst/>
          </a:prstGeom>
          <a:solidFill>
            <a:srgbClr val="692179"/>
          </a:solidFill>
          <a:ln w="12700">
            <a:solidFill>
              <a:srgbClr val="692179"/>
            </a:solidFill>
            <a:prstDash val="solid"/>
          </a:ln>
        </p:spPr>
      </p:sp>
      <p:sp>
        <p:nvSpPr>
          <p:cNvPr id="19" name="Text 16"/>
          <p:cNvSpPr txBox="1"/>
          <p:nvPr/>
        </p:nvSpPr>
        <p:spPr>
          <a:xfrm>
            <a:off x="12273077" y="3585362"/>
            <a:ext cx="694030" cy="694030"/>
          </a:xfrm>
          <a:prstGeom prst="rect">
            <a:avLst/>
          </a:prstGeom>
          <a:noFill/>
          <a:ln/>
        </p:spPr>
        <p:txBody>
          <a:bodyPr wrap="square" lIns="0" tIns="0" rIns="0" bIns="0" rtlCol="0" anchor="ctr"/>
          <a:lstStyle/>
          <a:p>
            <a:pPr algn="ctr" indent="0" marL="0">
              <a:buNone/>
            </a:pPr>
            <a:r>
              <a:rPr lang="en-US" sz="2350" b="1" dirty="0">
                <a:solidFill>
                  <a:srgbClr val="FFFFFF"/>
                </a:solidFill>
                <a:latin typeface="Arial" pitchFamily="34" charset="0"/>
                <a:ea typeface="Arial" pitchFamily="34" charset="-122"/>
                <a:cs typeface="Arial" pitchFamily="34" charset="-120"/>
              </a:rPr>
              <a:t>3</a:t>
            </a:r>
            <a:endParaRPr lang="en-US" sz="2350" dirty="0"/>
          </a:p>
        </p:txBody>
      </p:sp>
      <p:sp>
        <p:nvSpPr>
          <p:cNvPr id="20" name="Text 17"/>
          <p:cNvSpPr txBox="1"/>
          <p:nvPr/>
        </p:nvSpPr>
        <p:spPr>
          <a:xfrm>
            <a:off x="13194792" y="3585362"/>
            <a:ext cx="3154680" cy="694030"/>
          </a:xfrm>
          <a:prstGeom prst="rect">
            <a:avLst/>
          </a:prstGeom>
          <a:noFill/>
          <a:ln/>
        </p:spPr>
        <p:txBody>
          <a:bodyPr wrap="square" lIns="0" tIns="0" rIns="0" bIns="0" rtlCol="0" anchor="ctr"/>
          <a:lstStyle/>
          <a:p>
            <a:pPr indent="0" marL="0">
              <a:buNone/>
            </a:pPr>
            <a:r>
              <a:rPr lang="en-US" sz="1790" b="1" dirty="0">
                <a:solidFill>
                  <a:srgbClr val="2BB5A0"/>
                </a:solidFill>
                <a:latin typeface="Courier New" pitchFamily="34" charset="0"/>
                <a:ea typeface="Courier New" pitchFamily="34" charset="-122"/>
                <a:cs typeface="Courier New" pitchFamily="34" charset="-120"/>
              </a:rPr>
              <a:t>8 min</a:t>
            </a:r>
            <a:endParaRPr lang="en-US" sz="1790" dirty="0"/>
          </a:p>
        </p:txBody>
      </p:sp>
      <p:sp>
        <p:nvSpPr>
          <p:cNvPr id="21" name="Text 18"/>
          <p:cNvSpPr txBox="1"/>
          <p:nvPr/>
        </p:nvSpPr>
        <p:spPr>
          <a:xfrm>
            <a:off x="12273077" y="4531766"/>
            <a:ext cx="4037990" cy="946404"/>
          </a:xfrm>
          <a:prstGeom prst="rect">
            <a:avLst/>
          </a:prstGeom>
          <a:noFill/>
          <a:ln/>
        </p:spPr>
        <p:txBody>
          <a:bodyPr wrap="square" lIns="0" tIns="0" rIns="0" bIns="0" rtlCol="0" anchor="t"/>
          <a:lstStyle/>
          <a:p>
            <a:pPr indent="0" marL="0">
              <a:lnSpc>
                <a:spcPct val="105000"/>
              </a:lnSpc>
              <a:buNone/>
            </a:pPr>
            <a:r>
              <a:rPr lang="en-US" sz="2210" b="1" dirty="0">
                <a:solidFill>
                  <a:srgbClr val="241028"/>
                </a:solidFill>
                <a:latin typeface="Arial" pitchFamily="34" charset="0"/>
                <a:ea typeface="Arial" pitchFamily="34" charset="-122"/>
                <a:cs typeface="Arial" pitchFamily="34" charset="-120"/>
              </a:rPr>
              <a:t>init, plan, apply, destroy</a:t>
            </a:r>
            <a:endParaRPr lang="en-US" sz="2210" dirty="0"/>
          </a:p>
        </p:txBody>
      </p:sp>
      <p:sp>
        <p:nvSpPr>
          <p:cNvPr id="22" name="Text 19"/>
          <p:cNvSpPr txBox="1"/>
          <p:nvPr/>
        </p:nvSpPr>
        <p:spPr>
          <a:xfrm>
            <a:off x="12273077" y="5415077"/>
            <a:ext cx="4037990" cy="1261872"/>
          </a:xfrm>
          <a:prstGeom prst="rect">
            <a:avLst/>
          </a:prstGeom>
          <a:noFill/>
          <a:ln/>
        </p:spPr>
        <p:txBody>
          <a:bodyPr wrap="square" lIns="0" tIns="0" rIns="0" bIns="0" rtlCol="0" anchor="t"/>
          <a:lstStyle/>
          <a:p>
            <a:pPr indent="0" marL="0">
              <a:lnSpc>
                <a:spcPct val="112000"/>
              </a:lnSpc>
              <a:buNone/>
            </a:pPr>
            <a:r>
              <a:rPr lang="en-US" sz="1860" dirty="0">
                <a:solidFill>
                  <a:srgbClr val="6E5C73"/>
                </a:solidFill>
                <a:latin typeface="Calibri" pitchFamily="34" charset="0"/>
                <a:ea typeface="Calibri" pitchFamily="34" charset="-122"/>
                <a:cs typeface="Calibri" pitchFamily="34" charset="-120"/>
              </a:rPr>
              <a:t>El ciclo entero sobre algo que no importa. Ahí se te cae la ficha.</a:t>
            </a:r>
            <a:endParaRPr lang="en-US" sz="1860" dirty="0"/>
          </a:p>
        </p:txBody>
      </p:sp>
      <p:sp>
        <p:nvSpPr>
          <p:cNvPr id="23" name="Shape 20"/>
          <p:cNvSpPr/>
          <p:nvPr/>
        </p:nvSpPr>
        <p:spPr>
          <a:xfrm>
            <a:off x="1572768" y="7307885"/>
            <a:ext cx="15142464" cy="1577340"/>
          </a:xfrm>
          <a:prstGeom prst="roundRect">
            <a:avLst>
              <a:gd name="adj" fmla="val 8000"/>
            </a:avLst>
          </a:prstGeom>
          <a:solidFill>
            <a:srgbClr val="2A0E33"/>
          </a:solidFill>
          <a:ln w="12700">
            <a:solidFill>
              <a:srgbClr val="2A0E33"/>
            </a:solidFill>
            <a:prstDash val="solid"/>
          </a:ln>
        </p:spPr>
      </p:sp>
      <p:sp>
        <p:nvSpPr>
          <p:cNvPr id="24" name="Text 21"/>
          <p:cNvSpPr txBox="1"/>
          <p:nvPr/>
        </p:nvSpPr>
        <p:spPr>
          <a:xfrm>
            <a:off x="2077517" y="7307885"/>
            <a:ext cx="14132966" cy="1577340"/>
          </a:xfrm>
          <a:prstGeom prst="rect">
            <a:avLst/>
          </a:prstGeom>
          <a:noFill/>
          <a:ln/>
        </p:spPr>
        <p:txBody>
          <a:bodyPr wrap="square" lIns="0" tIns="0" rIns="0" bIns="0" rtlCol="0" anchor="ctr"/>
          <a:lstStyle/>
          <a:p>
            <a:pPr indent="0" marL="0">
              <a:buNone/>
            </a:pPr>
            <a:r>
              <a:rPr lang="en-US" sz="3310" b="1" dirty="0">
                <a:solidFill>
                  <a:srgbClr val="F59120"/>
                </a:solidFill>
                <a:latin typeface="Arial" pitchFamily="34" charset="0"/>
                <a:ea typeface="Arial" pitchFamily="34" charset="-122"/>
                <a:cs typeface="Arial" pitchFamily="34" charset="-120"/>
              </a:rPr>
              <a:t>Veinte minutos. Y ya no vuelves atrás.</a:t>
            </a:r>
            <a:endParaRPr lang="en-US" sz="331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pic>
        <p:nvPicPr>
          <p:cNvPr id="2" name="Image 0" descr="/home/claude/bg-white.jpg">    </p:cNvPr>
          <p:cNvPicPr>
            <a:picLocks noChangeAspect="1"/>
          </p:cNvPicPr>
          <p:nvPr/>
        </p:nvPicPr>
        <p:blipFill>
          <a:blip r:embed="rId1"/>
          <a:stretch>
            <a:fillRect/>
          </a:stretch>
        </p:blipFill>
        <p:spPr>
          <a:xfrm>
            <a:off x="0" y="0"/>
            <a:ext cx="18288000" cy="10287000"/>
          </a:xfrm>
          <a:prstGeom prst="rect">
            <a:avLst/>
          </a:prstGeom>
        </p:spPr>
      </p:pic>
      <p:sp>
        <p:nvSpPr>
          <p:cNvPr id="3" name="Text 0"/>
          <p:cNvSpPr txBox="1"/>
          <p:nvPr/>
        </p:nvSpPr>
        <p:spPr>
          <a:xfrm>
            <a:off x="1572768" y="1024128"/>
            <a:ext cx="15142464" cy="404165"/>
          </a:xfrm>
          <a:prstGeom prst="rect">
            <a:avLst/>
          </a:prstGeom>
          <a:noFill/>
          <a:ln/>
        </p:spPr>
        <p:txBody>
          <a:bodyPr wrap="square" lIns="0" tIns="0" rIns="0" bIns="0" rtlCol="0" anchor="ctr"/>
          <a:lstStyle/>
          <a:p>
            <a:pPr indent="0" marL="0">
              <a:buNone/>
            </a:pPr>
            <a:r>
              <a:rPr lang="en-US" sz="1660" b="1" spc="345" kern="0" dirty="0">
                <a:solidFill>
                  <a:srgbClr val="692179"/>
                </a:solidFill>
                <a:latin typeface="Calibri" pitchFamily="34" charset="0"/>
                <a:ea typeface="Calibri" pitchFamily="34" charset="-122"/>
                <a:cs typeface="Calibri" pitchFamily="34" charset="-120"/>
              </a:rPr>
              <a:t>CIERRE</a:t>
            </a:r>
            <a:endParaRPr lang="en-US" sz="1660" dirty="0"/>
          </a:p>
        </p:txBody>
      </p:sp>
      <p:sp>
        <p:nvSpPr>
          <p:cNvPr id="4" name="Text 1"/>
          <p:cNvSpPr txBox="1"/>
          <p:nvPr/>
        </p:nvSpPr>
        <p:spPr>
          <a:xfrm>
            <a:off x="1572768" y="1440180"/>
            <a:ext cx="15142464" cy="1072591"/>
          </a:xfrm>
          <a:prstGeom prst="rect">
            <a:avLst/>
          </a:prstGeom>
          <a:noFill/>
          <a:ln/>
        </p:spPr>
        <p:txBody>
          <a:bodyPr wrap="square" lIns="0" tIns="0" rIns="0" bIns="0" rtlCol="0" anchor="ctr"/>
          <a:lstStyle/>
          <a:p>
            <a:pPr algn="l" indent="0" marL="0">
              <a:buNone/>
            </a:pPr>
            <a:r>
              <a:rPr lang="en-US" sz="4690" b="1" dirty="0">
                <a:solidFill>
                  <a:srgbClr val="241028"/>
                </a:solidFill>
                <a:latin typeface="Arial" pitchFamily="34" charset="0"/>
                <a:ea typeface="Arial" pitchFamily="34" charset="-122"/>
                <a:cs typeface="Arial" pitchFamily="34" charset="-120"/>
              </a:rPr>
              <a:t>Para seguir por tu cuenta</a:t>
            </a:r>
            <a:endParaRPr lang="en-US" sz="4690" dirty="0"/>
          </a:p>
        </p:txBody>
      </p:sp>
      <p:sp>
        <p:nvSpPr>
          <p:cNvPr id="5" name="Shape 2"/>
          <p:cNvSpPr/>
          <p:nvPr/>
        </p:nvSpPr>
        <p:spPr>
          <a:xfrm>
            <a:off x="1572768" y="3206801"/>
            <a:ext cx="15142464" cy="1135685"/>
          </a:xfrm>
          <a:prstGeom prst="roundRect">
            <a:avLst>
              <a:gd name="adj" fmla="val 11111"/>
            </a:avLst>
          </a:prstGeom>
          <a:solidFill>
            <a:srgbClr val="F5ECF7"/>
          </a:solidFill>
          <a:ln w="12700">
            <a:solidFill>
              <a:srgbClr val="F5ECF7"/>
            </a:solidFill>
            <a:prstDash val="solid"/>
          </a:ln>
        </p:spPr>
      </p:sp>
      <p:sp>
        <p:nvSpPr>
          <p:cNvPr id="6" name="Shape 3"/>
          <p:cNvSpPr/>
          <p:nvPr/>
        </p:nvSpPr>
        <p:spPr>
          <a:xfrm>
            <a:off x="1888236" y="3497580"/>
            <a:ext cx="555041" cy="555041"/>
          </a:xfrm>
          <a:prstGeom prst="ellipse">
            <a:avLst/>
          </a:prstGeom>
          <a:solidFill>
            <a:srgbClr val="692179"/>
          </a:solidFill>
          <a:ln w="12700">
            <a:solidFill>
              <a:srgbClr val="692179"/>
            </a:solidFill>
            <a:prstDash val="solid"/>
          </a:ln>
        </p:spPr>
      </p:sp>
      <p:sp>
        <p:nvSpPr>
          <p:cNvPr id="7" name="Text 4"/>
          <p:cNvSpPr txBox="1"/>
          <p:nvPr/>
        </p:nvSpPr>
        <p:spPr>
          <a:xfrm>
            <a:off x="1888236" y="3497580"/>
            <a:ext cx="555041" cy="555041"/>
          </a:xfrm>
          <a:prstGeom prst="rect">
            <a:avLst/>
          </a:prstGeom>
          <a:noFill/>
          <a:ln/>
        </p:spPr>
        <p:txBody>
          <a:bodyPr wrap="square" lIns="0" tIns="0" rIns="0" bIns="0" rtlCol="0" anchor="ctr"/>
          <a:lstStyle/>
          <a:p>
            <a:pPr algn="ctr" indent="0" marL="0">
              <a:buNone/>
            </a:pPr>
            <a:r>
              <a:rPr lang="en-US" sz="1930" b="1" dirty="0">
                <a:solidFill>
                  <a:srgbClr val="FFFFFF"/>
                </a:solidFill>
                <a:latin typeface="Arial" pitchFamily="34" charset="0"/>
                <a:ea typeface="Arial" pitchFamily="34" charset="-122"/>
                <a:cs typeface="Arial" pitchFamily="34" charset="-120"/>
              </a:rPr>
              <a:t>1</a:t>
            </a:r>
            <a:endParaRPr lang="en-US" sz="1930" dirty="0"/>
          </a:p>
        </p:txBody>
      </p:sp>
      <p:sp>
        <p:nvSpPr>
          <p:cNvPr id="8" name="Text 5"/>
          <p:cNvSpPr txBox="1"/>
          <p:nvPr/>
        </p:nvSpPr>
        <p:spPr>
          <a:xfrm>
            <a:off x="2682850" y="3332988"/>
            <a:ext cx="13691311" cy="454457"/>
          </a:xfrm>
          <a:prstGeom prst="rect">
            <a:avLst/>
          </a:prstGeom>
          <a:noFill/>
          <a:ln/>
        </p:spPr>
        <p:txBody>
          <a:bodyPr wrap="square" lIns="0" tIns="0" rIns="0" bIns="0" rtlCol="0" anchor="ctr"/>
          <a:lstStyle/>
          <a:p>
            <a:pPr indent="0" marL="0">
              <a:buNone/>
            </a:pPr>
            <a:r>
              <a:rPr lang="en-US" sz="2140" b="1" dirty="0">
                <a:solidFill>
                  <a:srgbClr val="241028"/>
                </a:solidFill>
                <a:latin typeface="Arial" pitchFamily="34" charset="0"/>
                <a:ea typeface="Arial" pitchFamily="34" charset="-122"/>
                <a:cs typeface="Arial" pitchFamily="34" charset="-120"/>
              </a:rPr>
              <a:t>Terraform Registry — microsoft/fabric</a:t>
            </a:r>
            <a:endParaRPr lang="en-US" sz="2140" dirty="0"/>
          </a:p>
        </p:txBody>
      </p:sp>
      <p:sp>
        <p:nvSpPr>
          <p:cNvPr id="9" name="Text 6"/>
          <p:cNvSpPr txBox="1"/>
          <p:nvPr/>
        </p:nvSpPr>
        <p:spPr>
          <a:xfrm>
            <a:off x="2682850" y="3762756"/>
            <a:ext cx="13691311" cy="479146"/>
          </a:xfrm>
          <a:prstGeom prst="rect">
            <a:avLst/>
          </a:prstGeom>
          <a:noFill/>
          <a:ln/>
        </p:spPr>
        <p:txBody>
          <a:bodyPr wrap="square" lIns="0" tIns="0" rIns="0" bIns="0" rtlCol="0" anchor="t"/>
          <a:lstStyle/>
          <a:p>
            <a:pPr indent="0" marL="0">
              <a:buNone/>
            </a:pPr>
            <a:r>
              <a:rPr lang="en-US" sz="1790" dirty="0">
                <a:solidFill>
                  <a:srgbClr val="6E5C73"/>
                </a:solidFill>
                <a:latin typeface="Calibri" pitchFamily="34" charset="0"/>
                <a:ea typeface="Calibri" pitchFamily="34" charset="-122"/>
                <a:cs typeface="Calibri" pitchFamily="34" charset="-120"/>
              </a:rPr>
              <a:t>La documentación de cada recurso, con ejemplos. Tu primera parada siempre.</a:t>
            </a:r>
            <a:endParaRPr lang="en-US" sz="1790" dirty="0"/>
          </a:p>
        </p:txBody>
      </p:sp>
      <p:sp>
        <p:nvSpPr>
          <p:cNvPr id="10" name="Shape 7"/>
          <p:cNvSpPr/>
          <p:nvPr/>
        </p:nvSpPr>
        <p:spPr>
          <a:xfrm>
            <a:off x="1572768" y="4570171"/>
            <a:ext cx="15142464" cy="1135685"/>
          </a:xfrm>
          <a:prstGeom prst="roundRect">
            <a:avLst>
              <a:gd name="adj" fmla="val 11111"/>
            </a:avLst>
          </a:prstGeom>
          <a:solidFill>
            <a:srgbClr val="F5ECF7"/>
          </a:solidFill>
          <a:ln w="12700">
            <a:solidFill>
              <a:srgbClr val="F5ECF7"/>
            </a:solidFill>
            <a:prstDash val="solid"/>
          </a:ln>
        </p:spPr>
      </p:sp>
      <p:sp>
        <p:nvSpPr>
          <p:cNvPr id="11" name="Shape 8"/>
          <p:cNvSpPr/>
          <p:nvPr/>
        </p:nvSpPr>
        <p:spPr>
          <a:xfrm>
            <a:off x="1888236" y="4860036"/>
            <a:ext cx="555041" cy="555041"/>
          </a:xfrm>
          <a:prstGeom prst="ellipse">
            <a:avLst/>
          </a:prstGeom>
          <a:solidFill>
            <a:srgbClr val="692179"/>
          </a:solidFill>
          <a:ln w="12700">
            <a:solidFill>
              <a:srgbClr val="692179"/>
            </a:solidFill>
            <a:prstDash val="solid"/>
          </a:ln>
        </p:spPr>
      </p:sp>
      <p:sp>
        <p:nvSpPr>
          <p:cNvPr id="12" name="Text 9"/>
          <p:cNvSpPr txBox="1"/>
          <p:nvPr/>
        </p:nvSpPr>
        <p:spPr>
          <a:xfrm>
            <a:off x="1888236" y="4860036"/>
            <a:ext cx="555041" cy="555041"/>
          </a:xfrm>
          <a:prstGeom prst="rect">
            <a:avLst/>
          </a:prstGeom>
          <a:noFill/>
          <a:ln/>
        </p:spPr>
        <p:txBody>
          <a:bodyPr wrap="square" lIns="0" tIns="0" rIns="0" bIns="0" rtlCol="0" anchor="ctr"/>
          <a:lstStyle/>
          <a:p>
            <a:pPr algn="ctr" indent="0" marL="0">
              <a:buNone/>
            </a:pPr>
            <a:r>
              <a:rPr lang="en-US" sz="1930" b="1" dirty="0">
                <a:solidFill>
                  <a:srgbClr val="FFFFFF"/>
                </a:solidFill>
                <a:latin typeface="Arial" pitchFamily="34" charset="0"/>
                <a:ea typeface="Arial" pitchFamily="34" charset="-122"/>
                <a:cs typeface="Arial" pitchFamily="34" charset="-120"/>
              </a:rPr>
              <a:t>2</a:t>
            </a:r>
            <a:endParaRPr lang="en-US" sz="1930" dirty="0"/>
          </a:p>
        </p:txBody>
      </p:sp>
      <p:sp>
        <p:nvSpPr>
          <p:cNvPr id="13" name="Text 10"/>
          <p:cNvSpPr txBox="1"/>
          <p:nvPr/>
        </p:nvSpPr>
        <p:spPr>
          <a:xfrm>
            <a:off x="2682850" y="4696358"/>
            <a:ext cx="13691311" cy="454457"/>
          </a:xfrm>
          <a:prstGeom prst="rect">
            <a:avLst/>
          </a:prstGeom>
          <a:noFill/>
          <a:ln/>
        </p:spPr>
        <p:txBody>
          <a:bodyPr wrap="square" lIns="0" tIns="0" rIns="0" bIns="0" rtlCol="0" anchor="ctr"/>
          <a:lstStyle/>
          <a:p>
            <a:pPr indent="0" marL="0">
              <a:buNone/>
            </a:pPr>
            <a:r>
              <a:rPr lang="en-US" sz="2140" b="1" dirty="0">
                <a:solidFill>
                  <a:srgbClr val="241028"/>
                </a:solidFill>
                <a:latin typeface="Arial" pitchFamily="34" charset="0"/>
                <a:ea typeface="Arial" pitchFamily="34" charset="-122"/>
                <a:cs typeface="Arial" pitchFamily="34" charset="-120"/>
              </a:rPr>
              <a:t>github.com/microsoft/terraform-provider-fabric</a:t>
            </a:r>
            <a:endParaRPr lang="en-US" sz="2140" dirty="0"/>
          </a:p>
        </p:txBody>
      </p:sp>
      <p:sp>
        <p:nvSpPr>
          <p:cNvPr id="14" name="Text 11"/>
          <p:cNvSpPr txBox="1"/>
          <p:nvPr/>
        </p:nvSpPr>
        <p:spPr>
          <a:xfrm>
            <a:off x="2682850" y="5125212"/>
            <a:ext cx="13691311" cy="479146"/>
          </a:xfrm>
          <a:prstGeom prst="rect">
            <a:avLst/>
          </a:prstGeom>
          <a:noFill/>
          <a:ln/>
        </p:spPr>
        <p:txBody>
          <a:bodyPr wrap="square" lIns="0" tIns="0" rIns="0" bIns="0" rtlCol="0" anchor="t"/>
          <a:lstStyle/>
          <a:p>
            <a:pPr indent="0" marL="0">
              <a:buNone/>
            </a:pPr>
            <a:r>
              <a:rPr lang="en-US" sz="1790" dirty="0">
                <a:solidFill>
                  <a:srgbClr val="6E5C73"/>
                </a:solidFill>
                <a:latin typeface="Calibri" pitchFamily="34" charset="0"/>
                <a:ea typeface="Calibri" pitchFamily="34" charset="-122"/>
                <a:cs typeface="Calibri" pitchFamily="34" charset="-120"/>
              </a:rPr>
              <a:t>Repo oficial, issues abiertas y la carpeta de quickstarts con bootstrap.</a:t>
            </a:r>
            <a:endParaRPr lang="en-US" sz="1790" dirty="0"/>
          </a:p>
        </p:txBody>
      </p:sp>
      <p:sp>
        <p:nvSpPr>
          <p:cNvPr id="15" name="Shape 12"/>
          <p:cNvSpPr/>
          <p:nvPr/>
        </p:nvSpPr>
        <p:spPr>
          <a:xfrm>
            <a:off x="1572768" y="5932627"/>
            <a:ext cx="15142464" cy="1135685"/>
          </a:xfrm>
          <a:prstGeom prst="roundRect">
            <a:avLst>
              <a:gd name="adj" fmla="val 11111"/>
            </a:avLst>
          </a:prstGeom>
          <a:solidFill>
            <a:srgbClr val="F5ECF7"/>
          </a:solidFill>
          <a:ln w="12700">
            <a:solidFill>
              <a:srgbClr val="F5ECF7"/>
            </a:solidFill>
            <a:prstDash val="solid"/>
          </a:ln>
        </p:spPr>
      </p:sp>
      <p:sp>
        <p:nvSpPr>
          <p:cNvPr id="16" name="Shape 13"/>
          <p:cNvSpPr/>
          <p:nvPr/>
        </p:nvSpPr>
        <p:spPr>
          <a:xfrm>
            <a:off x="1888236" y="6223406"/>
            <a:ext cx="555041" cy="555041"/>
          </a:xfrm>
          <a:prstGeom prst="ellipse">
            <a:avLst/>
          </a:prstGeom>
          <a:solidFill>
            <a:srgbClr val="692179"/>
          </a:solidFill>
          <a:ln w="12700">
            <a:solidFill>
              <a:srgbClr val="692179"/>
            </a:solidFill>
            <a:prstDash val="solid"/>
          </a:ln>
        </p:spPr>
      </p:sp>
      <p:sp>
        <p:nvSpPr>
          <p:cNvPr id="17" name="Text 14"/>
          <p:cNvSpPr txBox="1"/>
          <p:nvPr/>
        </p:nvSpPr>
        <p:spPr>
          <a:xfrm>
            <a:off x="1888236" y="6223406"/>
            <a:ext cx="555041" cy="555041"/>
          </a:xfrm>
          <a:prstGeom prst="rect">
            <a:avLst/>
          </a:prstGeom>
          <a:noFill/>
          <a:ln/>
        </p:spPr>
        <p:txBody>
          <a:bodyPr wrap="square" lIns="0" tIns="0" rIns="0" bIns="0" rtlCol="0" anchor="ctr"/>
          <a:lstStyle/>
          <a:p>
            <a:pPr algn="ctr" indent="0" marL="0">
              <a:buNone/>
            </a:pPr>
            <a:r>
              <a:rPr lang="en-US" sz="1930" b="1" dirty="0">
                <a:solidFill>
                  <a:srgbClr val="FFFFFF"/>
                </a:solidFill>
                <a:latin typeface="Arial" pitchFamily="34" charset="0"/>
                <a:ea typeface="Arial" pitchFamily="34" charset="-122"/>
                <a:cs typeface="Arial" pitchFamily="34" charset="-120"/>
              </a:rPr>
              <a:t>3</a:t>
            </a:r>
            <a:endParaRPr lang="en-US" sz="1930" dirty="0"/>
          </a:p>
        </p:txBody>
      </p:sp>
      <p:sp>
        <p:nvSpPr>
          <p:cNvPr id="18" name="Text 15"/>
          <p:cNvSpPr txBox="1"/>
          <p:nvPr/>
        </p:nvSpPr>
        <p:spPr>
          <a:xfrm>
            <a:off x="2682850" y="6058814"/>
            <a:ext cx="13691311" cy="454457"/>
          </a:xfrm>
          <a:prstGeom prst="rect">
            <a:avLst/>
          </a:prstGeom>
          <a:noFill/>
          <a:ln/>
        </p:spPr>
        <p:txBody>
          <a:bodyPr wrap="square" lIns="0" tIns="0" rIns="0" bIns="0" rtlCol="0" anchor="ctr"/>
          <a:lstStyle/>
          <a:p>
            <a:pPr indent="0" marL="0">
              <a:buNone/>
            </a:pPr>
            <a:r>
              <a:rPr lang="en-US" sz="2140" b="1" dirty="0">
                <a:solidFill>
                  <a:srgbClr val="241028"/>
                </a:solidFill>
                <a:latin typeface="Arial" pitchFamily="34" charset="0"/>
                <a:ea typeface="Arial" pitchFamily="34" charset="-122"/>
                <a:cs typeface="Arial" pitchFamily="34" charset="-120"/>
              </a:rPr>
              <a:t>developer.hashicorp.com/terraform</a:t>
            </a:r>
            <a:endParaRPr lang="en-US" sz="2140" dirty="0"/>
          </a:p>
        </p:txBody>
      </p:sp>
      <p:sp>
        <p:nvSpPr>
          <p:cNvPr id="19" name="Text 16"/>
          <p:cNvSpPr txBox="1"/>
          <p:nvPr/>
        </p:nvSpPr>
        <p:spPr>
          <a:xfrm>
            <a:off x="2682850" y="6487668"/>
            <a:ext cx="13691311" cy="479146"/>
          </a:xfrm>
          <a:prstGeom prst="rect">
            <a:avLst/>
          </a:prstGeom>
          <a:noFill/>
          <a:ln/>
        </p:spPr>
        <p:txBody>
          <a:bodyPr wrap="square" lIns="0" tIns="0" rIns="0" bIns="0" rtlCol="0" anchor="t"/>
          <a:lstStyle/>
          <a:p>
            <a:pPr indent="0" marL="0">
              <a:buNone/>
            </a:pPr>
            <a:r>
              <a:rPr lang="en-US" sz="1790" dirty="0">
                <a:solidFill>
                  <a:srgbClr val="6E5C73"/>
                </a:solidFill>
                <a:latin typeface="Calibri" pitchFamily="34" charset="0"/>
                <a:ea typeface="Calibri" pitchFamily="34" charset="-122"/>
                <a:cs typeface="Calibri" pitchFamily="34" charset="-120"/>
              </a:rPr>
              <a:t>El tutorial oficial de Terraform. Dos horas y sales sabiendo.</a:t>
            </a:r>
            <a:endParaRPr lang="en-US" sz="1790" dirty="0"/>
          </a:p>
        </p:txBody>
      </p:sp>
      <p:sp>
        <p:nvSpPr>
          <p:cNvPr id="20" name="Shape 17"/>
          <p:cNvSpPr/>
          <p:nvPr/>
        </p:nvSpPr>
        <p:spPr>
          <a:xfrm>
            <a:off x="1572768" y="7295998"/>
            <a:ext cx="15142464" cy="1135685"/>
          </a:xfrm>
          <a:prstGeom prst="roundRect">
            <a:avLst>
              <a:gd name="adj" fmla="val 11111"/>
            </a:avLst>
          </a:prstGeom>
          <a:solidFill>
            <a:srgbClr val="F5ECF7"/>
          </a:solidFill>
          <a:ln w="12700">
            <a:solidFill>
              <a:srgbClr val="F5ECF7"/>
            </a:solidFill>
            <a:prstDash val="solid"/>
          </a:ln>
        </p:spPr>
      </p:sp>
      <p:sp>
        <p:nvSpPr>
          <p:cNvPr id="21" name="Shape 18"/>
          <p:cNvSpPr/>
          <p:nvPr/>
        </p:nvSpPr>
        <p:spPr>
          <a:xfrm>
            <a:off x="1888236" y="7585862"/>
            <a:ext cx="555041" cy="555041"/>
          </a:xfrm>
          <a:prstGeom prst="ellipse">
            <a:avLst/>
          </a:prstGeom>
          <a:solidFill>
            <a:srgbClr val="692179"/>
          </a:solidFill>
          <a:ln w="12700">
            <a:solidFill>
              <a:srgbClr val="692179"/>
            </a:solidFill>
            <a:prstDash val="solid"/>
          </a:ln>
        </p:spPr>
      </p:sp>
      <p:sp>
        <p:nvSpPr>
          <p:cNvPr id="22" name="Text 19"/>
          <p:cNvSpPr txBox="1"/>
          <p:nvPr/>
        </p:nvSpPr>
        <p:spPr>
          <a:xfrm>
            <a:off x="1888236" y="7585862"/>
            <a:ext cx="555041" cy="555041"/>
          </a:xfrm>
          <a:prstGeom prst="rect">
            <a:avLst/>
          </a:prstGeom>
          <a:noFill/>
          <a:ln/>
        </p:spPr>
        <p:txBody>
          <a:bodyPr wrap="square" lIns="0" tIns="0" rIns="0" bIns="0" rtlCol="0" anchor="ctr"/>
          <a:lstStyle/>
          <a:p>
            <a:pPr algn="ctr" indent="0" marL="0">
              <a:buNone/>
            </a:pPr>
            <a:r>
              <a:rPr lang="en-US" sz="1930" b="1" dirty="0">
                <a:solidFill>
                  <a:srgbClr val="FFFFFF"/>
                </a:solidFill>
                <a:latin typeface="Arial" pitchFamily="34" charset="0"/>
                <a:ea typeface="Arial" pitchFamily="34" charset="-122"/>
                <a:cs typeface="Arial" pitchFamily="34" charset="-120"/>
              </a:rPr>
              <a:t>4</a:t>
            </a:r>
            <a:endParaRPr lang="en-US" sz="1930" dirty="0"/>
          </a:p>
        </p:txBody>
      </p:sp>
      <p:sp>
        <p:nvSpPr>
          <p:cNvPr id="23" name="Text 20"/>
          <p:cNvSpPr txBox="1"/>
          <p:nvPr/>
        </p:nvSpPr>
        <p:spPr>
          <a:xfrm>
            <a:off x="2682850" y="7422185"/>
            <a:ext cx="13691311" cy="454457"/>
          </a:xfrm>
          <a:prstGeom prst="rect">
            <a:avLst/>
          </a:prstGeom>
          <a:noFill/>
          <a:ln/>
        </p:spPr>
        <p:txBody>
          <a:bodyPr wrap="square" lIns="0" tIns="0" rIns="0" bIns="0" rtlCol="0" anchor="ctr"/>
          <a:lstStyle/>
          <a:p>
            <a:pPr indent="0" marL="0">
              <a:buNone/>
            </a:pPr>
            <a:r>
              <a:rPr lang="en-US" sz="2140" b="1" dirty="0">
                <a:solidFill>
                  <a:srgbClr val="241028"/>
                </a:solidFill>
                <a:latin typeface="Arial" pitchFamily="34" charset="0"/>
                <a:ea typeface="Arial" pitchFamily="34" charset="-122"/>
                <a:cs typeface="Arial" pitchFamily="34" charset="-120"/>
              </a:rPr>
              <a:t>medium.com/@akanemar</a:t>
            </a:r>
            <a:endParaRPr lang="en-US" sz="2140" dirty="0"/>
          </a:p>
        </p:txBody>
      </p:sp>
      <p:sp>
        <p:nvSpPr>
          <p:cNvPr id="24" name="Text 21"/>
          <p:cNvSpPr txBox="1"/>
          <p:nvPr/>
        </p:nvSpPr>
        <p:spPr>
          <a:xfrm>
            <a:off x="2682850" y="7851038"/>
            <a:ext cx="13691311" cy="479146"/>
          </a:xfrm>
          <a:prstGeom prst="rect">
            <a:avLst/>
          </a:prstGeom>
          <a:noFill/>
          <a:ln/>
        </p:spPr>
        <p:txBody>
          <a:bodyPr wrap="square" lIns="0" tIns="0" rIns="0" bIns="0" rtlCol="0" anchor="t"/>
          <a:lstStyle/>
          <a:p>
            <a:pPr indent="0" marL="0">
              <a:buNone/>
            </a:pPr>
            <a:r>
              <a:rPr lang="en-US" sz="1790" dirty="0">
                <a:solidFill>
                  <a:srgbClr val="6E5C73"/>
                </a:solidFill>
                <a:latin typeface="Calibri" pitchFamily="34" charset="0"/>
                <a:ea typeface="Calibri" pitchFamily="34" charset="-122"/>
                <a:cs typeface="Calibri" pitchFamily="34" charset="-120"/>
              </a:rPr>
              <a:t>Donde escribo sobre todo esto en español, con analogías cuestionables.</a:t>
            </a:r>
            <a:endParaRPr lang="en-US" sz="1790" dirty="0"/>
          </a:p>
        </p:txBody>
      </p:sp>
      <p:sp>
        <p:nvSpPr>
          <p:cNvPr id="25" name="Shape 22"/>
          <p:cNvSpPr/>
          <p:nvPr/>
        </p:nvSpPr>
        <p:spPr>
          <a:xfrm>
            <a:off x="1572768" y="8569757"/>
            <a:ext cx="15142464" cy="1072591"/>
          </a:xfrm>
          <a:prstGeom prst="roundRect">
            <a:avLst>
              <a:gd name="adj" fmla="val 11765"/>
            </a:avLst>
          </a:prstGeom>
          <a:solidFill>
            <a:srgbClr val="692179"/>
          </a:solidFill>
          <a:ln w="12700">
            <a:solidFill>
              <a:srgbClr val="692179"/>
            </a:solidFill>
            <a:prstDash val="solid"/>
          </a:ln>
        </p:spPr>
      </p:sp>
      <p:sp>
        <p:nvSpPr>
          <p:cNvPr id="26" name="Text 23"/>
          <p:cNvSpPr txBox="1"/>
          <p:nvPr/>
        </p:nvSpPr>
        <p:spPr>
          <a:xfrm>
            <a:off x="2077517" y="8569757"/>
            <a:ext cx="14132966" cy="1072591"/>
          </a:xfrm>
          <a:prstGeom prst="rect">
            <a:avLst/>
          </a:prstGeom>
          <a:noFill/>
          <a:ln/>
        </p:spPr>
        <p:txBody>
          <a:bodyPr wrap="square" lIns="0" tIns="0" rIns="0" bIns="0" rtlCol="0" anchor="ctr"/>
          <a:lstStyle/>
          <a:p>
            <a:pPr indent="0" marL="0">
              <a:buNone/>
            </a:pPr>
            <a:r>
              <a:rPr lang="en-US" sz="2210" b="1" dirty="0">
                <a:solidFill>
                  <a:srgbClr val="FFFFFF"/>
                </a:solidFill>
                <a:latin typeface="Arial" pitchFamily="34" charset="0"/>
                <a:ea typeface="Arial" pitchFamily="34" charset="-122"/>
                <a:cs typeface="Arial" pitchFamily="34" charset="-120"/>
              </a:rPr>
              <a:t>Slides, código y template del que hemos hablado: [ tu enlace / QR aquí ]</a:t>
            </a:r>
            <a:endParaRPr lang="en-US" sz="221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pic>
        <p:nvPicPr>
          <p:cNvPr id="2" name="Image 0" descr="/home/claude/bg-gracias.jpg">    </p:cNvPr>
          <p:cNvPicPr>
            <a:picLocks noChangeAspect="1"/>
          </p:cNvPicPr>
          <p:nvPr/>
        </p:nvPicPr>
        <p:blipFill>
          <a:blip r:embed="rId1"/>
          <a:stretch>
            <a:fillRect/>
          </a:stretch>
        </p:blipFill>
        <p:spPr>
          <a:xfrm>
            <a:off x="0" y="0"/>
            <a:ext cx="18288000" cy="10287000"/>
          </a:xfrm>
          <a:prstGeom prst="rect">
            <a:avLst/>
          </a:prstGeom>
        </p:spPr>
      </p:pic>
      <p:sp>
        <p:nvSpPr>
          <p:cNvPr id="3" name="Text 0"/>
          <p:cNvSpPr txBox="1"/>
          <p:nvPr/>
        </p:nvSpPr>
        <p:spPr>
          <a:xfrm>
            <a:off x="1572768" y="6446520"/>
            <a:ext cx="15087600" cy="640080"/>
          </a:xfrm>
          <a:prstGeom prst="rect">
            <a:avLst/>
          </a:prstGeom>
          <a:noFill/>
          <a:ln/>
        </p:spPr>
        <p:txBody>
          <a:bodyPr wrap="square" lIns="0" tIns="0" rIns="0" bIns="0" rtlCol="0" anchor="ctr"/>
          <a:lstStyle/>
          <a:p>
            <a:pPr algn="ctr" indent="0" marL="0">
              <a:buNone/>
            </a:pPr>
            <a:r>
              <a:rPr lang="en-US" sz="2200" i="1" dirty="0">
                <a:solidFill>
                  <a:srgbClr val="F59120"/>
                </a:solidFill>
                <a:latin typeface="Calibri" pitchFamily="34" charset="0"/>
                <a:ea typeface="Calibri" pitchFamily="34" charset="-122"/>
                <a:cs typeface="Calibri" pitchFamily="34" charset="-120"/>
              </a:rPr>
              <a:t>Y que no se te vuelva a ocurrir crear un workspace a mano.</a:t>
            </a:r>
            <a:endParaRPr lang="en-US" sz="2200" dirty="0"/>
          </a:p>
        </p:txBody>
      </p:sp>
      <p:sp>
        <p:nvSpPr>
          <p:cNvPr id="4" name="Text 1"/>
          <p:cNvSpPr txBox="1"/>
          <p:nvPr/>
        </p:nvSpPr>
        <p:spPr>
          <a:xfrm>
            <a:off x="1572768" y="7589520"/>
            <a:ext cx="15087600" cy="548640"/>
          </a:xfrm>
          <a:prstGeom prst="rect">
            <a:avLst/>
          </a:prstGeom>
          <a:noFill/>
          <a:ln/>
        </p:spPr>
        <p:txBody>
          <a:bodyPr wrap="square" lIns="0" tIns="0" rIns="0" bIns="0" rtlCol="0" anchor="ctr"/>
          <a:lstStyle/>
          <a:p>
            <a:pPr algn="ctr" indent="0" marL="0">
              <a:buNone/>
            </a:pPr>
            <a:r>
              <a:rPr lang="en-US" sz="2600" b="1" dirty="0">
                <a:solidFill>
                  <a:srgbClr val="FFFFFF"/>
                </a:solidFill>
                <a:latin typeface="Arial" pitchFamily="34" charset="0"/>
                <a:ea typeface="Arial" pitchFamily="34" charset="-122"/>
                <a:cs typeface="Arial" pitchFamily="34" charset="-120"/>
              </a:rPr>
              <a:t>Mar Lizana Atienza  ·  Alfonso Ming</a:t>
            </a:r>
            <a:endParaRPr lang="en-US" sz="2600" dirty="0"/>
          </a:p>
        </p:txBody>
      </p:sp>
      <p:sp>
        <p:nvSpPr>
          <p:cNvPr id="5" name="Text 2"/>
          <p:cNvSpPr txBox="1"/>
          <p:nvPr/>
        </p:nvSpPr>
        <p:spPr>
          <a:xfrm>
            <a:off x="1572768" y="8183880"/>
            <a:ext cx="15087600" cy="457200"/>
          </a:xfrm>
          <a:prstGeom prst="rect">
            <a:avLst/>
          </a:prstGeom>
          <a:noFill/>
          <a:ln/>
        </p:spPr>
        <p:txBody>
          <a:bodyPr wrap="square" lIns="0" tIns="0" rIns="0" bIns="0" rtlCol="0" anchor="ctr"/>
          <a:lstStyle/>
          <a:p>
            <a:pPr algn="ctr" indent="0" marL="0">
              <a:buNone/>
            </a:pPr>
            <a:r>
              <a:rPr lang="en-US" sz="1600" dirty="0">
                <a:solidFill>
                  <a:srgbClr val="FFFFFF"/>
                </a:solidFill>
                <a:latin typeface="Calibri" pitchFamily="34" charset="0"/>
                <a:ea typeface="Calibri" pitchFamily="34" charset="-122"/>
                <a:cs typeface="Calibri" pitchFamily="34" charset="-120"/>
              </a:rPr>
              <a:t>Data Squad Lead @ ENCAMINA · Microsoft MVP · @akanemar      |      SRE @ SCRM</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44</Slides>
  <Notes>44</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44</vt:i4>
      </vt:variant>
    </vt:vector>
  </HeadingPairs>
  <TitlesOfParts>
    <vt:vector size="47"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Y yo aqui creando workspaces a mano: Terraform al rescate para Fabric</dc:title>
  <dc:subject>PptxGenJS Presentation</dc:subject>
  <dc:creator>Mar Lizana Atienza</dc:creator>
  <cp:lastModifiedBy>Mar Lizana Atienza</cp:lastModifiedBy>
  <cp:revision>1</cp:revision>
  <dcterms:created xsi:type="dcterms:W3CDTF">2026-09-19T13:46:01Z</dcterms:created>
  <dcterms:modified xsi:type="dcterms:W3CDTF">2026-09-19T13:46:01Z</dcterms:modified>
</cp:coreProperties>
</file>